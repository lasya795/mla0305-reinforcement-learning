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57" r:id="rId4"/>
    <p:sldId id="258" r:id="rId5"/>
    <p:sldId id="273" r:id="rId6"/>
    <p:sldId id="268" r:id="rId7"/>
    <p:sldId id="269" r:id="rId8"/>
    <p:sldId id="274" r:id="rId9"/>
    <p:sldId id="275" r:id="rId10"/>
    <p:sldId id="279" r:id="rId11"/>
    <p:sldId id="276" r:id="rId12"/>
    <p:sldId id="277" r:id="rId13"/>
    <p:sldId id="278" r:id="rId14"/>
    <p:sldId id="26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DD13C1-91F8-43B0-9408-E958F976C08F}" v="1" dt="2026-08-07T07:34:32.4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6" d="100"/>
          <a:sy n="56" d="100"/>
        </p:scale>
        <p:origin x="100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96B54-0756-1E62-1D28-0E8986B73F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03CC7B6-6CB0-0E76-A8E7-336D5113BA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C51B97D-FBC0-CE6C-58C5-D9A52E12D41E}"/>
              </a:ext>
            </a:extLst>
          </p:cNvPr>
          <p:cNvSpPr>
            <a:spLocks noGrp="1"/>
          </p:cNvSpPr>
          <p:nvPr>
            <p:ph type="dt" sz="half" idx="10"/>
          </p:nvPr>
        </p:nvSpPr>
        <p:spPr/>
        <p:txBody>
          <a:bodyPr/>
          <a:lstStyle/>
          <a:p>
            <a:fld id="{1ABB12CB-9A0B-4B3E-A07E-FC2E410EB1AD}" type="datetimeFigureOut">
              <a:rPr lang="en-IN" smtClean="0"/>
              <a:t>10-08-2026</a:t>
            </a:fld>
            <a:endParaRPr lang="en-IN"/>
          </a:p>
        </p:txBody>
      </p:sp>
      <p:sp>
        <p:nvSpPr>
          <p:cNvPr id="5" name="Footer Placeholder 4">
            <a:extLst>
              <a:ext uri="{FF2B5EF4-FFF2-40B4-BE49-F238E27FC236}">
                <a16:creationId xmlns:a16="http://schemas.microsoft.com/office/drawing/2014/main" id="{6A7F4317-7AD1-CDEA-2EB0-50438E98DC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48D0F8-F227-5208-E901-582BF07CEFEE}"/>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541904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7B7AA-E271-C5F5-820F-93C35E62CFC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1CCAC7-6227-B5AE-EB1A-AFEC7B9CE2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E9DCBF-C867-9975-7793-43E9CD32CF1B}"/>
              </a:ext>
            </a:extLst>
          </p:cNvPr>
          <p:cNvSpPr>
            <a:spLocks noGrp="1"/>
          </p:cNvSpPr>
          <p:nvPr>
            <p:ph type="dt" sz="half" idx="10"/>
          </p:nvPr>
        </p:nvSpPr>
        <p:spPr/>
        <p:txBody>
          <a:bodyPr/>
          <a:lstStyle/>
          <a:p>
            <a:fld id="{1ABB12CB-9A0B-4B3E-A07E-FC2E410EB1AD}" type="datetimeFigureOut">
              <a:rPr lang="en-IN" smtClean="0"/>
              <a:t>10-08-2026</a:t>
            </a:fld>
            <a:endParaRPr lang="en-IN"/>
          </a:p>
        </p:txBody>
      </p:sp>
      <p:sp>
        <p:nvSpPr>
          <p:cNvPr id="5" name="Footer Placeholder 4">
            <a:extLst>
              <a:ext uri="{FF2B5EF4-FFF2-40B4-BE49-F238E27FC236}">
                <a16:creationId xmlns:a16="http://schemas.microsoft.com/office/drawing/2014/main" id="{2E3DC50C-61E1-5AAF-247B-C383A689E3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E3D843-E0D9-FC7B-7D3A-4D9364C9D19F}"/>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703773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ECFAA-CA82-0882-5FC5-0A3839AAE3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C733859-1BCF-DC29-C116-582D12E0FD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7F7D44-2AB2-D77D-9257-438788A46D05}"/>
              </a:ext>
            </a:extLst>
          </p:cNvPr>
          <p:cNvSpPr>
            <a:spLocks noGrp="1"/>
          </p:cNvSpPr>
          <p:nvPr>
            <p:ph type="dt" sz="half" idx="10"/>
          </p:nvPr>
        </p:nvSpPr>
        <p:spPr/>
        <p:txBody>
          <a:bodyPr/>
          <a:lstStyle/>
          <a:p>
            <a:fld id="{1ABB12CB-9A0B-4B3E-A07E-FC2E410EB1AD}" type="datetimeFigureOut">
              <a:rPr lang="en-IN" smtClean="0"/>
              <a:t>10-08-2026</a:t>
            </a:fld>
            <a:endParaRPr lang="en-IN"/>
          </a:p>
        </p:txBody>
      </p:sp>
      <p:sp>
        <p:nvSpPr>
          <p:cNvPr id="5" name="Footer Placeholder 4">
            <a:extLst>
              <a:ext uri="{FF2B5EF4-FFF2-40B4-BE49-F238E27FC236}">
                <a16:creationId xmlns:a16="http://schemas.microsoft.com/office/drawing/2014/main" id="{CA576B68-0187-6750-F4F1-41369ABC11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9078C8-0028-99C3-CCCC-4DCEAC559A5F}"/>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531055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60C90-C8B7-3899-ABEF-2A0BE9DD35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AD06396-FF0B-818E-F231-22FDC07679B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42C818C-AF51-11A6-7179-617938BBF6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955182C-88BA-4D22-F137-8FCCFC21C791}"/>
              </a:ext>
            </a:extLst>
          </p:cNvPr>
          <p:cNvSpPr>
            <a:spLocks noGrp="1"/>
          </p:cNvSpPr>
          <p:nvPr>
            <p:ph type="dt" sz="half" idx="10"/>
          </p:nvPr>
        </p:nvSpPr>
        <p:spPr/>
        <p:txBody>
          <a:bodyPr/>
          <a:lstStyle/>
          <a:p>
            <a:fld id="{1ABB12CB-9A0B-4B3E-A07E-FC2E410EB1AD}" type="datetimeFigureOut">
              <a:rPr lang="en-IN" smtClean="0"/>
              <a:t>10-08-2026</a:t>
            </a:fld>
            <a:endParaRPr lang="en-IN"/>
          </a:p>
        </p:txBody>
      </p:sp>
      <p:sp>
        <p:nvSpPr>
          <p:cNvPr id="6" name="Footer Placeholder 5">
            <a:extLst>
              <a:ext uri="{FF2B5EF4-FFF2-40B4-BE49-F238E27FC236}">
                <a16:creationId xmlns:a16="http://schemas.microsoft.com/office/drawing/2014/main" id="{41C020C9-B68F-7187-72A9-6BB9C1F415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764973-DE30-79CC-3A05-06A1FD644C75}"/>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3953839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D4676-1F47-DBE4-43A5-83239795034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D8196BD-CB62-80BB-8157-C0E1800ACB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5CD177-A57F-8500-65C9-63B648E8F9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E36A162-956B-6EC1-2CAD-6A21026778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86E6F5-52F0-47ED-4DEC-37B82A1B2C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B5B8CE5-080B-7658-4DC5-81D2B43782AE}"/>
              </a:ext>
            </a:extLst>
          </p:cNvPr>
          <p:cNvSpPr>
            <a:spLocks noGrp="1"/>
          </p:cNvSpPr>
          <p:nvPr>
            <p:ph type="dt" sz="half" idx="10"/>
          </p:nvPr>
        </p:nvSpPr>
        <p:spPr/>
        <p:txBody>
          <a:bodyPr/>
          <a:lstStyle/>
          <a:p>
            <a:fld id="{1ABB12CB-9A0B-4B3E-A07E-FC2E410EB1AD}" type="datetimeFigureOut">
              <a:rPr lang="en-IN" smtClean="0"/>
              <a:t>10-08-2026</a:t>
            </a:fld>
            <a:endParaRPr lang="en-IN"/>
          </a:p>
        </p:txBody>
      </p:sp>
      <p:sp>
        <p:nvSpPr>
          <p:cNvPr id="8" name="Footer Placeholder 7">
            <a:extLst>
              <a:ext uri="{FF2B5EF4-FFF2-40B4-BE49-F238E27FC236}">
                <a16:creationId xmlns:a16="http://schemas.microsoft.com/office/drawing/2014/main" id="{84E7C1A3-C54F-AE10-57A0-2E00009E85E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60A8472-E6D0-7D73-4084-53ED4028A692}"/>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2394108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4A803-D1B6-AE55-87AC-E52D4F1E5AB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6D109C2-F56E-DE3A-E363-14813527FF00}"/>
              </a:ext>
            </a:extLst>
          </p:cNvPr>
          <p:cNvSpPr>
            <a:spLocks noGrp="1"/>
          </p:cNvSpPr>
          <p:nvPr>
            <p:ph type="dt" sz="half" idx="10"/>
          </p:nvPr>
        </p:nvSpPr>
        <p:spPr/>
        <p:txBody>
          <a:bodyPr/>
          <a:lstStyle/>
          <a:p>
            <a:fld id="{1ABB12CB-9A0B-4B3E-A07E-FC2E410EB1AD}" type="datetimeFigureOut">
              <a:rPr lang="en-IN" smtClean="0"/>
              <a:t>10-08-2026</a:t>
            </a:fld>
            <a:endParaRPr lang="en-IN"/>
          </a:p>
        </p:txBody>
      </p:sp>
      <p:sp>
        <p:nvSpPr>
          <p:cNvPr id="4" name="Footer Placeholder 3">
            <a:extLst>
              <a:ext uri="{FF2B5EF4-FFF2-40B4-BE49-F238E27FC236}">
                <a16:creationId xmlns:a16="http://schemas.microsoft.com/office/drawing/2014/main" id="{F366FF3B-E67A-6857-FCB5-1ADFFC4B04D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3C69E82-9731-7635-2964-03BD8906D233}"/>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610671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808C63-6DBC-BA5E-4264-C13F812BFC89}"/>
              </a:ext>
            </a:extLst>
          </p:cNvPr>
          <p:cNvSpPr>
            <a:spLocks noGrp="1"/>
          </p:cNvSpPr>
          <p:nvPr>
            <p:ph type="dt" sz="half" idx="10"/>
          </p:nvPr>
        </p:nvSpPr>
        <p:spPr/>
        <p:txBody>
          <a:bodyPr/>
          <a:lstStyle/>
          <a:p>
            <a:fld id="{1ABB12CB-9A0B-4B3E-A07E-FC2E410EB1AD}" type="datetimeFigureOut">
              <a:rPr lang="en-IN" smtClean="0"/>
              <a:t>10-08-2026</a:t>
            </a:fld>
            <a:endParaRPr lang="en-IN"/>
          </a:p>
        </p:txBody>
      </p:sp>
      <p:sp>
        <p:nvSpPr>
          <p:cNvPr id="3" name="Footer Placeholder 2">
            <a:extLst>
              <a:ext uri="{FF2B5EF4-FFF2-40B4-BE49-F238E27FC236}">
                <a16:creationId xmlns:a16="http://schemas.microsoft.com/office/drawing/2014/main" id="{CFCDFFCC-232E-32A5-326C-5D939E4E78B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6E1B074-AA0A-8083-B981-E63977FAC038}"/>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304771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94B80-1B83-172A-4F37-E7D7480750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C4E9B52-83FC-8D6B-D66C-F6920DDE18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B05F82B-7ADD-F350-BD9F-9D324F5CE0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097B04-F1D4-2834-BB11-837509BDD707}"/>
              </a:ext>
            </a:extLst>
          </p:cNvPr>
          <p:cNvSpPr>
            <a:spLocks noGrp="1"/>
          </p:cNvSpPr>
          <p:nvPr>
            <p:ph type="dt" sz="half" idx="10"/>
          </p:nvPr>
        </p:nvSpPr>
        <p:spPr/>
        <p:txBody>
          <a:bodyPr/>
          <a:lstStyle/>
          <a:p>
            <a:fld id="{1ABB12CB-9A0B-4B3E-A07E-FC2E410EB1AD}" type="datetimeFigureOut">
              <a:rPr lang="en-IN" smtClean="0"/>
              <a:t>10-08-2026</a:t>
            </a:fld>
            <a:endParaRPr lang="en-IN"/>
          </a:p>
        </p:txBody>
      </p:sp>
      <p:sp>
        <p:nvSpPr>
          <p:cNvPr id="6" name="Footer Placeholder 5">
            <a:extLst>
              <a:ext uri="{FF2B5EF4-FFF2-40B4-BE49-F238E27FC236}">
                <a16:creationId xmlns:a16="http://schemas.microsoft.com/office/drawing/2014/main" id="{56C39531-7B23-314E-E9E0-EAFBD6E4C9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AA1584-EB2F-EDCB-22E9-AEB0749F0A5C}"/>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378406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B3F94-2738-BAE5-2CA2-80CF2BD40C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6E76238-16F0-EAF7-D1F2-AAC9779DB6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04F3146-CC2B-BFAE-7EBF-678C83AC5D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3C7EEF-C4FB-1E61-2AB0-59381BE3B777}"/>
              </a:ext>
            </a:extLst>
          </p:cNvPr>
          <p:cNvSpPr>
            <a:spLocks noGrp="1"/>
          </p:cNvSpPr>
          <p:nvPr>
            <p:ph type="dt" sz="half" idx="10"/>
          </p:nvPr>
        </p:nvSpPr>
        <p:spPr/>
        <p:txBody>
          <a:bodyPr/>
          <a:lstStyle/>
          <a:p>
            <a:fld id="{1ABB12CB-9A0B-4B3E-A07E-FC2E410EB1AD}" type="datetimeFigureOut">
              <a:rPr lang="en-IN" smtClean="0"/>
              <a:t>10-08-2026</a:t>
            </a:fld>
            <a:endParaRPr lang="en-IN"/>
          </a:p>
        </p:txBody>
      </p:sp>
      <p:sp>
        <p:nvSpPr>
          <p:cNvPr id="6" name="Footer Placeholder 5">
            <a:extLst>
              <a:ext uri="{FF2B5EF4-FFF2-40B4-BE49-F238E27FC236}">
                <a16:creationId xmlns:a16="http://schemas.microsoft.com/office/drawing/2014/main" id="{1E27AA71-2F1B-AE3D-648B-1C45217D62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6FBBB0-511C-FEAA-E1A1-130B4454DAD8}"/>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898205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EE422-95E2-3A11-2FFC-2C0EA3C94DD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197C504-1556-F0BE-4A14-88E36035E9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567AB6-2061-6CC8-61BF-9EB72F917316}"/>
              </a:ext>
            </a:extLst>
          </p:cNvPr>
          <p:cNvSpPr>
            <a:spLocks noGrp="1"/>
          </p:cNvSpPr>
          <p:nvPr>
            <p:ph type="dt" sz="half" idx="10"/>
          </p:nvPr>
        </p:nvSpPr>
        <p:spPr/>
        <p:txBody>
          <a:bodyPr/>
          <a:lstStyle/>
          <a:p>
            <a:fld id="{1ABB12CB-9A0B-4B3E-A07E-FC2E410EB1AD}" type="datetimeFigureOut">
              <a:rPr lang="en-IN" smtClean="0"/>
              <a:t>10-08-2026</a:t>
            </a:fld>
            <a:endParaRPr lang="en-IN"/>
          </a:p>
        </p:txBody>
      </p:sp>
      <p:sp>
        <p:nvSpPr>
          <p:cNvPr id="5" name="Footer Placeholder 4">
            <a:extLst>
              <a:ext uri="{FF2B5EF4-FFF2-40B4-BE49-F238E27FC236}">
                <a16:creationId xmlns:a16="http://schemas.microsoft.com/office/drawing/2014/main" id="{B3E37AB4-DC1F-6BFA-851C-38F48A29FA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FE9082-A394-7D88-3D70-4912A1609F32}"/>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28913412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E22D0D-E39A-8BBD-07BA-39D0F77E328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378952-7582-B266-6A54-7F38650A00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4BCFC-380E-1D8D-5381-DC0CAB4A0A48}"/>
              </a:ext>
            </a:extLst>
          </p:cNvPr>
          <p:cNvSpPr>
            <a:spLocks noGrp="1"/>
          </p:cNvSpPr>
          <p:nvPr>
            <p:ph type="dt" sz="half" idx="10"/>
          </p:nvPr>
        </p:nvSpPr>
        <p:spPr/>
        <p:txBody>
          <a:bodyPr/>
          <a:lstStyle/>
          <a:p>
            <a:fld id="{1ABB12CB-9A0B-4B3E-A07E-FC2E410EB1AD}" type="datetimeFigureOut">
              <a:rPr lang="en-IN" smtClean="0"/>
              <a:t>10-08-2026</a:t>
            </a:fld>
            <a:endParaRPr lang="en-IN"/>
          </a:p>
        </p:txBody>
      </p:sp>
      <p:sp>
        <p:nvSpPr>
          <p:cNvPr id="5" name="Footer Placeholder 4">
            <a:extLst>
              <a:ext uri="{FF2B5EF4-FFF2-40B4-BE49-F238E27FC236}">
                <a16:creationId xmlns:a16="http://schemas.microsoft.com/office/drawing/2014/main" id="{923A17A7-A7DF-FAD1-CF15-F67058AD14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B8FFF3-5FAF-66A7-86B8-57890766AA98}"/>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194251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51D945-8835-07E5-6C0C-5A64F77530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E03D0B-0FF5-2A29-5B41-763623183D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3718D1-A2A2-89DA-F288-991C56D502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BB12CB-9A0B-4B3E-A07E-FC2E410EB1AD}" type="datetimeFigureOut">
              <a:rPr lang="en-IN" smtClean="0"/>
              <a:t>10-08-2026</a:t>
            </a:fld>
            <a:endParaRPr lang="en-IN"/>
          </a:p>
        </p:txBody>
      </p:sp>
      <p:sp>
        <p:nvSpPr>
          <p:cNvPr id="5" name="Footer Placeholder 4">
            <a:extLst>
              <a:ext uri="{FF2B5EF4-FFF2-40B4-BE49-F238E27FC236}">
                <a16:creationId xmlns:a16="http://schemas.microsoft.com/office/drawing/2014/main" id="{7E797BBA-6B2C-A701-AA25-DE86ACBA2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6BDE37B-6946-D46A-C948-999A7DF5C1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7E4BDE-76D0-467F-921E-1E84543F0B2D}" type="slidenum">
              <a:rPr lang="en-IN" smtClean="0"/>
              <a:t>‹#›</a:t>
            </a:fld>
            <a:endParaRPr lang="en-IN"/>
          </a:p>
        </p:txBody>
      </p:sp>
    </p:spTree>
    <p:extLst>
      <p:ext uri="{BB962C8B-B14F-4D97-AF65-F5344CB8AC3E}">
        <p14:creationId xmlns:p14="http://schemas.microsoft.com/office/powerpoint/2010/main" val="16243044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AAD3E1D-C7A1-62CA-B230-176A44EAF999}"/>
              </a:ext>
            </a:extLst>
          </p:cNvPr>
          <p:cNvSpPr txBox="1"/>
          <p:nvPr/>
        </p:nvSpPr>
        <p:spPr>
          <a:xfrm>
            <a:off x="533400" y="308207"/>
            <a:ext cx="11125200" cy="523220"/>
          </a:xfrm>
          <a:prstGeom prst="rect">
            <a:avLst/>
          </a:prstGeom>
          <a:noFill/>
        </p:spPr>
        <p:txBody>
          <a:bodyPr wrap="square">
            <a:spAutoFit/>
          </a:bodyPr>
          <a:lstStyle/>
          <a:p>
            <a:pPr algn="ctr" rtl="0">
              <a:buNone/>
            </a:pPr>
            <a:r>
              <a:rPr lang="en-US" sz="2800" b="1" i="0" cap="all" dirty="0">
                <a:solidFill>
                  <a:schemeClr val="accent5">
                    <a:lumMod val="50000"/>
                  </a:schemeClr>
                </a:solidFill>
                <a:effectLst/>
                <a:latin typeface="Cambria" panose="02040503050406030204" pitchFamily="18" charset="0"/>
                <a:ea typeface="Cambria" panose="02040503050406030204" pitchFamily="18" charset="0"/>
              </a:rPr>
              <a:t>MLA0305-Reinforcement learning</a:t>
            </a:r>
          </a:p>
        </p:txBody>
      </p:sp>
      <p:sp>
        <p:nvSpPr>
          <p:cNvPr id="7" name="TextBox 6">
            <a:extLst>
              <a:ext uri="{FF2B5EF4-FFF2-40B4-BE49-F238E27FC236}">
                <a16:creationId xmlns:a16="http://schemas.microsoft.com/office/drawing/2014/main" id="{2AEE184D-CACF-C28F-CF7A-0951173397BB}"/>
              </a:ext>
            </a:extLst>
          </p:cNvPr>
          <p:cNvSpPr txBox="1"/>
          <p:nvPr/>
        </p:nvSpPr>
        <p:spPr>
          <a:xfrm>
            <a:off x="4236538" y="923760"/>
            <a:ext cx="3403782" cy="400110"/>
          </a:xfrm>
          <a:prstGeom prst="rect">
            <a:avLst/>
          </a:prstGeom>
          <a:noFill/>
        </p:spPr>
        <p:txBody>
          <a:bodyPr wrap="square">
            <a:spAutoFit/>
          </a:bodyPr>
          <a:lstStyle/>
          <a:p>
            <a:r>
              <a:rPr lang="en-IN" sz="2000" b="1" i="0" dirty="0">
                <a:solidFill>
                  <a:schemeClr val="accent6">
                    <a:lumMod val="75000"/>
                  </a:schemeClr>
                </a:solidFill>
                <a:effectLst/>
                <a:latin typeface="Cambria" panose="02040503050406030204" pitchFamily="18" charset="0"/>
                <a:ea typeface="Cambria" panose="02040503050406030204" pitchFamily="18" charset="0"/>
              </a:rPr>
              <a:t>MS1 Jul-Sep 2026 - SLOT </a:t>
            </a:r>
            <a:r>
              <a:rPr lang="en-IN" sz="2000" b="1" dirty="0">
                <a:solidFill>
                  <a:schemeClr val="accent6">
                    <a:lumMod val="75000"/>
                  </a:schemeClr>
                </a:solidFill>
                <a:latin typeface="Cambria" panose="02040503050406030204" pitchFamily="18" charset="0"/>
                <a:ea typeface="Cambria" panose="02040503050406030204" pitchFamily="18" charset="0"/>
              </a:rPr>
              <a:t>B</a:t>
            </a:r>
            <a:endParaRPr lang="en-IN" sz="2000" dirty="0">
              <a:solidFill>
                <a:schemeClr val="accent6">
                  <a:lumMod val="75000"/>
                </a:schemeClr>
              </a:solidFill>
              <a:latin typeface="Cambria" panose="02040503050406030204" pitchFamily="18" charset="0"/>
              <a:ea typeface="Cambria" panose="02040503050406030204" pitchFamily="18" charset="0"/>
            </a:endParaRPr>
          </a:p>
        </p:txBody>
      </p:sp>
      <p:sp>
        <p:nvSpPr>
          <p:cNvPr id="11" name="TextBox 10">
            <a:extLst>
              <a:ext uri="{FF2B5EF4-FFF2-40B4-BE49-F238E27FC236}">
                <a16:creationId xmlns:a16="http://schemas.microsoft.com/office/drawing/2014/main" id="{5898A4E7-D69E-C448-1FC2-8DE2EBECF36A}"/>
              </a:ext>
            </a:extLst>
          </p:cNvPr>
          <p:cNvSpPr txBox="1"/>
          <p:nvPr/>
        </p:nvSpPr>
        <p:spPr>
          <a:xfrm>
            <a:off x="7691119" y="4887801"/>
            <a:ext cx="4500881" cy="1862048"/>
          </a:xfrm>
          <a:prstGeom prst="rect">
            <a:avLst/>
          </a:prstGeom>
          <a:noFill/>
        </p:spPr>
        <p:txBody>
          <a:bodyPr wrap="square">
            <a:spAutoFit/>
          </a:bodyPr>
          <a:lstStyle/>
          <a:p>
            <a:pPr lvl="1">
              <a:spcBef>
                <a:spcPts val="550"/>
              </a:spcBef>
              <a:buClr>
                <a:srgbClr val="4F81BD"/>
              </a:buClr>
              <a:buSzPct val="70000"/>
            </a:pPr>
            <a:r>
              <a:rPr lang="en-US" sz="2000" i="1" dirty="0">
                <a:solidFill>
                  <a:schemeClr val="accent4">
                    <a:lumMod val="50000"/>
                  </a:schemeClr>
                </a:solidFill>
                <a:latin typeface="Cambria" panose="02040503050406030204" pitchFamily="18" charset="0"/>
                <a:ea typeface="Cambria" panose="02040503050406030204" pitchFamily="18" charset="0"/>
                <a:cs typeface="Times New Roman" pitchFamily="18" charset="0"/>
              </a:rPr>
              <a:t>Presented by, </a:t>
            </a:r>
            <a:br>
              <a:rPr lang="en-US" sz="2000" b="1" dirty="0">
                <a:solidFill>
                  <a:srgbClr val="C00000"/>
                </a:solidFill>
                <a:latin typeface="Cambria" panose="02040503050406030204" pitchFamily="18" charset="0"/>
                <a:ea typeface="Cambria" panose="02040503050406030204" pitchFamily="18" charset="0"/>
                <a:cs typeface="Times New Roman" pitchFamily="18" charset="0"/>
              </a:rPr>
            </a:br>
            <a:r>
              <a:rPr lang="en-US" sz="2000" b="1" dirty="0">
                <a:solidFill>
                  <a:srgbClr val="C00000"/>
                </a:solidFill>
                <a:latin typeface="Cambria" panose="02040503050406030204" pitchFamily="18" charset="0"/>
                <a:ea typeface="Cambria" panose="02040503050406030204" pitchFamily="18" charset="0"/>
                <a:cs typeface="Times New Roman" pitchFamily="18" charset="0"/>
              </a:rPr>
              <a:t>192425196-P.Hithaishi</a:t>
            </a:r>
          </a:p>
          <a:p>
            <a:pPr lvl="1">
              <a:spcBef>
                <a:spcPts val="550"/>
              </a:spcBef>
              <a:buClr>
                <a:srgbClr val="4F81BD"/>
              </a:buClr>
              <a:buSzPct val="70000"/>
            </a:pPr>
            <a:r>
              <a:rPr lang="en-US" sz="2000" b="1" dirty="0">
                <a:solidFill>
                  <a:srgbClr val="C00000"/>
                </a:solidFill>
                <a:latin typeface="Cambria" panose="02040503050406030204" pitchFamily="18" charset="0"/>
                <a:ea typeface="Cambria" panose="02040503050406030204" pitchFamily="18" charset="0"/>
                <a:cs typeface="Times New Roman" pitchFamily="18" charset="0"/>
              </a:rPr>
              <a:t>192472216-K.Sri Lasya</a:t>
            </a:r>
          </a:p>
          <a:p>
            <a:pPr lvl="1">
              <a:spcBef>
                <a:spcPts val="550"/>
              </a:spcBef>
              <a:buClr>
                <a:srgbClr val="4F81BD"/>
              </a:buClr>
              <a:buSzPct val="70000"/>
            </a:pPr>
            <a:r>
              <a:rPr lang="en-US" sz="2000" b="1" dirty="0">
                <a:solidFill>
                  <a:srgbClr val="C00000"/>
                </a:solidFill>
                <a:latin typeface="Cambria" panose="02040503050406030204" pitchFamily="18" charset="0"/>
                <a:ea typeface="Cambria" panose="02040503050406030204" pitchFamily="18" charset="0"/>
                <a:cs typeface="Times New Roman" pitchFamily="18" charset="0"/>
              </a:rPr>
              <a:t>192525322-N.Parnita</a:t>
            </a:r>
          </a:p>
          <a:p>
            <a:pPr lvl="1">
              <a:spcBef>
                <a:spcPts val="550"/>
              </a:spcBef>
              <a:buClr>
                <a:srgbClr val="4F81BD"/>
              </a:buClr>
              <a:buSzPct val="70000"/>
            </a:pPr>
            <a:r>
              <a:rPr lang="en-US" sz="2000" b="1" dirty="0">
                <a:solidFill>
                  <a:srgbClr val="C00000"/>
                </a:solidFill>
                <a:latin typeface="Cambria" panose="02040503050406030204" pitchFamily="18" charset="0"/>
                <a:ea typeface="Cambria" panose="02040503050406030204" pitchFamily="18" charset="0"/>
                <a:cs typeface="Times New Roman" pitchFamily="18" charset="0"/>
              </a:rPr>
              <a:t>	</a:t>
            </a:r>
            <a:endParaRPr lang="en-IN" sz="2000" dirty="0">
              <a:solidFill>
                <a:srgbClr val="C00000"/>
              </a:solidFill>
              <a:latin typeface="Cambria" panose="02040503050406030204" pitchFamily="18" charset="0"/>
              <a:ea typeface="Cambria" panose="02040503050406030204" pitchFamily="18" charset="0"/>
            </a:endParaRPr>
          </a:p>
        </p:txBody>
      </p:sp>
      <p:sp>
        <p:nvSpPr>
          <p:cNvPr id="13" name="TextBox 12">
            <a:extLst>
              <a:ext uri="{FF2B5EF4-FFF2-40B4-BE49-F238E27FC236}">
                <a16:creationId xmlns:a16="http://schemas.microsoft.com/office/drawing/2014/main" id="{82CDEA37-C6AC-1EE2-8FFE-209ACD903C9A}"/>
              </a:ext>
            </a:extLst>
          </p:cNvPr>
          <p:cNvSpPr txBox="1"/>
          <p:nvPr/>
        </p:nvSpPr>
        <p:spPr>
          <a:xfrm>
            <a:off x="283028" y="1293985"/>
            <a:ext cx="11756572" cy="1569660"/>
          </a:xfrm>
          <a:prstGeom prst="rect">
            <a:avLst/>
          </a:prstGeom>
          <a:noFill/>
        </p:spPr>
        <p:txBody>
          <a:bodyPr wrap="square">
            <a:spAutoFit/>
          </a:bodyPr>
          <a:lstStyle/>
          <a:p>
            <a:pPr marL="36195" marR="0" algn="ctr">
              <a:spcAft>
                <a:spcPts val="600"/>
              </a:spcAft>
              <a:buNone/>
            </a:pPr>
            <a:r>
              <a:rPr lang="en-US" sz="3200" b="1" dirty="0">
                <a:solidFill>
                  <a:srgbClr val="C00000"/>
                </a:solidFill>
                <a:latin typeface="Cambria" panose="02040503050406030204" pitchFamily="18" charset="0"/>
                <a:ea typeface="Cambria" panose="02040503050406030204" pitchFamily="18" charset="0"/>
              </a:rPr>
              <a:t>Cooperative Drone Swarm Search and Rescue using Multi-Agent Reinforcement Learning and Swarm-Based Agent Simulation</a:t>
            </a:r>
            <a:endParaRPr lang="en-IN" sz="3200" b="1" dirty="0">
              <a:solidFill>
                <a:srgbClr val="C00000"/>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D0186E62-555B-E8F9-1FBB-0D22F74BA20A}"/>
              </a:ext>
            </a:extLst>
          </p:cNvPr>
          <p:cNvSpPr txBox="1"/>
          <p:nvPr/>
        </p:nvSpPr>
        <p:spPr>
          <a:xfrm>
            <a:off x="182879" y="4887801"/>
            <a:ext cx="5303521" cy="1862048"/>
          </a:xfrm>
          <a:prstGeom prst="rect">
            <a:avLst/>
          </a:prstGeom>
          <a:noFill/>
        </p:spPr>
        <p:txBody>
          <a:bodyPr wrap="square">
            <a:spAutoFit/>
          </a:bodyPr>
          <a:lstStyle/>
          <a:p>
            <a:pPr lvl="1">
              <a:spcBef>
                <a:spcPts val="550"/>
              </a:spcBef>
              <a:buClr>
                <a:srgbClr val="4F81BD"/>
              </a:buClr>
              <a:buSzPct val="70000"/>
            </a:pPr>
            <a:r>
              <a:rPr lang="en-US" sz="2000" i="1" dirty="0">
                <a:solidFill>
                  <a:schemeClr val="accent3">
                    <a:lumMod val="50000"/>
                  </a:schemeClr>
                </a:solidFill>
                <a:latin typeface="Cambria" panose="02040503050406030204" pitchFamily="18" charset="0"/>
                <a:ea typeface="Cambria" panose="02040503050406030204" pitchFamily="18" charset="0"/>
                <a:cs typeface="Times New Roman" pitchFamily="18" charset="0"/>
              </a:rPr>
              <a:t>Guided by, </a:t>
            </a:r>
            <a:br>
              <a:rPr lang="en-US" sz="2000" b="1" dirty="0">
                <a:solidFill>
                  <a:srgbClr val="C00000"/>
                </a:solidFill>
                <a:latin typeface="Cambria" panose="02040503050406030204" pitchFamily="18" charset="0"/>
                <a:ea typeface="Cambria" panose="02040503050406030204" pitchFamily="18" charset="0"/>
                <a:cs typeface="Times New Roman" pitchFamily="18" charset="0"/>
              </a:rPr>
            </a:br>
            <a:r>
              <a:rPr lang="en-US" sz="2000" i="1" dirty="0">
                <a:solidFill>
                  <a:srgbClr val="0070C0"/>
                </a:solidFill>
                <a:latin typeface="Cambria" panose="02040503050406030204" pitchFamily="18" charset="0"/>
                <a:ea typeface="Cambria" panose="02040503050406030204" pitchFamily="18" charset="0"/>
                <a:cs typeface="Times New Roman" pitchFamily="18" charset="0"/>
              </a:rPr>
              <a:t>Dr. Vincent Gnanaraj T</a:t>
            </a:r>
          </a:p>
          <a:p>
            <a:pPr lvl="1">
              <a:spcBef>
                <a:spcPts val="550"/>
              </a:spcBef>
              <a:buClr>
                <a:srgbClr val="4F81BD"/>
              </a:buClr>
              <a:buSzPct val="70000"/>
            </a:pPr>
            <a:r>
              <a:rPr lang="en-US" sz="2000" i="1" dirty="0">
                <a:solidFill>
                  <a:srgbClr val="0070C0"/>
                </a:solidFill>
                <a:latin typeface="Cambria" panose="02040503050406030204" pitchFamily="18" charset="0"/>
                <a:ea typeface="Cambria" panose="02040503050406030204" pitchFamily="18" charset="0"/>
                <a:cs typeface="Times New Roman" pitchFamily="18" charset="0"/>
              </a:rPr>
              <a:t>Associate Professor</a:t>
            </a:r>
          </a:p>
          <a:p>
            <a:pPr lvl="1">
              <a:spcBef>
                <a:spcPts val="550"/>
              </a:spcBef>
              <a:buClr>
                <a:srgbClr val="4F81BD"/>
              </a:buClr>
              <a:buSzPct val="70000"/>
            </a:pPr>
            <a:r>
              <a:rPr lang="en-US" sz="2000" i="1" dirty="0">
                <a:solidFill>
                  <a:srgbClr val="0070C0"/>
                </a:solidFill>
                <a:latin typeface="Cambria" panose="02040503050406030204" pitchFamily="18" charset="0"/>
                <a:ea typeface="Cambria" panose="02040503050406030204" pitchFamily="18" charset="0"/>
                <a:cs typeface="Times New Roman" pitchFamily="18" charset="0"/>
              </a:rPr>
              <a:t>Department of Quantum Intelligence</a:t>
            </a:r>
          </a:p>
          <a:p>
            <a:pPr lvl="1">
              <a:spcBef>
                <a:spcPts val="550"/>
              </a:spcBef>
              <a:buClr>
                <a:srgbClr val="4F81BD"/>
              </a:buClr>
              <a:buSzPct val="70000"/>
            </a:pPr>
            <a:r>
              <a:rPr lang="en-US" sz="2000" i="1" dirty="0">
                <a:solidFill>
                  <a:srgbClr val="0070C0"/>
                </a:solidFill>
                <a:latin typeface="Cambria" panose="02040503050406030204" pitchFamily="18" charset="0"/>
                <a:ea typeface="Cambria" panose="02040503050406030204" pitchFamily="18" charset="0"/>
                <a:cs typeface="Times New Roman" pitchFamily="18" charset="0"/>
              </a:rPr>
              <a:t>SIMATS Engineering</a:t>
            </a:r>
            <a:r>
              <a:rPr lang="en-US" sz="2000" b="1" dirty="0">
                <a:solidFill>
                  <a:srgbClr val="002060"/>
                </a:solidFill>
                <a:latin typeface="Cambria" panose="02040503050406030204" pitchFamily="18" charset="0"/>
                <a:ea typeface="Cambria" panose="02040503050406030204" pitchFamily="18" charset="0"/>
                <a:cs typeface="Times New Roman" pitchFamily="18" charset="0"/>
              </a:rPr>
              <a:t>	</a:t>
            </a:r>
            <a:endParaRPr lang="en-IN" sz="2000"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DC28753C-FAFD-8FB2-8614-6D6DCC0B4A9A}"/>
              </a:ext>
            </a:extLst>
          </p:cNvPr>
          <p:cNvPicPr>
            <a:picLocks noChangeAspect="1"/>
          </p:cNvPicPr>
          <p:nvPr/>
        </p:nvPicPr>
        <p:blipFill>
          <a:blip r:embed="rId2">
            <a:extLst>
              <a:ext uri="{28A0092B-C50C-407E-A947-70E740481C1C}">
                <a14:useLocalDpi xmlns:a14="http://schemas.microsoft.com/office/drawing/2010/main" val="0"/>
              </a:ext>
            </a:extLst>
          </a:blip>
          <a:srcRect t="5944" b="6707"/>
          <a:stretch>
            <a:fillRect/>
          </a:stretch>
        </p:blipFill>
        <p:spPr>
          <a:xfrm>
            <a:off x="865239" y="2798103"/>
            <a:ext cx="10294374" cy="2089698"/>
          </a:xfrm>
          <a:prstGeom prst="rect">
            <a:avLst/>
          </a:prstGeom>
        </p:spPr>
      </p:pic>
    </p:spTree>
    <p:extLst>
      <p:ext uri="{BB962C8B-B14F-4D97-AF65-F5344CB8AC3E}">
        <p14:creationId xmlns:p14="http://schemas.microsoft.com/office/powerpoint/2010/main" val="2235033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1B6F94-3F67-6C03-6A1C-E70F63E32428}"/>
              </a:ext>
            </a:extLst>
          </p:cNvPr>
          <p:cNvSpPr txBox="1"/>
          <p:nvPr/>
        </p:nvSpPr>
        <p:spPr>
          <a:xfrm>
            <a:off x="5016862" y="344381"/>
            <a:ext cx="2158275"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Abstract</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AEB2E3B9-103C-0A4E-E38E-D18457838DB6}"/>
              </a:ext>
            </a:extLst>
          </p:cNvPr>
          <p:cNvSpPr txBox="1"/>
          <p:nvPr/>
        </p:nvSpPr>
        <p:spPr>
          <a:xfrm>
            <a:off x="1111044" y="1445965"/>
            <a:ext cx="10125915" cy="2862322"/>
          </a:xfrm>
          <a:prstGeom prst="rect">
            <a:avLst/>
          </a:prstGeom>
          <a:noFill/>
        </p:spPr>
        <p:txBody>
          <a:bodyPr wrap="square">
            <a:spAutoFit/>
          </a:bodyPr>
          <a:lstStyle/>
          <a:p>
            <a:pPr algn="just"/>
            <a:r>
              <a:rPr lang="en-IN" dirty="0">
                <a:latin typeface="Cambria" panose="02040503050406030204" pitchFamily="18" charset="0"/>
                <a:ea typeface="Cambria" panose="02040503050406030204" pitchFamily="18" charset="0"/>
              </a:rPr>
              <a:t>Cooperative Drone Swarm Search and Rescue using Multi-Agent Reinforcement Learning and Swarm-Based Agent Simulation proposes an intelligent drone swarm for autonomous search and rescue operations. Traditional search methods and single-drone systems suffer from limited coverage, poor coordination, and increased search time. The proposed system integrates Multi-Agent Reinforcement Learning (MARL) with swarm-based agent simulation to enable cooperative decision-making among multiple drones. The drones communicate, coordinate, and optimize their search paths to improve overall mission performance while minimizing redundant exploration. Compared with existing approaches, the proposed framework provides faster target detection, wider area coverage, improved scalability, and enhanced operational efficiency. Simulation results demonstrate better coordination, reduced search time, and higher mission success rates. </a:t>
            </a:r>
          </a:p>
        </p:txBody>
      </p:sp>
    </p:spTree>
    <p:extLst>
      <p:ext uri="{BB962C8B-B14F-4D97-AF65-F5344CB8AC3E}">
        <p14:creationId xmlns:p14="http://schemas.microsoft.com/office/powerpoint/2010/main" val="188138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EE5A181-EA67-C6D5-8250-ED82E7D13CC1}"/>
              </a:ext>
            </a:extLst>
          </p:cNvPr>
          <p:cNvSpPr txBox="1"/>
          <p:nvPr/>
        </p:nvSpPr>
        <p:spPr>
          <a:xfrm>
            <a:off x="4659085" y="283421"/>
            <a:ext cx="2873829"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Introduction</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B1F3BC88-8D23-52E9-2B50-B62189EC34C8}"/>
              </a:ext>
            </a:extLst>
          </p:cNvPr>
          <p:cNvSpPr txBox="1"/>
          <p:nvPr/>
        </p:nvSpPr>
        <p:spPr>
          <a:xfrm>
            <a:off x="845573" y="1053253"/>
            <a:ext cx="10677833" cy="4247317"/>
          </a:xfrm>
          <a:prstGeom prst="rect">
            <a:avLst/>
          </a:prstGeom>
          <a:noFill/>
        </p:spPr>
        <p:txBody>
          <a:bodyPr wrap="square">
            <a:spAutoFit/>
          </a:bodyPr>
          <a:lstStyle/>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Cooperative Drone Swarm Search and Rescue using Multi-Agent Reinforcement Learning and Swarm-Based Agent Simulation is an intelligent system that uses multiple autonomous drones to perform efficient search and rescue operations.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Multi-Agent Reinforcement Learning (MARL) is an AI technique in which multiple agents learn collaboratively and make intelligent decisions to achieve a common objective.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Swarm-Based Agent Simulation enables drones to coordinate, communicate, and perform tasks collectively without requiring centralized control.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The proposed system integrates MARL with swarm intelligence to enable autonomous navigation, cooperative search, and efficient task allocation among multiple drones.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Each drone shares real-time information with other drones to maximize search coverage, avoid redundant exploration, and improve overall mission performance.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Compared with conventional search methods and single-drone systems, the proposed framework provides faster target detection, better coordination, higher scalability, and improved operational efficiency.</a:t>
            </a:r>
            <a:endParaRPr lang="en-US" dirty="0">
              <a:solidFill>
                <a:schemeClr val="tx1">
                  <a:lumMod val="85000"/>
                  <a:lumOff val="15000"/>
                </a:schemeClr>
              </a:solidFill>
              <a:latin typeface="Cambria" panose="02040503050406030204" pitchFamily="18" charset="0"/>
              <a:ea typeface="Cambria" panose="02040503050406030204" pitchFamily="18" charset="0"/>
            </a:endParaRPr>
          </a:p>
          <a:p>
            <a:pPr algn="just"/>
            <a:endParaRPr lang="en-US" dirty="0">
              <a:solidFill>
                <a:srgbClr val="FF000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6931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30AAD2FB-1672-B38E-DE0A-21992D53C5CE}"/>
              </a:ext>
            </a:extLst>
          </p:cNvPr>
          <p:cNvGraphicFramePr>
            <a:graphicFrameLocks noGrp="1"/>
          </p:cNvGraphicFramePr>
          <p:nvPr>
            <p:extLst>
              <p:ext uri="{D42A27DB-BD31-4B8C-83A1-F6EECF244321}">
                <p14:modId xmlns:p14="http://schemas.microsoft.com/office/powerpoint/2010/main" val="1280435663"/>
              </p:ext>
            </p:extLst>
          </p:nvPr>
        </p:nvGraphicFramePr>
        <p:xfrm>
          <a:off x="231321" y="824140"/>
          <a:ext cx="11729357" cy="5390880"/>
        </p:xfrm>
        <a:graphic>
          <a:graphicData uri="http://schemas.openxmlformats.org/drawingml/2006/table">
            <a:tbl>
              <a:tblPr/>
              <a:tblGrid>
                <a:gridCol w="3780077">
                  <a:extLst>
                    <a:ext uri="{9D8B030D-6E8A-4147-A177-3AD203B41FA5}">
                      <a16:colId xmlns:a16="http://schemas.microsoft.com/office/drawing/2014/main" val="3379567841"/>
                    </a:ext>
                  </a:extLst>
                </a:gridCol>
                <a:gridCol w="3724486">
                  <a:extLst>
                    <a:ext uri="{9D8B030D-6E8A-4147-A177-3AD203B41FA5}">
                      <a16:colId xmlns:a16="http://schemas.microsoft.com/office/drawing/2014/main" val="1990139872"/>
                    </a:ext>
                  </a:extLst>
                </a:gridCol>
                <a:gridCol w="4224794">
                  <a:extLst>
                    <a:ext uri="{9D8B030D-6E8A-4147-A177-3AD203B41FA5}">
                      <a16:colId xmlns:a16="http://schemas.microsoft.com/office/drawing/2014/main" val="189062214"/>
                    </a:ext>
                  </a:extLst>
                </a:gridCol>
              </a:tblGrid>
              <a:tr h="202388">
                <a:tc>
                  <a:txBody>
                    <a:bodyPr/>
                    <a:lstStyle/>
                    <a:p>
                      <a:pPr algn="ctr" fontAlgn="ctr">
                        <a:buNone/>
                      </a:pPr>
                      <a:r>
                        <a:rPr lang="en-US" sz="1600" b="1" i="0" u="none" strike="noStrike">
                          <a:solidFill>
                            <a:schemeClr val="tx1">
                              <a:lumMod val="85000"/>
                              <a:lumOff val="15000"/>
                            </a:schemeClr>
                          </a:solidFill>
                          <a:effectLst/>
                          <a:latin typeface="Cambria" panose="02040503050406030204" pitchFamily="18" charset="0"/>
                          <a:ea typeface="Cambria" panose="02040503050406030204" pitchFamily="18" charset="0"/>
                        </a:rPr>
                        <a:t>Author(s), Year, Journal/Proceedings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b="1" i="0" u="none" strike="noStrike">
                          <a:solidFill>
                            <a:schemeClr val="tx1">
                              <a:lumMod val="85000"/>
                              <a:lumOff val="15000"/>
                            </a:schemeClr>
                          </a:solidFill>
                          <a:effectLst/>
                          <a:latin typeface="Cambria" panose="02040503050406030204" pitchFamily="18" charset="0"/>
                          <a:ea typeface="Cambria" panose="02040503050406030204" pitchFamily="18" charset="0"/>
                        </a:rPr>
                        <a:t>Title</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b="1" i="0" u="none" strike="noStrike">
                          <a:solidFill>
                            <a:schemeClr val="tx1">
                              <a:lumMod val="85000"/>
                              <a:lumOff val="15000"/>
                            </a:schemeClr>
                          </a:solidFill>
                          <a:effectLst/>
                          <a:latin typeface="Cambria" panose="02040503050406030204" pitchFamily="18" charset="0"/>
                          <a:ea typeface="Cambria" panose="02040503050406030204" pitchFamily="18" charset="0"/>
                        </a:rPr>
                        <a:t>Key Findings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77242679"/>
                  </a:ext>
                </a:extLst>
              </a:tr>
              <a:tr h="809551">
                <a:tc>
                  <a:txBody>
                    <a:bodyPr/>
                    <a:lstStyle/>
                    <a:p>
                      <a:pPr algn="ctr" fontAlgn="ctr">
                        <a:buNone/>
                      </a:pPr>
                      <a:r>
                        <a:rPr lang="en-IN" sz="1600" dirty="0">
                          <a:latin typeface="Cambria" panose="02040503050406030204" pitchFamily="18" charset="0"/>
                          <a:ea typeface="Cambria" panose="02040503050406030204" pitchFamily="18" charset="0"/>
                        </a:rPr>
                        <a:t>Hickling, T., Hogan, M., </a:t>
                      </a:r>
                      <a:r>
                        <a:rPr lang="en-IN" sz="1600" dirty="0" err="1">
                          <a:latin typeface="Cambria" panose="02040503050406030204" pitchFamily="18" charset="0"/>
                          <a:ea typeface="Cambria" panose="02040503050406030204" pitchFamily="18" charset="0"/>
                        </a:rPr>
                        <a:t>Tammam</a:t>
                      </a:r>
                      <a:r>
                        <a:rPr lang="en-IN" sz="1600" dirty="0">
                          <a:latin typeface="Cambria" panose="02040503050406030204" pitchFamily="18" charset="0"/>
                          <a:ea typeface="Cambria" panose="02040503050406030204" pitchFamily="18" charset="0"/>
                        </a:rPr>
                        <a:t>, A., &amp; </a:t>
                      </a:r>
                      <a:r>
                        <a:rPr lang="en-IN" sz="1600" dirty="0" err="1">
                          <a:latin typeface="Cambria" panose="02040503050406030204" pitchFamily="18" charset="0"/>
                          <a:ea typeface="Cambria" panose="02040503050406030204" pitchFamily="18" charset="0"/>
                        </a:rPr>
                        <a:t>Aouf</a:t>
                      </a:r>
                      <a:r>
                        <a:rPr lang="en-IN" sz="1600" dirty="0">
                          <a:latin typeface="Cambria" panose="02040503050406030204" pitchFamily="18" charset="0"/>
                          <a:ea typeface="Cambria" panose="02040503050406030204" pitchFamily="18" charset="0"/>
                        </a:rPr>
                        <a:t>, N., 2026, </a:t>
                      </a:r>
                      <a:r>
                        <a:rPr lang="en-IN" sz="1600" i="1" dirty="0">
                          <a:latin typeface="Cambria" panose="02040503050406030204" pitchFamily="18" charset="0"/>
                          <a:ea typeface="Cambria" panose="02040503050406030204" pitchFamily="18" charset="0"/>
                        </a:rPr>
                        <a:t>Journal of Field Robotics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Deep Reinforcement Learning Based Autonomous Decision-Making for Cooperative Uncrewed Aerial Vehicles: A Search and Rescue Real World Application</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Developed a deep reinforcement learning framework for cooperative UAVs capable of autonomous navigation, task allocation, and victim search in real-world search-and-rescue missions.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2546248"/>
                  </a:ext>
                </a:extLst>
              </a:tr>
              <a:tr h="708357">
                <a:tc>
                  <a:txBody>
                    <a:bodyPr/>
                    <a:lstStyle/>
                    <a:p>
                      <a:pPr algn="ctr" fontAlgn="ctr">
                        <a:buNone/>
                      </a:pPr>
                      <a:r>
                        <a:rPr lang="en-IN" sz="1600" dirty="0">
                          <a:latin typeface="Cambria" panose="02040503050406030204" pitchFamily="18" charset="0"/>
                          <a:ea typeface="Cambria" panose="02040503050406030204" pitchFamily="18" charset="0"/>
                        </a:rPr>
                        <a:t>Chen, C., Yan, S., Zhou, X., et al., 2026, </a:t>
                      </a:r>
                      <a:r>
                        <a:rPr lang="en-IN" sz="1600" i="1" dirty="0">
                          <a:latin typeface="Cambria" panose="02040503050406030204" pitchFamily="18" charset="0"/>
                          <a:ea typeface="Cambria" panose="02040503050406030204" pitchFamily="18" charset="0"/>
                        </a:rPr>
                        <a:t>Discover Robotics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Multi-stage Hierarchical Multi-Agent Reinforcement Learning for UAV-Quadruped Completing Search and Rescue</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Proposed a hierarchical MARL architecture that enables UAVs and ground robots to cooperate efficiently during search-and-rescue operations with improved coordination and exploration.</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4637597"/>
                  </a:ext>
                </a:extLst>
              </a:tr>
              <a:tr h="607163">
                <a:tc>
                  <a:txBody>
                    <a:bodyPr/>
                    <a:lstStyle/>
                    <a:p>
                      <a:pPr algn="ctr" fontAlgn="ctr">
                        <a:buNone/>
                      </a:pPr>
                      <a:r>
                        <a:rPr lang="en-IN" sz="1600" dirty="0">
                          <a:latin typeface="Cambria" panose="02040503050406030204" pitchFamily="18" charset="0"/>
                          <a:ea typeface="Cambria" panose="02040503050406030204" pitchFamily="18" charset="0"/>
                        </a:rPr>
                        <a:t>Liu, M., Wei, J., &amp; Liu, K., 2024, </a:t>
                      </a:r>
                      <a:r>
                        <a:rPr lang="en-IN" sz="1600" i="1" dirty="0">
                          <a:latin typeface="Cambria" panose="02040503050406030204" pitchFamily="18" charset="0"/>
                          <a:ea typeface="Cambria" panose="02040503050406030204" pitchFamily="18" charset="0"/>
                        </a:rPr>
                        <a:t>Drones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A Two-Stage Target Search and Tracking Method for UAV Based on Deep Reinforcement Learning</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Introduced a two-stage reinforcement learning model for target search and tracking that improved navigation accuracy and target-following performance.</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7559347"/>
                  </a:ext>
                </a:extLst>
              </a:tr>
              <a:tr h="607163">
                <a:tc>
                  <a:txBody>
                    <a:bodyPr/>
                    <a:lstStyle/>
                    <a:p>
                      <a:pPr algn="ctr" fontAlgn="ctr">
                        <a:buNone/>
                      </a:pPr>
                      <a:r>
                        <a:rPr lang="en-IN" sz="1600" dirty="0">
                          <a:latin typeface="Cambria" panose="02040503050406030204" pitchFamily="18" charset="0"/>
                          <a:ea typeface="Cambria" panose="02040503050406030204" pitchFamily="18" charset="0"/>
                        </a:rPr>
                        <a:t>Sadhu, V., Sun, C., Karimian, A., Tron, R., &amp; Pompili, D., (2024) </a:t>
                      </a:r>
                      <a:r>
                        <a:rPr lang="en-IN" sz="1600" i="1" dirty="0">
                          <a:latin typeface="Cambria" panose="02040503050406030204" pitchFamily="18" charset="0"/>
                          <a:ea typeface="Cambria" panose="02040503050406030204" pitchFamily="18" charset="0"/>
                        </a:rPr>
                        <a:t>IEEE Conference Proceedings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Aerial-Deep Search: Distributed Multi-Agent Deep Reinforcement Learning for Search Missions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Presented a distributed deep reinforcement learning framework allowing multiple UAVs to cooperate efficiently while exploring unknown environments.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1874380"/>
                  </a:ext>
                </a:extLst>
              </a:tr>
              <a:tr h="708357">
                <a:tc>
                  <a:txBody>
                    <a:bodyPr/>
                    <a:lstStyle/>
                    <a:p>
                      <a:pPr algn="ctr" fontAlgn="ctr">
                        <a:buNone/>
                      </a:pPr>
                      <a:r>
                        <a:rPr lang="en-IN" sz="1600" dirty="0">
                          <a:latin typeface="Cambria" panose="02040503050406030204" pitchFamily="18" charset="0"/>
                          <a:ea typeface="Cambria" panose="02040503050406030204" pitchFamily="18" charset="0"/>
                        </a:rPr>
                        <a:t>Han, S., Liu, X., Zhou, M. C., et al., 2024, </a:t>
                      </a:r>
                      <a:r>
                        <a:rPr lang="en-IN" sz="1600" i="1" dirty="0">
                          <a:latin typeface="Cambria" panose="02040503050406030204" pitchFamily="18" charset="0"/>
                          <a:ea typeface="Cambria" panose="02040503050406030204" pitchFamily="18" charset="0"/>
                        </a:rPr>
                        <a:t>IEEE Internet of Things Journal</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Joint Association, Deployment and Flight Trajectory Optimization for Multi-UAV Enabled Large-Scale Mobile Edge Computing</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Proposed optimized UAV deployment and trajectory planning to improve communication efficiency and cooperative mission performance.</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5606414"/>
                  </a:ext>
                </a:extLst>
              </a:tr>
            </a:tbl>
          </a:graphicData>
        </a:graphic>
      </p:graphicFrame>
      <p:sp>
        <p:nvSpPr>
          <p:cNvPr id="12" name="TextBox 11">
            <a:extLst>
              <a:ext uri="{FF2B5EF4-FFF2-40B4-BE49-F238E27FC236}">
                <a16:creationId xmlns:a16="http://schemas.microsoft.com/office/drawing/2014/main" id="{4A2ACC86-2FAE-F7FE-7D6B-DECA40382D9A}"/>
              </a:ext>
            </a:extLst>
          </p:cNvPr>
          <p:cNvSpPr txBox="1"/>
          <p:nvPr/>
        </p:nvSpPr>
        <p:spPr>
          <a:xfrm>
            <a:off x="4283527" y="150900"/>
            <a:ext cx="3624944"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Literature Survey</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582437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C2F93-A799-FE20-41B9-85B0565740E4}"/>
            </a:ext>
          </a:extLst>
        </p:cNvPr>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078D176B-076C-B694-385C-81CB255C33E1}"/>
              </a:ext>
            </a:extLst>
          </p:cNvPr>
          <p:cNvGraphicFramePr>
            <a:graphicFrameLocks noGrp="1"/>
          </p:cNvGraphicFramePr>
          <p:nvPr>
            <p:extLst>
              <p:ext uri="{D42A27DB-BD31-4B8C-83A1-F6EECF244321}">
                <p14:modId xmlns:p14="http://schemas.microsoft.com/office/powerpoint/2010/main" val="3781704503"/>
              </p:ext>
            </p:extLst>
          </p:nvPr>
        </p:nvGraphicFramePr>
        <p:xfrm>
          <a:off x="231320" y="1217430"/>
          <a:ext cx="11729357" cy="4732991"/>
        </p:xfrm>
        <a:graphic>
          <a:graphicData uri="http://schemas.openxmlformats.org/drawingml/2006/table">
            <a:tbl>
              <a:tblPr/>
              <a:tblGrid>
                <a:gridCol w="3780077">
                  <a:extLst>
                    <a:ext uri="{9D8B030D-6E8A-4147-A177-3AD203B41FA5}">
                      <a16:colId xmlns:a16="http://schemas.microsoft.com/office/drawing/2014/main" val="3379567841"/>
                    </a:ext>
                  </a:extLst>
                </a:gridCol>
                <a:gridCol w="3724486">
                  <a:extLst>
                    <a:ext uri="{9D8B030D-6E8A-4147-A177-3AD203B41FA5}">
                      <a16:colId xmlns:a16="http://schemas.microsoft.com/office/drawing/2014/main" val="1990139872"/>
                    </a:ext>
                  </a:extLst>
                </a:gridCol>
                <a:gridCol w="4224794">
                  <a:extLst>
                    <a:ext uri="{9D8B030D-6E8A-4147-A177-3AD203B41FA5}">
                      <a16:colId xmlns:a16="http://schemas.microsoft.com/office/drawing/2014/main" val="189062214"/>
                    </a:ext>
                  </a:extLst>
                </a:gridCol>
              </a:tblGrid>
              <a:tr h="202388">
                <a:tc>
                  <a:txBody>
                    <a:bodyPr/>
                    <a:lstStyle/>
                    <a:p>
                      <a:pPr algn="l" fontAlgn="ctr">
                        <a:buNone/>
                      </a:pPr>
                      <a:r>
                        <a:rPr lang="en-US" sz="1600" b="1" i="0" u="none" strike="noStrike">
                          <a:solidFill>
                            <a:schemeClr val="tx1">
                              <a:lumMod val="85000"/>
                              <a:lumOff val="15000"/>
                            </a:schemeClr>
                          </a:solidFill>
                          <a:effectLst/>
                          <a:latin typeface="Cambria" panose="02040503050406030204" pitchFamily="18" charset="0"/>
                          <a:ea typeface="Cambria" panose="02040503050406030204" pitchFamily="18" charset="0"/>
                        </a:rPr>
                        <a:t>Author(s), Year, Journal/Proceedings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b="1" i="0" u="none" strike="noStrike">
                          <a:solidFill>
                            <a:schemeClr val="tx1">
                              <a:lumMod val="85000"/>
                              <a:lumOff val="15000"/>
                            </a:schemeClr>
                          </a:solidFill>
                          <a:effectLst/>
                          <a:latin typeface="Cambria" panose="02040503050406030204" pitchFamily="18" charset="0"/>
                          <a:ea typeface="Cambria" panose="02040503050406030204" pitchFamily="18" charset="0"/>
                        </a:rPr>
                        <a:t>Title</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b="1" i="0" u="none" strike="noStrike">
                          <a:solidFill>
                            <a:schemeClr val="tx1">
                              <a:lumMod val="85000"/>
                              <a:lumOff val="15000"/>
                            </a:schemeClr>
                          </a:solidFill>
                          <a:effectLst/>
                          <a:latin typeface="Cambria" panose="02040503050406030204" pitchFamily="18" charset="0"/>
                          <a:ea typeface="Cambria" panose="02040503050406030204" pitchFamily="18" charset="0"/>
                        </a:rPr>
                        <a:t>Key Findings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77242679"/>
                  </a:ext>
                </a:extLst>
              </a:tr>
              <a:tr h="809551">
                <a:tc>
                  <a:txBody>
                    <a:bodyPr/>
                    <a:lstStyle/>
                    <a:p>
                      <a:pPr algn="l" fontAlgn="ctr">
                        <a:buNone/>
                      </a:pPr>
                      <a:r>
                        <a:rPr lang="en-IN" sz="1600" dirty="0">
                          <a:latin typeface="Cambria" panose="02040503050406030204" pitchFamily="18" charset="0"/>
                          <a:ea typeface="Cambria" panose="02040503050406030204" pitchFamily="18" charset="0"/>
                        </a:rPr>
                        <a:t>Chung, S. J., Paranjape, A. A., Dames, P., Shen, S., &amp; Kumar, V., 2018, </a:t>
                      </a:r>
                      <a:r>
                        <a:rPr lang="en-IN" sz="1600" i="1" dirty="0">
                          <a:latin typeface="Cambria" panose="02040503050406030204" pitchFamily="18" charset="0"/>
                          <a:ea typeface="Cambria" panose="02040503050406030204" pitchFamily="18" charset="0"/>
                        </a:rPr>
                        <a:t>IEEE Robotics and Automation Magazine</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A Survey on Aerial Swarm Robotics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Reviewed aerial swarm architectures, autonomous coordination, distributed control, communication methods, and future applications of UAV swarms.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3462294"/>
                  </a:ext>
                </a:extLst>
              </a:tr>
              <a:tr h="809551">
                <a:tc>
                  <a:txBody>
                    <a:bodyPr/>
                    <a:lstStyle/>
                    <a:p>
                      <a:pPr algn="l" fontAlgn="ctr">
                        <a:buNone/>
                      </a:pPr>
                      <a:r>
                        <a:rPr lang="en-IN" sz="1600" dirty="0">
                          <a:latin typeface="Cambria" panose="02040503050406030204" pitchFamily="18" charset="0"/>
                          <a:ea typeface="Cambria" panose="02040503050406030204" pitchFamily="18" charset="0"/>
                        </a:rPr>
                        <a:t>Gupta, L., Jain, R., &amp; </a:t>
                      </a:r>
                      <a:r>
                        <a:rPr lang="en-IN" sz="1600" dirty="0" err="1">
                          <a:latin typeface="Cambria" panose="02040503050406030204" pitchFamily="18" charset="0"/>
                          <a:ea typeface="Cambria" panose="02040503050406030204" pitchFamily="18" charset="0"/>
                        </a:rPr>
                        <a:t>Vaszkun</a:t>
                      </a:r>
                      <a:r>
                        <a:rPr lang="en-IN" sz="1600" dirty="0">
                          <a:latin typeface="Cambria" panose="02040503050406030204" pitchFamily="18" charset="0"/>
                          <a:ea typeface="Cambria" panose="02040503050406030204" pitchFamily="18" charset="0"/>
                        </a:rPr>
                        <a:t>, G., 2016, </a:t>
                      </a:r>
                      <a:r>
                        <a:rPr lang="en-IN" sz="1600" i="1" dirty="0">
                          <a:latin typeface="Cambria" panose="02040503050406030204" pitchFamily="18" charset="0"/>
                          <a:ea typeface="Cambria" panose="02040503050406030204" pitchFamily="18" charset="0"/>
                        </a:rPr>
                        <a:t>IEEE Access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Survey of Important Issues in UAV Communication Networks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Reviewed UAV communication technologies, swarm networking, coordination strategies, and challenges for autonomous multi-UAV systems.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2546248"/>
                  </a:ext>
                </a:extLst>
              </a:tr>
              <a:tr h="708357">
                <a:tc>
                  <a:txBody>
                    <a:bodyPr/>
                    <a:lstStyle/>
                    <a:p>
                      <a:pPr algn="l" fontAlgn="ctr">
                        <a:buNone/>
                      </a:pPr>
                      <a:r>
                        <a:rPr lang="en-IN" sz="1600" dirty="0">
                          <a:latin typeface="Cambria" panose="02040503050406030204" pitchFamily="18" charset="0"/>
                          <a:ea typeface="Cambria" panose="02040503050406030204" pitchFamily="18" charset="0"/>
                        </a:rPr>
                        <a:t>Dorigo, M., </a:t>
                      </a:r>
                      <a:r>
                        <a:rPr lang="en-IN" sz="1600" dirty="0" err="1">
                          <a:latin typeface="Cambria" panose="02040503050406030204" pitchFamily="18" charset="0"/>
                          <a:ea typeface="Cambria" panose="02040503050406030204" pitchFamily="18" charset="0"/>
                        </a:rPr>
                        <a:t>Birattari</a:t>
                      </a:r>
                      <a:r>
                        <a:rPr lang="en-IN" sz="1600" dirty="0">
                          <a:latin typeface="Cambria" panose="02040503050406030204" pitchFamily="18" charset="0"/>
                          <a:ea typeface="Cambria" panose="02040503050406030204" pitchFamily="18" charset="0"/>
                        </a:rPr>
                        <a:t>, M., &amp; Brambilla, M., 2014, </a:t>
                      </a:r>
                      <a:r>
                        <a:rPr lang="en-IN" sz="1600" i="1" dirty="0">
                          <a:latin typeface="Cambria" panose="02040503050406030204" pitchFamily="18" charset="0"/>
                          <a:ea typeface="Cambria" panose="02040503050406030204" pitchFamily="18" charset="0"/>
                        </a:rPr>
                        <a:t>Swarm Intelligence</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Swarm Robotics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Explained swarm intelligence principles, decentralized coordination, collective decision-making, and cooperative </a:t>
                      </a:r>
                      <a:r>
                        <a:rPr lang="en-IN" sz="1600" dirty="0" err="1">
                          <a:latin typeface="Cambria" panose="02040503050406030204" pitchFamily="18" charset="0"/>
                          <a:ea typeface="Cambria" panose="02040503050406030204" pitchFamily="18" charset="0"/>
                        </a:rPr>
                        <a:t>behavior</a:t>
                      </a:r>
                      <a:r>
                        <a:rPr lang="en-IN" sz="1600" dirty="0">
                          <a:latin typeface="Cambria" panose="02040503050406030204" pitchFamily="18" charset="0"/>
                          <a:ea typeface="Cambria" panose="02040503050406030204" pitchFamily="18" charset="0"/>
                        </a:rPr>
                        <a:t> for multi-robot systems.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4637597"/>
                  </a:ext>
                </a:extLst>
              </a:tr>
              <a:tr h="607163">
                <a:tc>
                  <a:txBody>
                    <a:bodyPr/>
                    <a:lstStyle/>
                    <a:p>
                      <a:pPr algn="l" fontAlgn="ctr">
                        <a:buNone/>
                      </a:pPr>
                      <a:r>
                        <a:rPr lang="en-IN" sz="1600" dirty="0">
                          <a:latin typeface="Cambria" panose="02040503050406030204" pitchFamily="18" charset="0"/>
                          <a:ea typeface="Cambria" panose="02040503050406030204" pitchFamily="18" charset="0"/>
                        </a:rPr>
                        <a:t>Yang, L., et al., 2014, </a:t>
                      </a:r>
                      <a:r>
                        <a:rPr lang="en-IN" sz="1600" i="1" dirty="0">
                          <a:latin typeface="Cambria" panose="02040503050406030204" pitchFamily="18" charset="0"/>
                          <a:ea typeface="Cambria" panose="02040503050406030204" pitchFamily="18" charset="0"/>
                        </a:rPr>
                        <a:t>Chinese Journal of Aeronautics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A LODBO Algorithm for Multi-UAV Search and Rescue Path Planning</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Proposed an optimized path-planning algorithm that reduced travel distance and improved cooperative search efficiency for multiple UAVs.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7559347"/>
                  </a:ext>
                </a:extLst>
              </a:tr>
              <a:tr h="607163">
                <a:tc>
                  <a:txBody>
                    <a:bodyPr/>
                    <a:lstStyle/>
                    <a:p>
                      <a:pPr algn="l" fontAlgn="ctr">
                        <a:buNone/>
                      </a:pPr>
                      <a:r>
                        <a:rPr lang="en-IN" sz="1600" dirty="0">
                          <a:latin typeface="Cambria" panose="02040503050406030204" pitchFamily="18" charset="0"/>
                          <a:ea typeface="Cambria" panose="02040503050406030204" pitchFamily="18" charset="0"/>
                        </a:rPr>
                        <a:t>Cao, Y. U., Fukunaga, A. S., &amp; Kahng, A. B., 1997, </a:t>
                      </a:r>
                      <a:r>
                        <a:rPr lang="en-IN" sz="1600" i="1" dirty="0">
                          <a:latin typeface="Cambria" panose="02040503050406030204" pitchFamily="18" charset="0"/>
                          <a:ea typeface="Cambria" panose="02040503050406030204" pitchFamily="18" charset="0"/>
                        </a:rPr>
                        <a:t>Autonomous Robots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Cooperative Mobile Robotics: Antecedents and Directions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Discussed cooperative robot architectures, task allocation, distributed control, and collaboration strategies that form the basis of modern multi-agent robotic systems.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1874380"/>
                  </a:ext>
                </a:extLst>
              </a:tr>
            </a:tbl>
          </a:graphicData>
        </a:graphic>
      </p:graphicFrame>
      <p:sp>
        <p:nvSpPr>
          <p:cNvPr id="12" name="TextBox 11">
            <a:extLst>
              <a:ext uri="{FF2B5EF4-FFF2-40B4-BE49-F238E27FC236}">
                <a16:creationId xmlns:a16="http://schemas.microsoft.com/office/drawing/2014/main" id="{29024FF1-CC16-1D0E-19F2-A1998F927247}"/>
              </a:ext>
            </a:extLst>
          </p:cNvPr>
          <p:cNvSpPr txBox="1"/>
          <p:nvPr/>
        </p:nvSpPr>
        <p:spPr>
          <a:xfrm>
            <a:off x="4283527" y="150900"/>
            <a:ext cx="3624944"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Literature Survey</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71032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5D3A393-C3AE-A646-62B7-6FB37B6160BE}"/>
              </a:ext>
            </a:extLst>
          </p:cNvPr>
          <p:cNvSpPr txBox="1"/>
          <p:nvPr/>
        </p:nvSpPr>
        <p:spPr>
          <a:xfrm>
            <a:off x="4407262" y="660611"/>
            <a:ext cx="3834675"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Problem Statement</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88F24EE7-A202-0AD1-5378-FB771210F28B}"/>
              </a:ext>
            </a:extLst>
          </p:cNvPr>
          <p:cNvSpPr txBox="1"/>
          <p:nvPr/>
        </p:nvSpPr>
        <p:spPr>
          <a:xfrm>
            <a:off x="1409946" y="1554576"/>
            <a:ext cx="9372108" cy="2031325"/>
          </a:xfrm>
          <a:prstGeom prst="rect">
            <a:avLst/>
          </a:prstGeom>
          <a:noFill/>
        </p:spPr>
        <p:txBody>
          <a:bodyPr wrap="square">
            <a:spAutoFit/>
          </a:bodyPr>
          <a:lstStyle/>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Existing search and rescue systems and single-drone approaches suffer from limited coverage, inefficient coordination, and increased search time, reducing the overall effectiveness of rescue missions.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There is a need for an intelligent cooperative drone swarm system using Multi-Agent Reinforcement Learning and swarm-based agent simulation to improve coordination, maximize search coverage, optimize path planning, and enhance search and rescue efficiency. </a:t>
            </a:r>
            <a:endParaRPr lang="en-IN" dirty="0">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32581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0A847DE-93F8-FC33-95AE-206442B30B17}"/>
              </a:ext>
            </a:extLst>
          </p:cNvPr>
          <p:cNvSpPr txBox="1"/>
          <p:nvPr/>
        </p:nvSpPr>
        <p:spPr>
          <a:xfrm>
            <a:off x="4659085" y="283421"/>
            <a:ext cx="2873829"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Objectives</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30202DDE-D1F4-1E6D-CF46-80B4B20E1F26}"/>
              </a:ext>
            </a:extLst>
          </p:cNvPr>
          <p:cNvSpPr txBox="1"/>
          <p:nvPr/>
        </p:nvSpPr>
        <p:spPr>
          <a:xfrm>
            <a:off x="1394213" y="1564407"/>
            <a:ext cx="9175463" cy="1754326"/>
          </a:xfrm>
          <a:prstGeom prst="rect">
            <a:avLst/>
          </a:prstGeom>
          <a:noFill/>
        </p:spPr>
        <p:txBody>
          <a:bodyPr wrap="square">
            <a:spAutoFit/>
          </a:bodyPr>
          <a:lstStyle/>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To develop a cooperative drone swarm system using Multi-Agent Reinforcement Learning (MARL) for autonomous search and rescue operations.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To implement swarm-based coordination for efficient communication, task allocation, path planning, and maximum search area coverage among multiple drones.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To improve target detection accuracy, reduce search time, and enhance the overall efficiency and reliability of cooperative drone swarm missions. </a:t>
            </a:r>
            <a:endParaRPr lang="en-IN" dirty="0">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684994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DED0D-AC0B-D3BC-CA42-A1CC6CAF623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B187BF7-6170-BAAA-B235-55F11DCC17BF}"/>
              </a:ext>
            </a:extLst>
          </p:cNvPr>
          <p:cNvSpPr txBox="1"/>
          <p:nvPr/>
        </p:nvSpPr>
        <p:spPr>
          <a:xfrm>
            <a:off x="4218214" y="0"/>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8E8FB27D-907E-5943-01E2-69F9CE684D15}"/>
              </a:ext>
            </a:extLst>
          </p:cNvPr>
          <p:cNvPicPr>
            <a:picLocks noChangeAspect="1"/>
          </p:cNvPicPr>
          <p:nvPr/>
        </p:nvPicPr>
        <p:blipFill>
          <a:blip r:embed="rId2"/>
          <a:srcRect l="12441" t="598" r="21421"/>
          <a:stretch>
            <a:fillRect/>
          </a:stretch>
        </p:blipFill>
        <p:spPr>
          <a:xfrm>
            <a:off x="736600" y="406400"/>
            <a:ext cx="4051301" cy="6235699"/>
          </a:xfrm>
          <a:prstGeom prst="rect">
            <a:avLst/>
          </a:prstGeom>
        </p:spPr>
      </p:pic>
      <p:sp>
        <p:nvSpPr>
          <p:cNvPr id="3" name="TextBox 2">
            <a:extLst>
              <a:ext uri="{FF2B5EF4-FFF2-40B4-BE49-F238E27FC236}">
                <a16:creationId xmlns:a16="http://schemas.microsoft.com/office/drawing/2014/main" id="{9CB3A801-58DC-2B27-FD84-7D0535D55244}"/>
              </a:ext>
            </a:extLst>
          </p:cNvPr>
          <p:cNvSpPr txBox="1"/>
          <p:nvPr/>
        </p:nvSpPr>
        <p:spPr>
          <a:xfrm>
            <a:off x="6125497" y="1261239"/>
            <a:ext cx="4813300" cy="3970318"/>
          </a:xfrm>
          <a:prstGeom prst="rect">
            <a:avLst/>
          </a:prstGeom>
          <a:noFill/>
        </p:spPr>
        <p:txBody>
          <a:bodyPr wrap="square">
            <a:spAutoFit/>
          </a:bodyPr>
          <a:lstStyle/>
          <a:p>
            <a:pPr marL="342900" lvl="0" indent="-342900" algn="just">
              <a:buFont typeface="+mj-lt"/>
              <a:buAutoNum type="arabicPeriod"/>
            </a:pPr>
            <a:r>
              <a:rPr lang="en-IN" b="1" dirty="0">
                <a:latin typeface="Cambria" panose="02040503050406030204" pitchFamily="18" charset="0"/>
                <a:ea typeface="Cambria" panose="02040503050406030204" pitchFamily="18" charset="0"/>
              </a:rPr>
              <a:t>Define Environment</a:t>
            </a:r>
            <a:r>
              <a:rPr lang="en-IN" dirty="0">
                <a:latin typeface="Cambria" panose="02040503050406030204" pitchFamily="18" charset="0"/>
                <a:ea typeface="Cambria" panose="02040503050406030204" pitchFamily="18" charset="0"/>
              </a:rPr>
              <a:t> – Set the search area, obstacles, and target locations. </a:t>
            </a:r>
          </a:p>
          <a:p>
            <a:pPr marL="342900" lvl="0" indent="-342900" algn="just">
              <a:buFont typeface="+mj-lt"/>
              <a:buAutoNum type="arabicPeriod"/>
            </a:pPr>
            <a:r>
              <a:rPr lang="en-IN" b="1" dirty="0">
                <a:latin typeface="Cambria" panose="02040503050406030204" pitchFamily="18" charset="0"/>
                <a:ea typeface="Cambria" panose="02040503050406030204" pitchFamily="18" charset="0"/>
              </a:rPr>
              <a:t>Initialize Drone Swarm</a:t>
            </a:r>
            <a:r>
              <a:rPr lang="en-IN" dirty="0">
                <a:latin typeface="Cambria" panose="02040503050406030204" pitchFamily="18" charset="0"/>
                <a:ea typeface="Cambria" panose="02040503050406030204" pitchFamily="18" charset="0"/>
              </a:rPr>
              <a:t> – Set drone number, positions, battery, and sensor range. </a:t>
            </a:r>
          </a:p>
          <a:p>
            <a:pPr marL="342900" lvl="0" indent="-342900" algn="just">
              <a:buFont typeface="+mj-lt"/>
              <a:buAutoNum type="arabicPeriod"/>
            </a:pPr>
            <a:r>
              <a:rPr lang="en-IN" b="1" dirty="0">
                <a:latin typeface="Cambria" panose="02040503050406030204" pitchFamily="18" charset="0"/>
                <a:ea typeface="Cambria" panose="02040503050406030204" pitchFamily="18" charset="0"/>
              </a:rPr>
              <a:t>Swarm Coordination &amp; MARL</a:t>
            </a:r>
            <a:r>
              <a:rPr lang="en-IN" dirty="0">
                <a:latin typeface="Cambria" panose="02040503050406030204" pitchFamily="18" charset="0"/>
                <a:ea typeface="Cambria" panose="02040503050406030204" pitchFamily="18" charset="0"/>
              </a:rPr>
              <a:t> – Coordinate drones and select optimal actions. </a:t>
            </a:r>
          </a:p>
          <a:p>
            <a:pPr marL="342900" lvl="0" indent="-342900" algn="just">
              <a:buFont typeface="+mj-lt"/>
              <a:buAutoNum type="arabicPeriod"/>
            </a:pPr>
            <a:r>
              <a:rPr lang="en-IN" b="1" dirty="0">
                <a:latin typeface="Cambria" panose="02040503050406030204" pitchFamily="18" charset="0"/>
                <a:ea typeface="Cambria" panose="02040503050406030204" pitchFamily="18" charset="0"/>
              </a:rPr>
              <a:t>Reward &amp; State Update</a:t>
            </a:r>
            <a:r>
              <a:rPr lang="en-IN" dirty="0">
                <a:latin typeface="Cambria" panose="02040503050406030204" pitchFamily="18" charset="0"/>
                <a:ea typeface="Cambria" panose="02040503050406030204" pitchFamily="18" charset="0"/>
              </a:rPr>
              <a:t> – Calculate rewards and update drone states and Q-values. </a:t>
            </a:r>
          </a:p>
          <a:p>
            <a:pPr marL="342900" lvl="0" indent="-342900" algn="just">
              <a:buFont typeface="+mj-lt"/>
              <a:buAutoNum type="arabicPeriod"/>
            </a:pPr>
            <a:r>
              <a:rPr lang="en-IN" b="1" dirty="0">
                <a:latin typeface="Cambria" panose="02040503050406030204" pitchFamily="18" charset="0"/>
                <a:ea typeface="Cambria" panose="02040503050406030204" pitchFamily="18" charset="0"/>
              </a:rPr>
              <a:t>Search &amp; Output</a:t>
            </a:r>
            <a:r>
              <a:rPr lang="en-IN" dirty="0">
                <a:latin typeface="Cambria" panose="02040503050406030204" pitchFamily="18" charset="0"/>
                <a:ea typeface="Cambria" panose="02040503050406030204" pitchFamily="18" charset="0"/>
              </a:rPr>
              <a:t> – Repeat until completion, then display trajectories, coverage map, and results. </a:t>
            </a:r>
          </a:p>
        </p:txBody>
      </p:sp>
    </p:spTree>
    <p:extLst>
      <p:ext uri="{BB962C8B-B14F-4D97-AF65-F5344CB8AC3E}">
        <p14:creationId xmlns:p14="http://schemas.microsoft.com/office/powerpoint/2010/main" val="347044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58430-F853-5E6D-1098-D7B812B7903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85B5D1E-F0BD-3C3D-CFBF-DBAC1DD8B126}"/>
              </a:ext>
            </a:extLst>
          </p:cNvPr>
          <p:cNvSpPr txBox="1"/>
          <p:nvPr/>
        </p:nvSpPr>
        <p:spPr>
          <a:xfrm>
            <a:off x="3972743" y="255270"/>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DA7600ED-1052-5320-A7EE-DB79823FDC9C}"/>
              </a:ext>
            </a:extLst>
          </p:cNvPr>
          <p:cNvSpPr txBox="1"/>
          <p:nvPr/>
        </p:nvSpPr>
        <p:spPr>
          <a:xfrm>
            <a:off x="1527867" y="1364555"/>
            <a:ext cx="9667126" cy="4093428"/>
          </a:xfrm>
          <a:prstGeom prst="rect">
            <a:avLst/>
          </a:prstGeom>
          <a:noFill/>
        </p:spPr>
        <p:txBody>
          <a:bodyPr wrap="square">
            <a:spAutoFit/>
          </a:bodyPr>
          <a:lstStyle/>
          <a:p>
            <a:pPr>
              <a:buNone/>
            </a:pPr>
            <a:r>
              <a:rPr lang="en-IN" sz="2000" b="1" dirty="0">
                <a:latin typeface="Cambria" panose="02040503050406030204" pitchFamily="18" charset="0"/>
                <a:ea typeface="Cambria" panose="02040503050406030204" pitchFamily="18" charset="0"/>
              </a:rPr>
              <a:t>Proposed Algorithm for Cooperative Drone Swarm</a:t>
            </a:r>
          </a:p>
          <a:p>
            <a:pPr>
              <a:buNone/>
            </a:pPr>
            <a:endParaRPr lang="en-IN" sz="2000" b="1" dirty="0">
              <a:latin typeface="Cambria" panose="02040503050406030204" pitchFamily="18" charset="0"/>
              <a:ea typeface="Cambria" panose="02040503050406030204" pitchFamily="18" charset="0"/>
            </a:endParaRPr>
          </a:p>
          <a:p>
            <a:pPr>
              <a:buNone/>
            </a:pPr>
            <a:r>
              <a:rPr lang="en-IN" sz="2000" b="1" dirty="0">
                <a:latin typeface="Cambria" panose="02040503050406030204" pitchFamily="18" charset="0"/>
                <a:ea typeface="Cambria" panose="02040503050406030204" pitchFamily="18" charset="0"/>
              </a:rPr>
              <a:t>Step 1: Define Environment and Drone Swarm</a:t>
            </a:r>
          </a:p>
          <a:p>
            <a:pPr>
              <a:buNone/>
            </a:pPr>
            <a:r>
              <a:rPr lang="en-IN" sz="2000" dirty="0">
                <a:latin typeface="Cambria" panose="02040503050406030204" pitchFamily="18" charset="0"/>
                <a:ea typeface="Cambria" panose="02040503050406030204" pitchFamily="18" charset="0"/>
              </a:rPr>
              <a:t>Let</a:t>
            </a:r>
          </a:p>
          <a:p>
            <a:pPr marL="342900" lvl="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E = Search Environment </a:t>
            </a:r>
          </a:p>
          <a:p>
            <a:pPr marL="342900" lvl="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D={D1​,D2​,...,Dn​} = Set of Drones </a:t>
            </a:r>
          </a:p>
          <a:p>
            <a:pPr marL="342900" lvl="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T={T1​,T2​,...,Tm​} = Target Locations </a:t>
            </a:r>
          </a:p>
          <a:p>
            <a:pPr marL="342900" lvl="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O = Obstacles </a:t>
            </a:r>
          </a:p>
          <a:p>
            <a:pPr marL="342900" lvl="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Bi​ = Battery level of drone Di​ </a:t>
            </a:r>
          </a:p>
          <a:p>
            <a:pPr marL="342900" lvl="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Ri​ = Sensor range of drone Di​ </a:t>
            </a:r>
          </a:p>
          <a:p>
            <a:pPr>
              <a:buNone/>
            </a:pPr>
            <a:r>
              <a:rPr lang="en-IN" sz="2000" dirty="0">
                <a:latin typeface="Cambria" panose="02040503050406030204" pitchFamily="18" charset="0"/>
                <a:ea typeface="Cambria" panose="02040503050406030204" pitchFamily="18" charset="0"/>
              </a:rPr>
              <a:t>The environment consists of a predefined search area containing obstacles and unknown target locations.</a:t>
            </a:r>
          </a:p>
          <a:p>
            <a:pPr>
              <a:buNone/>
            </a:pPr>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322589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EE431-EA3C-BB2B-B8EE-02AA2EFE4BD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3C6D3AB-83CF-C7B9-04A5-1A7FFE235819}"/>
              </a:ext>
            </a:extLst>
          </p:cNvPr>
          <p:cNvSpPr txBox="1"/>
          <p:nvPr/>
        </p:nvSpPr>
        <p:spPr>
          <a:xfrm>
            <a:off x="3972743" y="255270"/>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E0C91E90-D041-B2EF-8BAE-2799911496E4}"/>
                  </a:ext>
                </a:extLst>
              </p:cNvPr>
              <p:cNvSpPr txBox="1"/>
              <p:nvPr/>
            </p:nvSpPr>
            <p:spPr>
              <a:xfrm>
                <a:off x="1440237" y="765690"/>
                <a:ext cx="9667126" cy="5909310"/>
              </a:xfrm>
              <a:prstGeom prst="rect">
                <a:avLst/>
              </a:prstGeom>
              <a:noFill/>
            </p:spPr>
            <p:txBody>
              <a:bodyPr wrap="square">
                <a:spAutoFit/>
              </a:bodyPr>
              <a:lstStyle/>
              <a:p>
                <a:pPr>
                  <a:buNone/>
                </a:pPr>
                <a:endParaRPr lang="en-IN" dirty="0">
                  <a:latin typeface="Cambria" panose="02040503050406030204" pitchFamily="18" charset="0"/>
                  <a:ea typeface="Cambria" panose="02040503050406030204" pitchFamily="18" charset="0"/>
                </a:endParaRPr>
              </a:p>
              <a:p>
                <a:pPr>
                  <a:buNone/>
                </a:pPr>
                <a:r>
                  <a:rPr lang="en-IN" b="1" dirty="0">
                    <a:latin typeface="Cambria" panose="02040503050406030204" pitchFamily="18" charset="0"/>
                    <a:ea typeface="Cambria" panose="02040503050406030204" pitchFamily="18" charset="0"/>
                  </a:rPr>
                  <a:t>Step 2: Initialize Drone State</a:t>
                </a:r>
              </a:p>
              <a:p>
                <a:pPr>
                  <a:buNone/>
                </a:pPr>
                <a:r>
                  <a:rPr lang="en-IN" dirty="0">
                    <a:latin typeface="Cambria" panose="02040503050406030204" pitchFamily="18" charset="0"/>
                    <a:ea typeface="Cambria" panose="02040503050406030204" pitchFamily="18" charset="0"/>
                  </a:rPr>
                  <a:t>For each drone Di​,</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Position: Pi​(t)=(xi​,</a:t>
                </a:r>
                <a:r>
                  <a:rPr lang="en-IN" dirty="0" err="1">
                    <a:latin typeface="Cambria" panose="02040503050406030204" pitchFamily="18" charset="0"/>
                    <a:ea typeface="Cambria" panose="02040503050406030204" pitchFamily="18" charset="0"/>
                  </a:rPr>
                  <a:t>yi</a:t>
                </a:r>
                <a:r>
                  <a:rPr lang="en-IN" dirty="0">
                    <a:latin typeface="Cambria" panose="02040503050406030204" pitchFamily="18" charset="0"/>
                    <a:ea typeface="Cambria" panose="02040503050406030204" pitchFamily="18" charset="0"/>
                  </a:rPr>
                  <a:t>​)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Velocity: Vi​(t)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Battery: Bi​(t)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Sensor range: Ri​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Local observation: Oi​(t) </a:t>
                </a:r>
              </a:p>
              <a:p>
                <a:pPr>
                  <a:buNone/>
                </a:pPr>
                <a:r>
                  <a:rPr lang="en-IN" dirty="0">
                    <a:latin typeface="Cambria" panose="02040503050406030204" pitchFamily="18" charset="0"/>
                    <a:ea typeface="Cambria" panose="02040503050406030204" pitchFamily="18" charset="0"/>
                  </a:rPr>
                  <a:t>Each drone receives its local environmental state and shares relevant information with neighbouring drones.</a:t>
                </a:r>
              </a:p>
              <a:p>
                <a:pPr>
                  <a:buNone/>
                </a:pPr>
                <a:endParaRPr lang="en-IN" dirty="0">
                  <a:latin typeface="Cambria" panose="02040503050406030204" pitchFamily="18" charset="0"/>
                  <a:ea typeface="Cambria" panose="02040503050406030204" pitchFamily="18" charset="0"/>
                </a:endParaRPr>
              </a:p>
              <a:p>
                <a:pPr>
                  <a:buNone/>
                </a:pPr>
                <a:r>
                  <a:rPr lang="en-IN" b="1" dirty="0">
                    <a:latin typeface="Cambria" panose="02040503050406030204" pitchFamily="18" charset="0"/>
                    <a:ea typeface="Cambria" panose="02040503050406030204" pitchFamily="18" charset="0"/>
                  </a:rPr>
                  <a:t>Step 3: Swarm Coordination</a:t>
                </a:r>
              </a:p>
              <a:p>
                <a:pPr>
                  <a:buNone/>
                </a:pPr>
                <a:r>
                  <a:rPr lang="en-IN" dirty="0">
                    <a:latin typeface="Cambria" panose="02040503050406030204" pitchFamily="18" charset="0"/>
                    <a:ea typeface="Cambria" panose="02040503050406030204" pitchFamily="18" charset="0"/>
                  </a:rPr>
                  <a:t>The movement of each drone is determined using separation, cohesion and alignment forces.</a:t>
                </a:r>
              </a:p>
              <a:p>
                <a:pPr>
                  <a:buNone/>
                </a:pPr>
                <a14:m>
                  <m:oMathPara xmlns:m="http://schemas.openxmlformats.org/officeDocument/2006/math">
                    <m:oMath>
                      <m:r>
                        <a:rPr lang="en-IN" i="1" dirty="0" smtClean="0">
                          <a:solidFill>
                            <a:srgbClr val="FF0000"/>
                          </a:solidFill>
                          <a:latin typeface="Cambria Math" panose="02040503050406030204" pitchFamily="18" charset="0"/>
                        </a:rPr>
                        <m:t>𝐹𝑖</m:t>
                      </m:r>
                      <m:r>
                        <a:rPr lang="en-IN" i="1" dirty="0" smtClean="0">
                          <a:solidFill>
                            <a:srgbClr val="FF0000"/>
                          </a:solidFill>
                          <a:latin typeface="Cambria Math" panose="02040503050406030204" pitchFamily="18" charset="0"/>
                        </a:rPr>
                        <m:t> = </m:t>
                      </m:r>
                      <m:r>
                        <a:rPr lang="en-IN" i="1" dirty="0" err="1">
                          <a:solidFill>
                            <a:srgbClr val="FF0000"/>
                          </a:solidFill>
                          <a:latin typeface="Cambria Math" panose="02040503050406030204" pitchFamily="18" charset="0"/>
                        </a:rPr>
                        <m:t>𝑤𝑠𝐹𝑠𝑒𝑝</m:t>
                      </m:r>
                      <m:r>
                        <a:rPr lang="en-IN" i="1" dirty="0">
                          <a:solidFill>
                            <a:srgbClr val="FF0000"/>
                          </a:solidFill>
                          <a:latin typeface="Cambria Math" panose="02040503050406030204" pitchFamily="18" charset="0"/>
                        </a:rPr>
                        <m:t> + </m:t>
                      </m:r>
                      <m:r>
                        <a:rPr lang="en-IN" i="1" dirty="0" err="1">
                          <a:solidFill>
                            <a:srgbClr val="FF0000"/>
                          </a:solidFill>
                          <a:latin typeface="Cambria Math" panose="02040503050406030204" pitchFamily="18" charset="0"/>
                        </a:rPr>
                        <m:t>𝑤𝑐𝐹𝑐𝑜ℎ</m:t>
                      </m:r>
                      <m:r>
                        <a:rPr lang="en-IN" i="1" dirty="0">
                          <a:solidFill>
                            <a:srgbClr val="FF0000"/>
                          </a:solidFill>
                          <a:latin typeface="Cambria Math" panose="02040503050406030204" pitchFamily="18" charset="0"/>
                        </a:rPr>
                        <m:t> + </m:t>
                      </m:r>
                      <m:r>
                        <a:rPr lang="en-IN" i="1" dirty="0" err="1">
                          <a:solidFill>
                            <a:srgbClr val="FF0000"/>
                          </a:solidFill>
                          <a:latin typeface="Cambria Math" panose="02040503050406030204" pitchFamily="18" charset="0"/>
                        </a:rPr>
                        <m:t>𝑤𝑎𝐹𝑎𝑙𝑖𝑔𝑛</m:t>
                      </m:r>
                      <m:r>
                        <a:rPr lang="en-IN" i="1" dirty="0">
                          <a:solidFill>
                            <a:srgbClr val="FF0000"/>
                          </a:solidFill>
                          <a:latin typeface="Cambria Math" panose="02040503050406030204" pitchFamily="18" charset="0"/>
                        </a:rPr>
                        <m:t>                                      (1</m:t>
                      </m:r>
                      <m:r>
                        <a:rPr lang="en-IN" i="1" dirty="0">
                          <a:solidFill>
                            <a:srgbClr val="FF0000"/>
                          </a:solidFill>
                          <a:latin typeface="Cambria Math" panose="02040503050406030204" pitchFamily="18" charset="0"/>
                        </a:rPr>
                        <m:t>)</m:t>
                      </m:r>
                    </m:oMath>
                  </m:oMathPara>
                </a14:m>
                <a:endParaRPr lang="en-IN" dirty="0">
                  <a:latin typeface="Cambria" panose="02040503050406030204" pitchFamily="18" charset="0"/>
                  <a:ea typeface="Cambria" panose="02040503050406030204" pitchFamily="18" charset="0"/>
                </a:endParaRPr>
              </a:p>
              <a:p>
                <a:pPr>
                  <a:buNone/>
                </a:pPr>
                <a:r>
                  <a:rPr lang="en-IN" dirty="0">
                    <a:latin typeface="Cambria" panose="02040503050406030204" pitchFamily="18" charset="0"/>
                    <a:ea typeface="Cambria" panose="02040503050406030204" pitchFamily="18" charset="0"/>
                  </a:rPr>
                  <a:t>where:</a:t>
                </a:r>
              </a:p>
              <a:p>
                <a:pPr marL="342900" lvl="0" indent="-342900">
                  <a:buFont typeface="Arial" panose="020B0604020202020204" pitchFamily="34" charset="0"/>
                  <a:buChar char="•"/>
                </a:pPr>
                <a:r>
                  <a:rPr lang="en-IN" dirty="0" err="1">
                    <a:latin typeface="Cambria" panose="02040503050406030204" pitchFamily="18" charset="0"/>
                    <a:ea typeface="Cambria" panose="02040503050406030204" pitchFamily="18" charset="0"/>
                  </a:rPr>
                  <a:t>Fsep</a:t>
                </a:r>
                <a:r>
                  <a:rPr lang="en-IN" dirty="0">
                    <a:latin typeface="Cambria" panose="02040503050406030204" pitchFamily="18" charset="0"/>
                    <a:ea typeface="Cambria" panose="02040503050406030204" pitchFamily="18" charset="0"/>
                  </a:rPr>
                  <a:t>​ = Separation force </a:t>
                </a:r>
              </a:p>
              <a:p>
                <a:pPr marL="342900" lvl="0" indent="-342900">
                  <a:buFont typeface="Arial" panose="020B0604020202020204" pitchFamily="34" charset="0"/>
                  <a:buChar char="•"/>
                </a:pPr>
                <a:r>
                  <a:rPr lang="en-IN" dirty="0" err="1">
                    <a:latin typeface="Cambria" panose="02040503050406030204" pitchFamily="18" charset="0"/>
                    <a:ea typeface="Cambria" panose="02040503050406030204" pitchFamily="18" charset="0"/>
                  </a:rPr>
                  <a:t>Fcoh</a:t>
                </a:r>
                <a:r>
                  <a:rPr lang="en-IN" dirty="0">
                    <a:latin typeface="Cambria" panose="02040503050406030204" pitchFamily="18" charset="0"/>
                    <a:ea typeface="Cambria" panose="02040503050406030204" pitchFamily="18" charset="0"/>
                  </a:rPr>
                  <a:t>​ = Cohesion force </a:t>
                </a:r>
              </a:p>
              <a:p>
                <a:pPr marL="342900" lvl="0" indent="-342900">
                  <a:buFont typeface="Arial" panose="020B0604020202020204" pitchFamily="34" charset="0"/>
                  <a:buChar char="•"/>
                </a:pPr>
                <a:r>
                  <a:rPr lang="en-IN" dirty="0" err="1">
                    <a:latin typeface="Cambria" panose="02040503050406030204" pitchFamily="18" charset="0"/>
                    <a:ea typeface="Cambria" panose="02040503050406030204" pitchFamily="18" charset="0"/>
                  </a:rPr>
                  <a:t>Falign</a:t>
                </a:r>
                <a:r>
                  <a:rPr lang="en-IN" dirty="0">
                    <a:latin typeface="Cambria" panose="02040503050406030204" pitchFamily="18" charset="0"/>
                    <a:ea typeface="Cambria" panose="02040503050406030204" pitchFamily="18" charset="0"/>
                  </a:rPr>
                  <a:t>​ = Alignment force </a:t>
                </a:r>
              </a:p>
              <a:p>
                <a:pPr>
                  <a:buNone/>
                </a:pPr>
                <a:r>
                  <a:rPr lang="en-IN" dirty="0">
                    <a:latin typeface="Cambria" panose="02040503050406030204" pitchFamily="18" charset="0"/>
                    <a:ea typeface="Cambria" panose="02040503050406030204" pitchFamily="18" charset="0"/>
                  </a:rPr>
                  <a:t>The swarm coordination mechanism enables drones to maintain formation, avoid collisions and explore the search area cooperatively.</a:t>
                </a:r>
              </a:p>
              <a:p>
                <a:pPr>
                  <a:buNone/>
                </a:pPr>
                <a:endParaRPr lang="en-IN" dirty="0">
                  <a:latin typeface="Cambria" panose="02040503050406030204" pitchFamily="18" charset="0"/>
                  <a:ea typeface="Cambria" panose="02040503050406030204" pitchFamily="18" charset="0"/>
                </a:endParaRPr>
              </a:p>
            </p:txBody>
          </p:sp>
        </mc:Choice>
        <mc:Fallback>
          <p:sp>
            <p:nvSpPr>
              <p:cNvPr id="6" name="TextBox 5">
                <a:extLst>
                  <a:ext uri="{FF2B5EF4-FFF2-40B4-BE49-F238E27FC236}">
                    <a16:creationId xmlns:a16="http://schemas.microsoft.com/office/drawing/2014/main" id="{E0C91E90-D041-B2EF-8BAE-2799911496E4}"/>
                  </a:ext>
                </a:extLst>
              </p:cNvPr>
              <p:cNvSpPr txBox="1">
                <a:spLocks noRot="1" noChangeAspect="1" noMove="1" noResize="1" noEditPoints="1" noAdjustHandles="1" noChangeArrowheads="1" noChangeShapeType="1" noTextEdit="1"/>
              </p:cNvSpPr>
              <p:nvPr/>
            </p:nvSpPr>
            <p:spPr>
              <a:xfrm>
                <a:off x="1440237" y="765690"/>
                <a:ext cx="9667126" cy="5909310"/>
              </a:xfrm>
              <a:prstGeom prst="rect">
                <a:avLst/>
              </a:prstGeom>
              <a:blipFill>
                <a:blip r:embed="rId2"/>
                <a:stretch>
                  <a:fillRect l="-504"/>
                </a:stretch>
              </a:blipFill>
            </p:spPr>
            <p:txBody>
              <a:bodyPr/>
              <a:lstStyle/>
              <a:p>
                <a:r>
                  <a:rPr lang="en-IN">
                    <a:noFill/>
                  </a:rPr>
                  <a:t> </a:t>
                </a:r>
              </a:p>
            </p:txBody>
          </p:sp>
        </mc:Fallback>
      </mc:AlternateContent>
    </p:spTree>
    <p:extLst>
      <p:ext uri="{BB962C8B-B14F-4D97-AF65-F5344CB8AC3E}">
        <p14:creationId xmlns:p14="http://schemas.microsoft.com/office/powerpoint/2010/main" val="3598144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AA5D8-4450-F259-07C0-2A09D7790DF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066FB56-F6B2-2A77-0169-5F356423A0FB}"/>
              </a:ext>
            </a:extLst>
          </p:cNvPr>
          <p:cNvSpPr txBox="1"/>
          <p:nvPr/>
        </p:nvSpPr>
        <p:spPr>
          <a:xfrm>
            <a:off x="3732713" y="461010"/>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3B021CF4-8014-E892-E2A3-8595A3335E06}"/>
                  </a:ext>
                </a:extLst>
              </p:cNvPr>
              <p:cNvSpPr txBox="1"/>
              <p:nvPr/>
            </p:nvSpPr>
            <p:spPr>
              <a:xfrm>
                <a:off x="1540933" y="1582340"/>
                <a:ext cx="9787467" cy="3970318"/>
              </a:xfrm>
              <a:prstGeom prst="rect">
                <a:avLst/>
              </a:prstGeom>
              <a:noFill/>
            </p:spPr>
            <p:txBody>
              <a:bodyPr wrap="square">
                <a:spAutoFit/>
              </a:bodyPr>
              <a:lstStyle/>
              <a:p>
                <a:pPr>
                  <a:buNone/>
                </a:pPr>
                <a:r>
                  <a:rPr lang="en-IN" b="1" dirty="0">
                    <a:latin typeface="Cambria" panose="02040503050406030204" pitchFamily="18" charset="0"/>
                    <a:ea typeface="Cambria" panose="02040503050406030204" pitchFamily="18" charset="0"/>
                  </a:rPr>
                  <a:t>Step 4: Multi-Agent Reinforcement Learning</a:t>
                </a:r>
              </a:p>
              <a:p>
                <a:pPr>
                  <a:buNone/>
                </a:pPr>
                <a:r>
                  <a:rPr lang="en-IN" dirty="0">
                    <a:latin typeface="Cambria" panose="02040503050406030204" pitchFamily="18" charset="0"/>
                    <a:ea typeface="Cambria" panose="02040503050406030204" pitchFamily="18" charset="0"/>
                  </a:rPr>
                  <a:t>Each drone acts as an independent learning agent.</a:t>
                </a:r>
              </a:p>
              <a:p>
                <a:pPr>
                  <a:buNone/>
                </a:pPr>
                <a:r>
                  <a:rPr lang="en-IN" dirty="0">
                    <a:latin typeface="Cambria" panose="02040503050406030204" pitchFamily="18" charset="0"/>
                    <a:ea typeface="Cambria" panose="02040503050406030204" pitchFamily="18" charset="0"/>
                  </a:rPr>
                  <a:t>The Q-value is updated using:</a:t>
                </a:r>
              </a:p>
              <a:p>
                <a:pPr>
                  <a:buNone/>
                </a:pPr>
                <a14:m>
                  <m:oMathPara xmlns:m="http://schemas.openxmlformats.org/officeDocument/2006/math">
                    <m:oMath>
                      <m:r>
                        <a:rPr lang="en-IN" i="1" dirty="0" smtClean="0">
                          <a:solidFill>
                            <a:srgbClr val="FF0000"/>
                          </a:solidFill>
                          <a:latin typeface="Cambria Math" panose="02040503050406030204" pitchFamily="18" charset="0"/>
                        </a:rPr>
                        <m:t>𝑄</m:t>
                      </m:r>
                      <m:d>
                        <m:dPr>
                          <m:ctrlPr>
                            <a:rPr lang="en-IN" i="1" dirty="0" err="1">
                              <a:solidFill>
                                <a:srgbClr val="FF0000"/>
                              </a:solidFill>
                              <a:latin typeface="Cambria Math" panose="02040503050406030204" pitchFamily="18" charset="0"/>
                            </a:rPr>
                          </m:ctrlPr>
                        </m:dPr>
                        <m:e>
                          <m:r>
                            <a:rPr lang="en-IN" i="1" dirty="0" err="1">
                              <a:solidFill>
                                <a:srgbClr val="FF0000"/>
                              </a:solidFill>
                              <a:latin typeface="Cambria Math" panose="02040503050406030204" pitchFamily="18" charset="0"/>
                            </a:rPr>
                            <m:t>𝑠</m:t>
                          </m:r>
                          <m:r>
                            <a:rPr lang="en-IN" i="1" dirty="0" err="1">
                              <a:solidFill>
                                <a:srgbClr val="FF0000"/>
                              </a:solidFill>
                              <a:latin typeface="Cambria Math" panose="02040503050406030204" pitchFamily="18" charset="0"/>
                            </a:rPr>
                            <m:t>,</m:t>
                          </m:r>
                          <m:r>
                            <a:rPr lang="en-IN" i="1" dirty="0" err="1">
                              <a:solidFill>
                                <a:srgbClr val="FF0000"/>
                              </a:solidFill>
                              <a:latin typeface="Cambria Math" panose="02040503050406030204" pitchFamily="18" charset="0"/>
                            </a:rPr>
                            <m:t>𝑎</m:t>
                          </m:r>
                        </m:e>
                      </m:d>
                      <m:r>
                        <a:rPr lang="en-IN" i="1" dirty="0">
                          <a:solidFill>
                            <a:srgbClr val="FF0000"/>
                          </a:solidFill>
                          <a:latin typeface="Cambria Math" panose="02040503050406030204" pitchFamily="18" charset="0"/>
                        </a:rPr>
                        <m:t>←</m:t>
                      </m:r>
                      <m:r>
                        <a:rPr lang="en-IN" i="1" dirty="0">
                          <a:solidFill>
                            <a:srgbClr val="FF0000"/>
                          </a:solidFill>
                          <a:latin typeface="Cambria Math" panose="02040503050406030204" pitchFamily="18" charset="0"/>
                        </a:rPr>
                        <m:t>𝑄</m:t>
                      </m:r>
                      <m:d>
                        <m:dPr>
                          <m:ctrlPr>
                            <a:rPr lang="en-IN" i="1" dirty="0" err="1">
                              <a:solidFill>
                                <a:srgbClr val="FF0000"/>
                              </a:solidFill>
                              <a:latin typeface="Cambria Math" panose="02040503050406030204" pitchFamily="18" charset="0"/>
                            </a:rPr>
                          </m:ctrlPr>
                        </m:dPr>
                        <m:e>
                          <m:r>
                            <a:rPr lang="en-IN" i="1" dirty="0" err="1">
                              <a:solidFill>
                                <a:srgbClr val="FF0000"/>
                              </a:solidFill>
                              <a:latin typeface="Cambria Math" panose="02040503050406030204" pitchFamily="18" charset="0"/>
                            </a:rPr>
                            <m:t>𝑠</m:t>
                          </m:r>
                          <m:r>
                            <a:rPr lang="en-IN" i="1" dirty="0" err="1">
                              <a:solidFill>
                                <a:srgbClr val="FF0000"/>
                              </a:solidFill>
                              <a:latin typeface="Cambria Math" panose="02040503050406030204" pitchFamily="18" charset="0"/>
                            </a:rPr>
                            <m:t>,</m:t>
                          </m:r>
                          <m:r>
                            <a:rPr lang="en-IN" i="1" dirty="0" err="1">
                              <a:solidFill>
                                <a:srgbClr val="FF0000"/>
                              </a:solidFill>
                              <a:latin typeface="Cambria Math" panose="02040503050406030204" pitchFamily="18" charset="0"/>
                            </a:rPr>
                            <m:t>𝑎</m:t>
                          </m:r>
                        </m:e>
                      </m:d>
                      <m:r>
                        <a:rPr lang="en-IN" i="1" dirty="0">
                          <a:solidFill>
                            <a:srgbClr val="FF0000"/>
                          </a:solidFill>
                          <a:latin typeface="Cambria Math" panose="02040503050406030204" pitchFamily="18" charset="0"/>
                        </a:rPr>
                        <m:t>+</m:t>
                      </m:r>
                      <m:r>
                        <a:rPr lang="en-IN" i="1" dirty="0">
                          <a:solidFill>
                            <a:srgbClr val="FF0000"/>
                          </a:solidFill>
                          <a:latin typeface="Cambria Math" panose="02040503050406030204" pitchFamily="18" charset="0"/>
                        </a:rPr>
                        <m:t>𝛼</m:t>
                      </m:r>
                      <m:d>
                        <m:dPr>
                          <m:begChr m:val="["/>
                          <m:endChr m:val="]"/>
                          <m:ctrlPr>
                            <a:rPr lang="en-IN" i="1" dirty="0" err="1">
                              <a:solidFill>
                                <a:srgbClr val="FF0000"/>
                              </a:solidFill>
                              <a:latin typeface="Cambria Math" panose="02040503050406030204" pitchFamily="18" charset="0"/>
                            </a:rPr>
                          </m:ctrlPr>
                        </m:dPr>
                        <m:e>
                          <m:r>
                            <a:rPr lang="en-IN" i="1" dirty="0" err="1">
                              <a:solidFill>
                                <a:srgbClr val="FF0000"/>
                              </a:solidFill>
                              <a:latin typeface="Cambria Math" panose="02040503050406030204" pitchFamily="18" charset="0"/>
                            </a:rPr>
                            <m:t>𝑅</m:t>
                          </m:r>
                          <m:r>
                            <a:rPr lang="en-IN" i="1" dirty="0" err="1">
                              <a:solidFill>
                                <a:srgbClr val="FF0000"/>
                              </a:solidFill>
                              <a:latin typeface="Cambria Math" panose="02040503050406030204" pitchFamily="18" charset="0"/>
                            </a:rPr>
                            <m:t>+</m:t>
                          </m:r>
                          <m:r>
                            <a:rPr lang="en-IN" i="1" dirty="0" err="1">
                              <a:solidFill>
                                <a:srgbClr val="FF0000"/>
                              </a:solidFill>
                              <a:latin typeface="Cambria Math" panose="02040503050406030204" pitchFamily="18" charset="0"/>
                            </a:rPr>
                            <m:t>𝛾</m:t>
                          </m:r>
                          <m:sSup>
                            <m:sSupPr>
                              <m:ctrlPr>
                                <a:rPr lang="en-IN" i="1" dirty="0" err="1">
                                  <a:solidFill>
                                    <a:srgbClr val="FF0000"/>
                                  </a:solidFill>
                                  <a:latin typeface="Cambria Math" panose="02040503050406030204" pitchFamily="18" charset="0"/>
                                </a:rPr>
                              </m:ctrlPr>
                            </m:sSupPr>
                            <m:e>
                              <m:r>
                                <a:rPr lang="en-IN" i="1" dirty="0" err="1">
                                  <a:solidFill>
                                    <a:srgbClr val="FF0000"/>
                                  </a:solidFill>
                                  <a:latin typeface="Cambria Math" panose="02040503050406030204" pitchFamily="18" charset="0"/>
                                </a:rPr>
                                <m:t>𝑎</m:t>
                              </m:r>
                            </m:e>
                            <m:sup>
                              <m:r>
                                <a:rPr lang="en-IN" i="1" dirty="0" err="1">
                                  <a:solidFill>
                                    <a:srgbClr val="FF0000"/>
                                  </a:solidFill>
                                  <a:latin typeface="Cambria Math" panose="02040503050406030204" pitchFamily="18" charset="0"/>
                                </a:rPr>
                                <m:t>′</m:t>
                              </m:r>
                            </m:sup>
                          </m:sSup>
                          <m:r>
                            <m:rPr>
                              <m:sty m:val="p"/>
                            </m:rPr>
                            <a:rPr lang="en-IN" i="1" dirty="0" err="1">
                              <a:solidFill>
                                <a:srgbClr val="FF0000"/>
                              </a:solidFill>
                              <a:latin typeface="Cambria Math" panose="02040503050406030204" pitchFamily="18" charset="0"/>
                            </a:rPr>
                            <m:t>max</m:t>
                          </m:r>
                          <m:r>
                            <a:rPr lang="en-IN" i="1" dirty="0">
                              <a:solidFill>
                                <a:srgbClr val="FF0000"/>
                              </a:solidFill>
                              <a:latin typeface="Cambria Math" panose="02040503050406030204" pitchFamily="18" charset="0"/>
                            </a:rPr>
                            <m:t>​</m:t>
                          </m:r>
                          <m:r>
                            <a:rPr lang="en-IN" i="1" dirty="0">
                              <a:solidFill>
                                <a:srgbClr val="FF0000"/>
                              </a:solidFill>
                              <a:latin typeface="Cambria Math" panose="02040503050406030204" pitchFamily="18" charset="0"/>
                            </a:rPr>
                            <m:t>𝑄</m:t>
                          </m:r>
                          <m:d>
                            <m:dPr>
                              <m:ctrlPr>
                                <a:rPr lang="en-IN" i="1" dirty="0" err="1">
                                  <a:solidFill>
                                    <a:srgbClr val="FF0000"/>
                                  </a:solidFill>
                                  <a:latin typeface="Cambria Math" panose="02040503050406030204" pitchFamily="18" charset="0"/>
                                </a:rPr>
                              </m:ctrlPr>
                            </m:dPr>
                            <m:e>
                              <m:sSup>
                                <m:sSupPr>
                                  <m:ctrlPr>
                                    <a:rPr lang="en-IN" i="1" dirty="0" err="1">
                                      <a:solidFill>
                                        <a:srgbClr val="FF0000"/>
                                      </a:solidFill>
                                      <a:latin typeface="Cambria Math" panose="02040503050406030204" pitchFamily="18" charset="0"/>
                                    </a:rPr>
                                  </m:ctrlPr>
                                </m:sSupPr>
                                <m:e>
                                  <m:r>
                                    <a:rPr lang="en-IN" i="1" dirty="0" err="1">
                                      <a:solidFill>
                                        <a:srgbClr val="FF0000"/>
                                      </a:solidFill>
                                      <a:latin typeface="Cambria Math" panose="02040503050406030204" pitchFamily="18" charset="0"/>
                                    </a:rPr>
                                    <m:t>𝑠</m:t>
                                  </m:r>
                                </m:e>
                                <m:sup>
                                  <m:r>
                                    <a:rPr lang="en-IN" i="1" dirty="0" err="1">
                                      <a:solidFill>
                                        <a:srgbClr val="FF0000"/>
                                      </a:solidFill>
                                      <a:latin typeface="Cambria Math" panose="02040503050406030204" pitchFamily="18" charset="0"/>
                                    </a:rPr>
                                    <m:t>′</m:t>
                                  </m:r>
                                </m:sup>
                              </m:sSup>
                              <m:r>
                                <a:rPr lang="en-IN" i="1" dirty="0" err="1">
                                  <a:solidFill>
                                    <a:srgbClr val="FF0000"/>
                                  </a:solidFill>
                                  <a:latin typeface="Cambria Math" panose="02040503050406030204" pitchFamily="18" charset="0"/>
                                </a:rPr>
                                <m:t>,</m:t>
                              </m:r>
                              <m:sSup>
                                <m:sSupPr>
                                  <m:ctrlPr>
                                    <a:rPr lang="en-IN" i="1" dirty="0" err="1">
                                      <a:solidFill>
                                        <a:srgbClr val="FF0000"/>
                                      </a:solidFill>
                                      <a:latin typeface="Cambria Math" panose="02040503050406030204" pitchFamily="18" charset="0"/>
                                    </a:rPr>
                                  </m:ctrlPr>
                                </m:sSupPr>
                                <m:e>
                                  <m:r>
                                    <a:rPr lang="en-IN" i="1" dirty="0" err="1">
                                      <a:solidFill>
                                        <a:srgbClr val="FF0000"/>
                                      </a:solidFill>
                                      <a:latin typeface="Cambria Math" panose="02040503050406030204" pitchFamily="18" charset="0"/>
                                    </a:rPr>
                                    <m:t>𝑎</m:t>
                                  </m:r>
                                </m:e>
                                <m:sup>
                                  <m:r>
                                    <a:rPr lang="en-IN" i="1" dirty="0">
                                      <a:solidFill>
                                        <a:srgbClr val="FF0000"/>
                                      </a:solidFill>
                                      <a:latin typeface="Cambria Math" panose="02040503050406030204" pitchFamily="18" charset="0"/>
                                    </a:rPr>
                                    <m:t>′</m:t>
                                  </m:r>
                                </m:sup>
                              </m:sSup>
                            </m:e>
                          </m:d>
                          <m:r>
                            <a:rPr lang="en-IN" i="1" dirty="0">
                              <a:solidFill>
                                <a:srgbClr val="FF0000"/>
                              </a:solidFill>
                              <a:latin typeface="Cambria Math" panose="02040503050406030204" pitchFamily="18" charset="0"/>
                            </a:rPr>
                            <m:t>−</m:t>
                          </m:r>
                          <m:r>
                            <a:rPr lang="en-IN" i="1" dirty="0">
                              <a:solidFill>
                                <a:srgbClr val="FF0000"/>
                              </a:solidFill>
                              <a:latin typeface="Cambria Math" panose="02040503050406030204" pitchFamily="18" charset="0"/>
                            </a:rPr>
                            <m:t>𝑄</m:t>
                          </m:r>
                          <m:d>
                            <m:dPr>
                              <m:ctrlPr>
                                <a:rPr lang="en-IN" i="1" dirty="0" err="1">
                                  <a:solidFill>
                                    <a:srgbClr val="FF0000"/>
                                  </a:solidFill>
                                  <a:latin typeface="Cambria Math" panose="02040503050406030204" pitchFamily="18" charset="0"/>
                                </a:rPr>
                              </m:ctrlPr>
                            </m:dPr>
                            <m:e>
                              <m:r>
                                <a:rPr lang="en-IN" i="1" dirty="0" err="1">
                                  <a:solidFill>
                                    <a:srgbClr val="FF0000"/>
                                  </a:solidFill>
                                  <a:latin typeface="Cambria Math" panose="02040503050406030204" pitchFamily="18" charset="0"/>
                                </a:rPr>
                                <m:t>𝑠</m:t>
                              </m:r>
                              <m:r>
                                <a:rPr lang="en-IN" i="1" dirty="0" err="1">
                                  <a:solidFill>
                                    <a:srgbClr val="FF0000"/>
                                  </a:solidFill>
                                  <a:latin typeface="Cambria Math" panose="02040503050406030204" pitchFamily="18" charset="0"/>
                                </a:rPr>
                                <m:t>,</m:t>
                              </m:r>
                              <m:r>
                                <a:rPr lang="en-IN" i="1" dirty="0" err="1">
                                  <a:solidFill>
                                    <a:srgbClr val="FF0000"/>
                                  </a:solidFill>
                                  <a:latin typeface="Cambria Math" panose="02040503050406030204" pitchFamily="18" charset="0"/>
                                </a:rPr>
                                <m:t>𝑎</m:t>
                              </m:r>
                            </m:e>
                          </m:d>
                        </m:e>
                      </m:d>
                      <m:r>
                        <a:rPr lang="en-IN" b="0" i="1" dirty="0" smtClean="0">
                          <a:solidFill>
                            <a:srgbClr val="FF0000"/>
                          </a:solidFill>
                          <a:latin typeface="Cambria Math" panose="02040503050406030204" pitchFamily="18" charset="0"/>
                        </a:rPr>
                        <m:t>                                  </m:t>
                      </m:r>
                      <m:r>
                        <a:rPr lang="en-IN" i="1" dirty="0">
                          <a:solidFill>
                            <a:srgbClr val="FF0000"/>
                          </a:solidFill>
                          <a:latin typeface="Cambria Math" panose="02040503050406030204" pitchFamily="18" charset="0"/>
                        </a:rPr>
                        <m:t>(2) </m:t>
                      </m:r>
                    </m:oMath>
                  </m:oMathPara>
                </a14:m>
                <a:endParaRPr lang="en-IN" dirty="0">
                  <a:solidFill>
                    <a:srgbClr val="FF0000"/>
                  </a:solidFill>
                  <a:latin typeface="Cambria" panose="02040503050406030204" pitchFamily="18" charset="0"/>
                  <a:ea typeface="Cambria" panose="02040503050406030204" pitchFamily="18" charset="0"/>
                </a:endParaRPr>
              </a:p>
              <a:p>
                <a:pPr>
                  <a:buNone/>
                </a:pPr>
                <a:r>
                  <a:rPr lang="en-IN" dirty="0">
                    <a:latin typeface="Cambria" panose="02040503050406030204" pitchFamily="18" charset="0"/>
                    <a:ea typeface="Cambria" panose="02040503050406030204" pitchFamily="18" charset="0"/>
                  </a:rPr>
                  <a:t>where:</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s = Current state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a = Selected action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R = Reward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s′ = Next state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α = Learning rate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γ = Discount factor </a:t>
                </a:r>
              </a:p>
              <a:p>
                <a:pPr marL="342900" lvl="0" indent="-342900">
                  <a:buFont typeface="Arial" panose="020B0604020202020204" pitchFamily="34" charset="0"/>
                  <a:buChar char="•"/>
                </a:pPr>
                <a:endParaRPr lang="en-IN" dirty="0">
                  <a:latin typeface="Cambria" panose="02040503050406030204" pitchFamily="18" charset="0"/>
                  <a:ea typeface="Cambria" panose="02040503050406030204" pitchFamily="18" charset="0"/>
                </a:endParaRPr>
              </a:p>
              <a:p>
                <a:pPr>
                  <a:buNone/>
                </a:pPr>
                <a:r>
                  <a:rPr lang="en-IN" dirty="0">
                    <a:latin typeface="Cambria" panose="02040503050406030204" pitchFamily="18" charset="0"/>
                    <a:ea typeface="Cambria" panose="02040503050406030204" pitchFamily="18" charset="0"/>
                  </a:rPr>
                  <a:t>The MARL algorithm enables multiple drones to learn cooperative actions for navigation, target search and task allocation.</a:t>
                </a:r>
              </a:p>
            </p:txBody>
          </p:sp>
        </mc:Choice>
        <mc:Fallback>
          <p:sp>
            <p:nvSpPr>
              <p:cNvPr id="3" name="TextBox 2">
                <a:extLst>
                  <a:ext uri="{FF2B5EF4-FFF2-40B4-BE49-F238E27FC236}">
                    <a16:creationId xmlns:a16="http://schemas.microsoft.com/office/drawing/2014/main" id="{3B021CF4-8014-E892-E2A3-8595A3335E06}"/>
                  </a:ext>
                </a:extLst>
              </p:cNvPr>
              <p:cNvSpPr txBox="1">
                <a:spLocks noRot="1" noChangeAspect="1" noMove="1" noResize="1" noEditPoints="1" noAdjustHandles="1" noChangeArrowheads="1" noChangeShapeType="1" noTextEdit="1"/>
              </p:cNvSpPr>
              <p:nvPr/>
            </p:nvSpPr>
            <p:spPr>
              <a:xfrm>
                <a:off x="1540933" y="1582340"/>
                <a:ext cx="9787467" cy="3970318"/>
              </a:xfrm>
              <a:prstGeom prst="rect">
                <a:avLst/>
              </a:prstGeom>
              <a:blipFill>
                <a:blip r:embed="rId2"/>
                <a:stretch>
                  <a:fillRect l="-561" t="-1075" b="-1382"/>
                </a:stretch>
              </a:blipFill>
            </p:spPr>
            <p:txBody>
              <a:bodyPr/>
              <a:lstStyle/>
              <a:p>
                <a:r>
                  <a:rPr lang="en-IN">
                    <a:noFill/>
                  </a:rPr>
                  <a:t> </a:t>
                </a:r>
              </a:p>
            </p:txBody>
          </p:sp>
        </mc:Fallback>
      </mc:AlternateContent>
    </p:spTree>
    <p:extLst>
      <p:ext uri="{BB962C8B-B14F-4D97-AF65-F5344CB8AC3E}">
        <p14:creationId xmlns:p14="http://schemas.microsoft.com/office/powerpoint/2010/main" val="3555312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671B8-8467-3450-FC33-FEE94A68A6F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5B2E2CE-EC77-6EC1-6CC3-593E283B5051}"/>
              </a:ext>
            </a:extLst>
          </p:cNvPr>
          <p:cNvSpPr txBox="1"/>
          <p:nvPr/>
        </p:nvSpPr>
        <p:spPr>
          <a:xfrm>
            <a:off x="3732713" y="461010"/>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ED25E74B-DE7B-B485-EAB2-0227B864E2E0}"/>
                  </a:ext>
                </a:extLst>
              </p:cNvPr>
              <p:cNvSpPr txBox="1"/>
              <p:nvPr/>
            </p:nvSpPr>
            <p:spPr>
              <a:xfrm>
                <a:off x="1677670" y="1859339"/>
                <a:ext cx="9752330" cy="3893374"/>
              </a:xfrm>
              <a:prstGeom prst="rect">
                <a:avLst/>
              </a:prstGeom>
              <a:noFill/>
            </p:spPr>
            <p:txBody>
              <a:bodyPr wrap="square">
                <a:spAutoFit/>
              </a:bodyPr>
              <a:lstStyle/>
              <a:p>
                <a:pPr>
                  <a:buNone/>
                </a:pPr>
                <a:r>
                  <a:rPr lang="en-IN" sz="1900" b="1" dirty="0">
                    <a:latin typeface="Cambria" panose="02040503050406030204" pitchFamily="18" charset="0"/>
                    <a:ea typeface="Cambria" panose="02040503050406030204" pitchFamily="18" charset="0"/>
                  </a:rPr>
                  <a:t>Step 5: Cooperative Reward Calculation</a:t>
                </a:r>
              </a:p>
              <a:p>
                <a:r>
                  <a:rPr lang="en-IN" sz="1900" dirty="0">
                    <a:latin typeface="Cambria" panose="02040503050406030204" pitchFamily="18" charset="0"/>
                    <a:ea typeface="Cambria" panose="02040503050406030204" pitchFamily="18" charset="0"/>
                  </a:rPr>
                  <a:t>The reward for each drone is calculated as:</a:t>
                </a:r>
                <a:endParaRPr lang="en-IN" sz="1900" i="1" dirty="0">
                  <a:latin typeface="Cambria" panose="02040503050406030204" pitchFamily="18" charset="0"/>
                  <a:ea typeface="Cambria" panose="02040503050406030204" pitchFamily="18" charset="0"/>
                </a:endParaRPr>
              </a:p>
              <a:p>
                <a14:m>
                  <m:oMathPara xmlns:m="http://schemas.openxmlformats.org/officeDocument/2006/math">
                    <m:oMath>
                      <m:r>
                        <a:rPr lang="en-IN" sz="1900" i="1" dirty="0" smtClean="0">
                          <a:solidFill>
                            <a:srgbClr val="FF0000"/>
                          </a:solidFill>
                          <a:latin typeface="Cambria Math" panose="02040503050406030204" pitchFamily="18" charset="0"/>
                        </a:rPr>
                        <m:t>𝑅</m:t>
                      </m:r>
                      <m:r>
                        <a:rPr lang="en-IN" sz="1900" i="1" dirty="0" smtClean="0">
                          <a:solidFill>
                            <a:srgbClr val="FF0000"/>
                          </a:solidFill>
                          <a:latin typeface="Cambria Math" panose="02040503050406030204" pitchFamily="18" charset="0"/>
                        </a:rPr>
                        <m:t>=</m:t>
                      </m:r>
                      <m:r>
                        <a:rPr lang="en-IN" sz="1900" i="1" dirty="0" smtClean="0">
                          <a:solidFill>
                            <a:srgbClr val="FF0000"/>
                          </a:solidFill>
                          <a:latin typeface="Cambria Math" panose="02040503050406030204" pitchFamily="18" charset="0"/>
                        </a:rPr>
                        <m:t>𝑤</m:t>
                      </m:r>
                      <m:r>
                        <a:rPr lang="en-IN" sz="1900" i="1" dirty="0" smtClean="0">
                          <a:solidFill>
                            <a:srgbClr val="FF0000"/>
                          </a:solidFill>
                          <a:latin typeface="Cambria Math" panose="02040503050406030204" pitchFamily="18" charset="0"/>
                        </a:rPr>
                        <m:t>1​</m:t>
                      </m:r>
                      <m:r>
                        <a:rPr lang="en-IN" sz="1900" i="1" dirty="0" smtClean="0">
                          <a:solidFill>
                            <a:srgbClr val="FF0000"/>
                          </a:solidFill>
                          <a:latin typeface="Cambria Math" panose="02040503050406030204" pitchFamily="18" charset="0"/>
                        </a:rPr>
                        <m:t>𝑅𝑐𝑜𝑣𝑒𝑟𝑎𝑔𝑒</m:t>
                      </m:r>
                      <m:r>
                        <a:rPr lang="en-IN" sz="1900" i="1" dirty="0">
                          <a:solidFill>
                            <a:srgbClr val="FF0000"/>
                          </a:solidFill>
                          <a:latin typeface="Cambria Math" panose="02040503050406030204" pitchFamily="18" charset="0"/>
                        </a:rPr>
                        <m:t>​+</m:t>
                      </m:r>
                      <m:r>
                        <a:rPr lang="en-IN" sz="1900" i="1" dirty="0">
                          <a:solidFill>
                            <a:srgbClr val="FF0000"/>
                          </a:solidFill>
                          <a:latin typeface="Cambria Math" panose="02040503050406030204" pitchFamily="18" charset="0"/>
                        </a:rPr>
                        <m:t>𝑤</m:t>
                      </m:r>
                      <m:r>
                        <a:rPr lang="en-IN" sz="1900" i="1" dirty="0">
                          <a:solidFill>
                            <a:srgbClr val="FF0000"/>
                          </a:solidFill>
                          <a:latin typeface="Cambria Math" panose="02040503050406030204" pitchFamily="18" charset="0"/>
                        </a:rPr>
                        <m:t>2​</m:t>
                      </m:r>
                      <m:r>
                        <a:rPr lang="en-IN" sz="1900" i="1" dirty="0" err="1">
                          <a:solidFill>
                            <a:srgbClr val="FF0000"/>
                          </a:solidFill>
                          <a:latin typeface="Cambria Math" panose="02040503050406030204" pitchFamily="18" charset="0"/>
                        </a:rPr>
                        <m:t>𝑅𝑡𝑎𝑟𝑔𝑒𝑡</m:t>
                      </m:r>
                      <m:r>
                        <a:rPr lang="en-IN" sz="1900" i="1" dirty="0">
                          <a:solidFill>
                            <a:srgbClr val="FF0000"/>
                          </a:solidFill>
                          <a:latin typeface="Cambria Math" panose="02040503050406030204" pitchFamily="18" charset="0"/>
                        </a:rPr>
                        <m:t>​−</m:t>
                      </m:r>
                      <m:r>
                        <a:rPr lang="en-IN" sz="1900" i="1" dirty="0">
                          <a:solidFill>
                            <a:srgbClr val="FF0000"/>
                          </a:solidFill>
                          <a:latin typeface="Cambria Math" panose="02040503050406030204" pitchFamily="18" charset="0"/>
                        </a:rPr>
                        <m:t>𝑤</m:t>
                      </m:r>
                      <m:r>
                        <a:rPr lang="en-IN" sz="1900" i="1" dirty="0">
                          <a:solidFill>
                            <a:srgbClr val="FF0000"/>
                          </a:solidFill>
                          <a:latin typeface="Cambria Math" panose="02040503050406030204" pitchFamily="18" charset="0"/>
                        </a:rPr>
                        <m:t>3​</m:t>
                      </m:r>
                      <m:r>
                        <a:rPr lang="en-IN" sz="1900" i="1" dirty="0" err="1">
                          <a:solidFill>
                            <a:srgbClr val="FF0000"/>
                          </a:solidFill>
                          <a:latin typeface="Cambria Math" panose="02040503050406030204" pitchFamily="18" charset="0"/>
                        </a:rPr>
                        <m:t>𝑅𝑐𝑜𝑙𝑙𝑖𝑠𝑖𝑜𝑛</m:t>
                      </m:r>
                      <m:r>
                        <a:rPr lang="en-IN" sz="1900" i="1" dirty="0">
                          <a:solidFill>
                            <a:srgbClr val="FF0000"/>
                          </a:solidFill>
                          <a:latin typeface="Cambria Math" panose="02040503050406030204" pitchFamily="18" charset="0"/>
                        </a:rPr>
                        <m:t>​−</m:t>
                      </m:r>
                      <m:r>
                        <a:rPr lang="en-IN" sz="1900" i="1" dirty="0">
                          <a:solidFill>
                            <a:srgbClr val="FF0000"/>
                          </a:solidFill>
                          <a:latin typeface="Cambria Math" panose="02040503050406030204" pitchFamily="18" charset="0"/>
                        </a:rPr>
                        <m:t>𝑤</m:t>
                      </m:r>
                      <m:r>
                        <a:rPr lang="en-IN" sz="1900" i="1" dirty="0">
                          <a:solidFill>
                            <a:srgbClr val="FF0000"/>
                          </a:solidFill>
                          <a:latin typeface="Cambria Math" panose="02040503050406030204" pitchFamily="18" charset="0"/>
                        </a:rPr>
                        <m:t>4​</m:t>
                      </m:r>
                      <m:r>
                        <a:rPr lang="en-IN" sz="1900" i="1" dirty="0" err="1">
                          <a:solidFill>
                            <a:srgbClr val="FF0000"/>
                          </a:solidFill>
                          <a:latin typeface="Cambria Math" panose="02040503050406030204" pitchFamily="18" charset="0"/>
                        </a:rPr>
                        <m:t>𝑅𝑒𝑛𝑒𝑟𝑔𝑦</m:t>
                      </m:r>
                      <m:r>
                        <a:rPr lang="en-IN" sz="1900" i="1" dirty="0">
                          <a:solidFill>
                            <a:srgbClr val="FF0000"/>
                          </a:solidFill>
                          <a:latin typeface="Cambria Math" panose="02040503050406030204" pitchFamily="18" charset="0"/>
                        </a:rPr>
                        <m:t>​</m:t>
                      </m:r>
                      <m:r>
                        <a:rPr lang="en-IN" sz="1900" b="0" i="1" dirty="0" smtClean="0">
                          <a:solidFill>
                            <a:srgbClr val="FF0000"/>
                          </a:solidFill>
                          <a:latin typeface="Cambria Math" panose="02040503050406030204" pitchFamily="18" charset="0"/>
                        </a:rPr>
                        <m:t>                     </m:t>
                      </m:r>
                      <m:r>
                        <a:rPr lang="en-IN" sz="1900" i="1" dirty="0">
                          <a:solidFill>
                            <a:srgbClr val="FF0000"/>
                          </a:solidFill>
                          <a:latin typeface="Cambria Math" panose="02040503050406030204" pitchFamily="18" charset="0"/>
                        </a:rPr>
                        <m:t>(3) </m:t>
                      </m:r>
                    </m:oMath>
                  </m:oMathPara>
                </a14:m>
                <a:endParaRPr lang="en-IN" sz="1900" dirty="0">
                  <a:solidFill>
                    <a:srgbClr val="FF0000"/>
                  </a:solidFill>
                  <a:latin typeface="Cambria" panose="02040503050406030204" pitchFamily="18" charset="0"/>
                  <a:ea typeface="Cambria" panose="02040503050406030204" pitchFamily="18" charset="0"/>
                </a:endParaRPr>
              </a:p>
              <a:p>
                <a:pPr>
                  <a:buNone/>
                </a:pPr>
                <a:endParaRPr lang="en-IN" sz="1900" dirty="0">
                  <a:latin typeface="Cambria" panose="02040503050406030204" pitchFamily="18" charset="0"/>
                  <a:ea typeface="Cambria" panose="02040503050406030204" pitchFamily="18" charset="0"/>
                </a:endParaRPr>
              </a:p>
              <a:p>
                <a:pPr>
                  <a:buNone/>
                </a:pPr>
                <a:r>
                  <a:rPr lang="en-IN" sz="1900" dirty="0">
                    <a:latin typeface="Cambria" panose="02040503050406030204" pitchFamily="18" charset="0"/>
                    <a:ea typeface="Cambria" panose="02040503050406030204" pitchFamily="18" charset="0"/>
                  </a:rPr>
                  <a:t>where:</a:t>
                </a:r>
              </a:p>
              <a:p>
                <a:pPr marL="342900" lvl="0" indent="-342900">
                  <a:buFont typeface="Arial" panose="020B0604020202020204" pitchFamily="34" charset="0"/>
                  <a:buChar char="•"/>
                </a:pPr>
                <a:r>
                  <a:rPr lang="en-IN" sz="1900" dirty="0" err="1">
                    <a:latin typeface="Cambria" panose="02040503050406030204" pitchFamily="18" charset="0"/>
                    <a:ea typeface="Cambria" panose="02040503050406030204" pitchFamily="18" charset="0"/>
                  </a:rPr>
                  <a:t>Rcoverage</a:t>
                </a:r>
                <a:r>
                  <a:rPr lang="en-IN" sz="1900" dirty="0">
                    <a:latin typeface="Cambria" panose="02040503050406030204" pitchFamily="18" charset="0"/>
                    <a:ea typeface="Cambria" panose="02040503050406030204" pitchFamily="18" charset="0"/>
                  </a:rPr>
                  <a:t>​ = Search area coverage reward </a:t>
                </a:r>
              </a:p>
              <a:p>
                <a:pPr marL="342900" lvl="0" indent="-342900">
                  <a:buFont typeface="Arial" panose="020B0604020202020204" pitchFamily="34" charset="0"/>
                  <a:buChar char="•"/>
                </a:pPr>
                <a:r>
                  <a:rPr lang="en-IN" sz="1900" dirty="0" err="1">
                    <a:latin typeface="Cambria" panose="02040503050406030204" pitchFamily="18" charset="0"/>
                    <a:ea typeface="Cambria" panose="02040503050406030204" pitchFamily="18" charset="0"/>
                  </a:rPr>
                  <a:t>Rtarget</a:t>
                </a:r>
                <a:r>
                  <a:rPr lang="en-IN" sz="1900" dirty="0">
                    <a:latin typeface="Cambria" panose="02040503050406030204" pitchFamily="18" charset="0"/>
                    <a:ea typeface="Cambria" panose="02040503050406030204" pitchFamily="18" charset="0"/>
                  </a:rPr>
                  <a:t>​ = Target detection reward </a:t>
                </a:r>
              </a:p>
              <a:p>
                <a:pPr marL="342900" lvl="0" indent="-342900">
                  <a:buFont typeface="Arial" panose="020B0604020202020204" pitchFamily="34" charset="0"/>
                  <a:buChar char="•"/>
                </a:pPr>
                <a:r>
                  <a:rPr lang="en-IN" sz="1900" dirty="0" err="1">
                    <a:latin typeface="Cambria" panose="02040503050406030204" pitchFamily="18" charset="0"/>
                    <a:ea typeface="Cambria" panose="02040503050406030204" pitchFamily="18" charset="0"/>
                  </a:rPr>
                  <a:t>Rcollision</a:t>
                </a:r>
                <a:r>
                  <a:rPr lang="en-IN" sz="1900" dirty="0">
                    <a:latin typeface="Cambria" panose="02040503050406030204" pitchFamily="18" charset="0"/>
                    <a:ea typeface="Cambria" panose="02040503050406030204" pitchFamily="18" charset="0"/>
                  </a:rPr>
                  <a:t>​ = Collision penalty </a:t>
                </a:r>
              </a:p>
              <a:p>
                <a:pPr marL="342900" lvl="0" indent="-342900">
                  <a:buFont typeface="Arial" panose="020B0604020202020204" pitchFamily="34" charset="0"/>
                  <a:buChar char="•"/>
                </a:pPr>
                <a:r>
                  <a:rPr lang="en-IN" sz="1900" dirty="0" err="1">
                    <a:latin typeface="Cambria" panose="02040503050406030204" pitchFamily="18" charset="0"/>
                    <a:ea typeface="Cambria" panose="02040503050406030204" pitchFamily="18" charset="0"/>
                  </a:rPr>
                  <a:t>Renergy</a:t>
                </a:r>
                <a:r>
                  <a:rPr lang="en-IN" sz="1900" dirty="0">
                    <a:latin typeface="Cambria" panose="02040503050406030204" pitchFamily="18" charset="0"/>
                    <a:ea typeface="Cambria" panose="02040503050406030204" pitchFamily="18" charset="0"/>
                  </a:rPr>
                  <a:t>​ = Energy consumption penalty </a:t>
                </a:r>
              </a:p>
              <a:p>
                <a:pPr marL="342900" lvl="0" indent="-342900">
                  <a:buFont typeface="Arial" panose="020B0604020202020204" pitchFamily="34" charset="0"/>
                  <a:buChar char="•"/>
                </a:pPr>
                <a:endParaRPr lang="en-IN" sz="1900" dirty="0">
                  <a:latin typeface="Cambria" panose="02040503050406030204" pitchFamily="18" charset="0"/>
                  <a:ea typeface="Cambria" panose="02040503050406030204" pitchFamily="18" charset="0"/>
                </a:endParaRPr>
              </a:p>
              <a:p>
                <a:pPr>
                  <a:buNone/>
                </a:pPr>
                <a:r>
                  <a:rPr lang="en-IN" sz="1900" dirty="0">
                    <a:latin typeface="Cambria" panose="02040503050406030204" pitchFamily="18" charset="0"/>
                    <a:ea typeface="Cambria" panose="02040503050406030204" pitchFamily="18" charset="0"/>
                  </a:rPr>
                  <a:t>The cooperative reward encourages the drones to maximize coverage and target detection while minimizing collisions and energy consumption.</a:t>
                </a:r>
              </a:p>
              <a:p>
                <a:pPr>
                  <a:buNone/>
                </a:pPr>
                <a:endParaRPr lang="en-IN" sz="1900" dirty="0">
                  <a:latin typeface="Cambria" panose="02040503050406030204" pitchFamily="18" charset="0"/>
                  <a:ea typeface="Cambria" panose="02040503050406030204" pitchFamily="18" charset="0"/>
                </a:endParaRPr>
              </a:p>
            </p:txBody>
          </p:sp>
        </mc:Choice>
        <mc:Fallback>
          <p:sp>
            <p:nvSpPr>
              <p:cNvPr id="4" name="TextBox 3">
                <a:extLst>
                  <a:ext uri="{FF2B5EF4-FFF2-40B4-BE49-F238E27FC236}">
                    <a16:creationId xmlns:a16="http://schemas.microsoft.com/office/drawing/2014/main" id="{ED25E74B-DE7B-B485-EAB2-0227B864E2E0}"/>
                  </a:ext>
                </a:extLst>
              </p:cNvPr>
              <p:cNvSpPr txBox="1">
                <a:spLocks noRot="1" noChangeAspect="1" noMove="1" noResize="1" noEditPoints="1" noAdjustHandles="1" noChangeArrowheads="1" noChangeShapeType="1" noTextEdit="1"/>
              </p:cNvSpPr>
              <p:nvPr/>
            </p:nvSpPr>
            <p:spPr>
              <a:xfrm>
                <a:off x="1677670" y="1859339"/>
                <a:ext cx="9752330" cy="3893374"/>
              </a:xfrm>
              <a:prstGeom prst="rect">
                <a:avLst/>
              </a:prstGeom>
              <a:blipFill>
                <a:blip r:embed="rId2"/>
                <a:stretch>
                  <a:fillRect l="-563" t="-782"/>
                </a:stretch>
              </a:blipFill>
            </p:spPr>
            <p:txBody>
              <a:bodyPr/>
              <a:lstStyle/>
              <a:p>
                <a:r>
                  <a:rPr lang="en-IN">
                    <a:noFill/>
                  </a:rPr>
                  <a:t> </a:t>
                </a:r>
              </a:p>
            </p:txBody>
          </p:sp>
        </mc:Fallback>
      </mc:AlternateContent>
    </p:spTree>
    <p:extLst>
      <p:ext uri="{BB962C8B-B14F-4D97-AF65-F5344CB8AC3E}">
        <p14:creationId xmlns:p14="http://schemas.microsoft.com/office/powerpoint/2010/main" val="4145548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9B34-7577-8CE6-CEF7-DE531B9EDE3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008E908-5530-3F31-4CAC-C262EE2BF144}"/>
              </a:ext>
            </a:extLst>
          </p:cNvPr>
          <p:cNvSpPr txBox="1"/>
          <p:nvPr/>
        </p:nvSpPr>
        <p:spPr>
          <a:xfrm>
            <a:off x="3732713" y="461010"/>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B9FF5CB8-A727-FA8D-244A-6E2FD9ADDD94}"/>
                  </a:ext>
                </a:extLst>
              </p:cNvPr>
              <p:cNvSpPr txBox="1"/>
              <p:nvPr/>
            </p:nvSpPr>
            <p:spPr>
              <a:xfrm>
                <a:off x="1028700" y="1422966"/>
                <a:ext cx="10350500" cy="4185761"/>
              </a:xfrm>
              <a:prstGeom prst="rect">
                <a:avLst/>
              </a:prstGeom>
              <a:noFill/>
            </p:spPr>
            <p:txBody>
              <a:bodyPr wrap="square">
                <a:spAutoFit/>
              </a:bodyPr>
              <a:lstStyle/>
              <a:p>
                <a:pPr algn="just">
                  <a:buNone/>
                </a:pPr>
                <a:r>
                  <a:rPr lang="en-IN" sz="1900" b="1" dirty="0">
                    <a:latin typeface="Cambria" panose="02040503050406030204" pitchFamily="18" charset="0"/>
                    <a:ea typeface="Cambria" panose="02040503050406030204" pitchFamily="18" charset="0"/>
                  </a:rPr>
                  <a:t>Step 6: Search Coverage and Target Detection</a:t>
                </a:r>
              </a:p>
              <a:p>
                <a:pPr algn="just">
                  <a:buNone/>
                </a:pPr>
                <a:r>
                  <a:rPr lang="en-IN" sz="1900" dirty="0">
                    <a:latin typeface="Cambria" panose="02040503050406030204" pitchFamily="18" charset="0"/>
                    <a:ea typeface="Cambria" panose="02040503050406030204" pitchFamily="18" charset="0"/>
                  </a:rPr>
                  <a:t>Search coverage is calculated as:</a:t>
                </a:r>
              </a:p>
              <a:p>
                <a:pPr algn="just">
                  <a:buNone/>
                </a:pPr>
                <a14:m>
                  <m:oMathPara xmlns:m="http://schemas.openxmlformats.org/officeDocument/2006/math">
                    <m:oMath>
                      <m:r>
                        <a:rPr lang="en-IN" sz="1900" b="1" i="1" dirty="0" smtClean="0">
                          <a:solidFill>
                            <a:srgbClr val="FF0000"/>
                          </a:solidFill>
                          <a:latin typeface="Cambria Math" panose="02040503050406030204" pitchFamily="18" charset="0"/>
                          <a:ea typeface="Cambria" panose="02040503050406030204" pitchFamily="18" charset="0"/>
                        </a:rPr>
                        <m:t>𝑪</m:t>
                      </m:r>
                      <m:r>
                        <a:rPr lang="en-IN" sz="1900" b="1" i="1" dirty="0" smtClean="0">
                          <a:solidFill>
                            <a:srgbClr val="FF0000"/>
                          </a:solidFill>
                          <a:latin typeface="Cambria Math" panose="02040503050406030204" pitchFamily="18" charset="0"/>
                          <a:ea typeface="Cambria" panose="02040503050406030204" pitchFamily="18" charset="0"/>
                        </a:rPr>
                        <m:t> = </m:t>
                      </m:r>
                      <m:r>
                        <a:rPr lang="en-IN" sz="1900" b="1" i="1" dirty="0" err="1">
                          <a:solidFill>
                            <a:srgbClr val="FF0000"/>
                          </a:solidFill>
                          <a:latin typeface="Cambria Math" panose="02040503050406030204" pitchFamily="18" charset="0"/>
                          <a:ea typeface="Cambria" panose="02040503050406030204" pitchFamily="18" charset="0"/>
                        </a:rPr>
                        <m:t>𝑨𝒔𝒆𝒂𝒓𝒄𝒉𝒆𝒅</m:t>
                      </m:r>
                      <m:r>
                        <a:rPr lang="en-IN" sz="1900" b="1" i="1" dirty="0">
                          <a:solidFill>
                            <a:srgbClr val="FF0000"/>
                          </a:solidFill>
                          <a:latin typeface="Cambria Math" panose="02040503050406030204" pitchFamily="18" charset="0"/>
                          <a:ea typeface="Cambria" panose="02040503050406030204" pitchFamily="18" charset="0"/>
                        </a:rPr>
                        <m:t> / </m:t>
                      </m:r>
                      <m:r>
                        <a:rPr lang="en-IN" sz="1900" b="1" i="1" dirty="0" err="1">
                          <a:solidFill>
                            <a:srgbClr val="FF0000"/>
                          </a:solidFill>
                          <a:latin typeface="Cambria Math" panose="02040503050406030204" pitchFamily="18" charset="0"/>
                          <a:ea typeface="Cambria" panose="02040503050406030204" pitchFamily="18" charset="0"/>
                        </a:rPr>
                        <m:t>𝑨𝒕𝒐𝒕𝒂𝒍</m:t>
                      </m:r>
                      <m:r>
                        <a:rPr lang="en-IN" sz="1900" b="1" i="1" dirty="0">
                          <a:solidFill>
                            <a:srgbClr val="FF0000"/>
                          </a:solidFill>
                          <a:latin typeface="Cambria Math" panose="02040503050406030204" pitchFamily="18" charset="0"/>
                          <a:ea typeface="Cambria" panose="02040503050406030204" pitchFamily="18" charset="0"/>
                        </a:rPr>
                        <m:t> × </m:t>
                      </m:r>
                      <m:r>
                        <a:rPr lang="en-IN" sz="1900" b="1" i="1" dirty="0">
                          <a:solidFill>
                            <a:srgbClr val="FF0000"/>
                          </a:solidFill>
                          <a:latin typeface="Cambria Math" panose="02040503050406030204" pitchFamily="18" charset="0"/>
                          <a:ea typeface="Cambria" panose="02040503050406030204" pitchFamily="18" charset="0"/>
                        </a:rPr>
                        <m:t>𝟏𝟎𝟎</m:t>
                      </m:r>
                      <m:r>
                        <a:rPr lang="en-IN" sz="1900" b="1" i="1" dirty="0">
                          <a:solidFill>
                            <a:srgbClr val="FF0000"/>
                          </a:solidFill>
                          <a:latin typeface="Cambria Math" panose="02040503050406030204" pitchFamily="18" charset="0"/>
                          <a:ea typeface="Cambria" panose="02040503050406030204" pitchFamily="18" charset="0"/>
                        </a:rPr>
                        <m:t>                   </m:t>
                      </m:r>
                      <m:r>
                        <a:rPr lang="en-IN" sz="1900" b="1" i="1" dirty="0" smtClean="0">
                          <a:solidFill>
                            <a:srgbClr val="FF0000"/>
                          </a:solidFill>
                          <a:latin typeface="Cambria Math" panose="02040503050406030204" pitchFamily="18" charset="0"/>
                          <a:ea typeface="Cambria" panose="02040503050406030204" pitchFamily="18" charset="0"/>
                        </a:rPr>
                        <m:t>                          (</m:t>
                      </m:r>
                      <m:r>
                        <a:rPr lang="en-IN" sz="1900" b="1" i="1" dirty="0">
                          <a:solidFill>
                            <a:srgbClr val="FF0000"/>
                          </a:solidFill>
                          <a:latin typeface="Cambria Math" panose="02040503050406030204" pitchFamily="18" charset="0"/>
                          <a:ea typeface="Cambria" panose="02040503050406030204" pitchFamily="18" charset="0"/>
                        </a:rPr>
                        <m:t>𝟒</m:t>
                      </m:r>
                      <m:r>
                        <a:rPr lang="en-IN" sz="1900" b="1" i="1" dirty="0">
                          <a:solidFill>
                            <a:srgbClr val="FF0000"/>
                          </a:solidFill>
                          <a:latin typeface="Cambria Math" panose="02040503050406030204" pitchFamily="18" charset="0"/>
                          <a:ea typeface="Cambria" panose="02040503050406030204" pitchFamily="18" charset="0"/>
                        </a:rPr>
                        <m:t>)</m:t>
                      </m:r>
                    </m:oMath>
                  </m:oMathPara>
                </a14:m>
                <a:endParaRPr lang="en-IN" sz="1900" dirty="0">
                  <a:solidFill>
                    <a:srgbClr val="FF0000"/>
                  </a:solidFill>
                  <a:latin typeface="Cambria" panose="02040503050406030204" pitchFamily="18" charset="0"/>
                  <a:ea typeface="Cambria" panose="02040503050406030204" pitchFamily="18" charset="0"/>
                </a:endParaRPr>
              </a:p>
              <a:p>
                <a:pPr algn="just">
                  <a:buNone/>
                </a:pPr>
                <a:r>
                  <a:rPr lang="en-IN" sz="1900" dirty="0">
                    <a:latin typeface="Cambria" panose="02040503050406030204" pitchFamily="18" charset="0"/>
                    <a:ea typeface="Cambria" panose="02040503050406030204" pitchFamily="18" charset="0"/>
                  </a:rPr>
                  <a:t>where:</a:t>
                </a:r>
              </a:p>
              <a:p>
                <a:pPr marL="342900" lvl="0" indent="-342900" algn="just">
                  <a:buFont typeface="Arial" panose="020B0604020202020204" pitchFamily="34" charset="0"/>
                  <a:buChar char="•"/>
                </a:pPr>
                <a:r>
                  <a:rPr lang="en-IN" sz="1900" b="1" dirty="0" err="1">
                    <a:latin typeface="Cambria" panose="02040503050406030204" pitchFamily="18" charset="0"/>
                    <a:ea typeface="Cambria" panose="02040503050406030204" pitchFamily="18" charset="0"/>
                  </a:rPr>
                  <a:t>Asearched</a:t>
                </a:r>
                <a:r>
                  <a:rPr lang="en-IN" sz="1900" dirty="0">
                    <a:latin typeface="Cambria" panose="02040503050406030204" pitchFamily="18" charset="0"/>
                    <a:ea typeface="Cambria" panose="02040503050406030204" pitchFamily="18" charset="0"/>
                  </a:rPr>
                  <a:t> = Area searched by the drone swarm </a:t>
                </a:r>
              </a:p>
              <a:p>
                <a:pPr marL="342900" lvl="0" indent="-342900" algn="just">
                  <a:buFont typeface="Arial" panose="020B0604020202020204" pitchFamily="34" charset="0"/>
                  <a:buChar char="•"/>
                </a:pPr>
                <a:r>
                  <a:rPr lang="en-IN" sz="1900" b="1" dirty="0" err="1">
                    <a:latin typeface="Cambria" panose="02040503050406030204" pitchFamily="18" charset="0"/>
                    <a:ea typeface="Cambria" panose="02040503050406030204" pitchFamily="18" charset="0"/>
                  </a:rPr>
                  <a:t>Atotal</a:t>
                </a:r>
                <a:r>
                  <a:rPr lang="en-IN" sz="1900" dirty="0">
                    <a:latin typeface="Cambria" panose="02040503050406030204" pitchFamily="18" charset="0"/>
                    <a:ea typeface="Cambria" panose="02040503050406030204" pitchFamily="18" charset="0"/>
                  </a:rPr>
                  <a:t> = Total search area </a:t>
                </a:r>
              </a:p>
              <a:p>
                <a:pPr algn="just">
                  <a:buNone/>
                </a:pPr>
                <a:r>
                  <a:rPr lang="en-IN" sz="1900" dirty="0">
                    <a:latin typeface="Cambria" panose="02040503050406030204" pitchFamily="18" charset="0"/>
                    <a:ea typeface="Cambria" panose="02040503050406030204" pitchFamily="18" charset="0"/>
                  </a:rPr>
                  <a:t>Target Detection Rate is calculated as:</a:t>
                </a:r>
              </a:p>
              <a:p>
                <a:pPr algn="just">
                  <a:buNone/>
                </a:pPr>
                <a14:m>
                  <m:oMathPara xmlns:m="http://schemas.openxmlformats.org/officeDocument/2006/math">
                    <m:oMath>
                      <m:r>
                        <a:rPr lang="en-IN" sz="1900" b="1" i="1" dirty="0" smtClean="0">
                          <a:solidFill>
                            <a:srgbClr val="FF0000"/>
                          </a:solidFill>
                          <a:latin typeface="Cambria Math" panose="02040503050406030204" pitchFamily="18" charset="0"/>
                          <a:ea typeface="Cambria" panose="02040503050406030204" pitchFamily="18" charset="0"/>
                        </a:rPr>
                        <m:t>𝑻𝑫𝑹</m:t>
                      </m:r>
                      <m:r>
                        <a:rPr lang="en-IN" sz="1900" b="1" i="1" dirty="0" smtClean="0">
                          <a:solidFill>
                            <a:srgbClr val="FF0000"/>
                          </a:solidFill>
                          <a:latin typeface="Cambria Math" panose="02040503050406030204" pitchFamily="18" charset="0"/>
                          <a:ea typeface="Cambria" panose="02040503050406030204" pitchFamily="18" charset="0"/>
                        </a:rPr>
                        <m:t> = </m:t>
                      </m:r>
                      <m:r>
                        <a:rPr lang="en-IN" sz="1900" b="1" i="1" dirty="0" err="1">
                          <a:solidFill>
                            <a:srgbClr val="FF0000"/>
                          </a:solidFill>
                          <a:latin typeface="Cambria Math" panose="02040503050406030204" pitchFamily="18" charset="0"/>
                          <a:ea typeface="Cambria" panose="02040503050406030204" pitchFamily="18" charset="0"/>
                        </a:rPr>
                        <m:t>𝑵𝒅𝒆𝒕𝒆𝒄𝒕𝒆𝒅</m:t>
                      </m:r>
                      <m:r>
                        <a:rPr lang="en-IN" sz="1900" b="1" i="1" dirty="0">
                          <a:solidFill>
                            <a:srgbClr val="FF0000"/>
                          </a:solidFill>
                          <a:latin typeface="Cambria Math" panose="02040503050406030204" pitchFamily="18" charset="0"/>
                          <a:ea typeface="Cambria" panose="02040503050406030204" pitchFamily="18" charset="0"/>
                        </a:rPr>
                        <m:t> / </m:t>
                      </m:r>
                      <m:r>
                        <a:rPr lang="en-IN" sz="1900" b="1" i="1" dirty="0" err="1">
                          <a:solidFill>
                            <a:srgbClr val="FF0000"/>
                          </a:solidFill>
                          <a:latin typeface="Cambria Math" panose="02040503050406030204" pitchFamily="18" charset="0"/>
                          <a:ea typeface="Cambria" panose="02040503050406030204" pitchFamily="18" charset="0"/>
                        </a:rPr>
                        <m:t>𝑵𝒕𝒂𝒓𝒈𝒆𝒕𝒔</m:t>
                      </m:r>
                      <m:r>
                        <a:rPr lang="en-IN" sz="1900" b="1" i="1" dirty="0">
                          <a:solidFill>
                            <a:srgbClr val="FF0000"/>
                          </a:solidFill>
                          <a:latin typeface="Cambria Math" panose="02040503050406030204" pitchFamily="18" charset="0"/>
                          <a:ea typeface="Cambria" panose="02040503050406030204" pitchFamily="18" charset="0"/>
                        </a:rPr>
                        <m:t> × </m:t>
                      </m:r>
                      <m:r>
                        <a:rPr lang="en-IN" sz="1900" b="1" i="1" dirty="0">
                          <a:solidFill>
                            <a:srgbClr val="FF0000"/>
                          </a:solidFill>
                          <a:latin typeface="Cambria Math" panose="02040503050406030204" pitchFamily="18" charset="0"/>
                          <a:ea typeface="Cambria" panose="02040503050406030204" pitchFamily="18" charset="0"/>
                        </a:rPr>
                        <m:t>𝟏𝟎𝟎</m:t>
                      </m:r>
                      <m:r>
                        <a:rPr lang="en-IN" sz="1900" b="1" i="1" dirty="0">
                          <a:solidFill>
                            <a:srgbClr val="FF0000"/>
                          </a:solidFill>
                          <a:latin typeface="Cambria Math" panose="02040503050406030204" pitchFamily="18" charset="0"/>
                          <a:ea typeface="Cambria" panose="02040503050406030204" pitchFamily="18" charset="0"/>
                        </a:rPr>
                        <m:t>                   </m:t>
                      </m:r>
                      <m:r>
                        <a:rPr lang="en-IN" sz="1900" b="1" i="1" dirty="0" smtClean="0">
                          <a:solidFill>
                            <a:srgbClr val="FF0000"/>
                          </a:solidFill>
                          <a:latin typeface="Cambria Math" panose="02040503050406030204" pitchFamily="18" charset="0"/>
                          <a:ea typeface="Cambria" panose="02040503050406030204" pitchFamily="18" charset="0"/>
                        </a:rPr>
                        <m:t>              (</m:t>
                      </m:r>
                      <m:r>
                        <a:rPr lang="en-IN" sz="1900" b="1" i="1" dirty="0">
                          <a:solidFill>
                            <a:srgbClr val="FF0000"/>
                          </a:solidFill>
                          <a:latin typeface="Cambria Math" panose="02040503050406030204" pitchFamily="18" charset="0"/>
                          <a:ea typeface="Cambria" panose="02040503050406030204" pitchFamily="18" charset="0"/>
                        </a:rPr>
                        <m:t>𝟓</m:t>
                      </m:r>
                      <m:r>
                        <a:rPr lang="en-IN" sz="1900" b="1" i="1" dirty="0">
                          <a:solidFill>
                            <a:srgbClr val="FF0000"/>
                          </a:solidFill>
                          <a:latin typeface="Cambria Math" panose="02040503050406030204" pitchFamily="18" charset="0"/>
                          <a:ea typeface="Cambria" panose="02040503050406030204" pitchFamily="18" charset="0"/>
                        </a:rPr>
                        <m:t>)</m:t>
                      </m:r>
                    </m:oMath>
                  </m:oMathPara>
                </a14:m>
                <a:endParaRPr lang="en-IN" sz="1900" dirty="0">
                  <a:solidFill>
                    <a:srgbClr val="FF0000"/>
                  </a:solidFill>
                  <a:latin typeface="Cambria" panose="02040503050406030204" pitchFamily="18" charset="0"/>
                  <a:ea typeface="Cambria" panose="02040503050406030204" pitchFamily="18" charset="0"/>
                </a:endParaRPr>
              </a:p>
              <a:p>
                <a:pPr algn="just">
                  <a:buNone/>
                </a:pPr>
                <a:r>
                  <a:rPr lang="en-IN" sz="1900" dirty="0">
                    <a:latin typeface="Cambria" panose="02040503050406030204" pitchFamily="18" charset="0"/>
                    <a:ea typeface="Cambria" panose="02040503050406030204" pitchFamily="18" charset="0"/>
                  </a:rPr>
                  <a:t>where:</a:t>
                </a:r>
              </a:p>
              <a:p>
                <a:pPr marL="342900" lvl="0" indent="-342900" algn="just">
                  <a:buFont typeface="Arial" panose="020B0604020202020204" pitchFamily="34" charset="0"/>
                  <a:buChar char="•"/>
                </a:pPr>
                <a:r>
                  <a:rPr lang="en-IN" sz="1900" b="1" dirty="0" err="1">
                    <a:latin typeface="Cambria" panose="02040503050406030204" pitchFamily="18" charset="0"/>
                    <a:ea typeface="Cambria" panose="02040503050406030204" pitchFamily="18" charset="0"/>
                  </a:rPr>
                  <a:t>Ndetected</a:t>
                </a:r>
                <a:r>
                  <a:rPr lang="en-IN" sz="1900" dirty="0">
                    <a:latin typeface="Cambria" panose="02040503050406030204" pitchFamily="18" charset="0"/>
                    <a:ea typeface="Cambria" panose="02040503050406030204" pitchFamily="18" charset="0"/>
                  </a:rPr>
                  <a:t> = Number of detected targets </a:t>
                </a:r>
              </a:p>
              <a:p>
                <a:pPr marL="342900" lvl="0" indent="-342900" algn="just">
                  <a:buFont typeface="Arial" panose="020B0604020202020204" pitchFamily="34" charset="0"/>
                  <a:buChar char="•"/>
                </a:pPr>
                <a:r>
                  <a:rPr lang="en-IN" sz="1900" b="1" dirty="0" err="1">
                    <a:latin typeface="Cambria" panose="02040503050406030204" pitchFamily="18" charset="0"/>
                    <a:ea typeface="Cambria" panose="02040503050406030204" pitchFamily="18" charset="0"/>
                  </a:rPr>
                  <a:t>Ntargets</a:t>
                </a:r>
                <a:r>
                  <a:rPr lang="en-IN" sz="1900" dirty="0">
                    <a:latin typeface="Cambria" panose="02040503050406030204" pitchFamily="18" charset="0"/>
                    <a:ea typeface="Cambria" panose="02040503050406030204" pitchFamily="18" charset="0"/>
                  </a:rPr>
                  <a:t> = Total number of targets </a:t>
                </a:r>
              </a:p>
              <a:p>
                <a:pPr marL="342900" lvl="0" indent="-342900" algn="just">
                  <a:buFont typeface="Arial" panose="020B0604020202020204" pitchFamily="34" charset="0"/>
                  <a:buChar char="•"/>
                </a:pPr>
                <a:endParaRPr lang="en-IN" sz="1900" dirty="0">
                  <a:latin typeface="Cambria" panose="02040503050406030204" pitchFamily="18" charset="0"/>
                  <a:ea typeface="Cambria" panose="02040503050406030204" pitchFamily="18" charset="0"/>
                </a:endParaRPr>
              </a:p>
              <a:p>
                <a:pPr algn="just">
                  <a:buNone/>
                </a:pPr>
                <a:r>
                  <a:rPr lang="en-IN" sz="1900" dirty="0">
                    <a:latin typeface="Cambria" panose="02040503050406030204" pitchFamily="18" charset="0"/>
                    <a:ea typeface="Cambria" panose="02040503050406030204" pitchFamily="18" charset="0"/>
                  </a:rPr>
                  <a:t>The search coverage measures how much of the total area has been explored by the drone swarm. A higher coverage percentage indicates more effective exploration of the search region.</a:t>
                </a:r>
              </a:p>
            </p:txBody>
          </p:sp>
        </mc:Choice>
        <mc:Fallback>
          <p:sp>
            <p:nvSpPr>
              <p:cNvPr id="16" name="TextBox 15">
                <a:extLst>
                  <a:ext uri="{FF2B5EF4-FFF2-40B4-BE49-F238E27FC236}">
                    <a16:creationId xmlns:a16="http://schemas.microsoft.com/office/drawing/2014/main" id="{B9FF5CB8-A727-FA8D-244A-6E2FD9ADDD94}"/>
                  </a:ext>
                </a:extLst>
              </p:cNvPr>
              <p:cNvSpPr txBox="1">
                <a:spLocks noRot="1" noChangeAspect="1" noMove="1" noResize="1" noEditPoints="1" noAdjustHandles="1" noChangeArrowheads="1" noChangeShapeType="1" noTextEdit="1"/>
              </p:cNvSpPr>
              <p:nvPr/>
            </p:nvSpPr>
            <p:spPr>
              <a:xfrm>
                <a:off x="1028700" y="1422966"/>
                <a:ext cx="10350500" cy="4185761"/>
              </a:xfrm>
              <a:prstGeom prst="rect">
                <a:avLst/>
              </a:prstGeom>
              <a:blipFill>
                <a:blip r:embed="rId2"/>
                <a:stretch>
                  <a:fillRect l="-589" t="-728" r="-530" b="-1456"/>
                </a:stretch>
              </a:blipFill>
            </p:spPr>
            <p:txBody>
              <a:bodyPr/>
              <a:lstStyle/>
              <a:p>
                <a:r>
                  <a:rPr lang="en-IN">
                    <a:noFill/>
                  </a:rPr>
                  <a:t> </a:t>
                </a:r>
              </a:p>
            </p:txBody>
          </p:sp>
        </mc:Fallback>
      </mc:AlternateContent>
    </p:spTree>
    <p:extLst>
      <p:ext uri="{BB962C8B-B14F-4D97-AF65-F5344CB8AC3E}">
        <p14:creationId xmlns:p14="http://schemas.microsoft.com/office/powerpoint/2010/main" val="36144189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71E22C8-2CF0-7AE6-09F4-2EFEF4F38ABC}"/>
              </a:ext>
            </a:extLst>
          </p:cNvPr>
          <p:cNvSpPr/>
          <p:nvPr/>
        </p:nvSpPr>
        <p:spPr>
          <a:xfrm>
            <a:off x="3113315" y="2505670"/>
            <a:ext cx="6466114" cy="923330"/>
          </a:xfrm>
          <a:prstGeom prst="rect">
            <a:avLst/>
          </a:prstGeom>
          <a:ln/>
          <a:effectLst>
            <a:glow rad="228600">
              <a:schemeClr val="accent6">
                <a:satMod val="175000"/>
                <a:alpha val="40000"/>
              </a:schemeClr>
            </a:glow>
          </a:effectLst>
        </p:spPr>
        <p:style>
          <a:lnRef idx="2">
            <a:schemeClr val="accent6"/>
          </a:lnRef>
          <a:fillRef idx="1">
            <a:schemeClr val="lt1"/>
          </a:fillRef>
          <a:effectRef idx="0">
            <a:schemeClr val="accent6"/>
          </a:effectRef>
          <a:fontRef idx="minor">
            <a:schemeClr val="dk1"/>
          </a:fontRef>
        </p:style>
        <p:txBody>
          <a:bodyPr wrap="square" lIns="91440" tIns="45720" rIns="91440" bIns="45720">
            <a:spAutoFit/>
          </a:bodyPr>
          <a:lstStyle/>
          <a:p>
            <a:pPr algn="ctr"/>
            <a:r>
              <a:rPr lang="en-US" sz="5400" b="1" spc="50" dirty="0">
                <a:ln w="0">
                  <a:solidFill>
                    <a:schemeClr val="accent6">
                      <a:lumMod val="50000"/>
                    </a:schemeClr>
                  </a:solidFill>
                </a:ln>
                <a:solidFill>
                  <a:schemeClr val="accent6">
                    <a:lumMod val="40000"/>
                    <a:lumOff val="60000"/>
                  </a:schemeClr>
                </a:solidFill>
                <a:effectLst>
                  <a:innerShdw blurRad="63500" dist="50800" dir="13500000">
                    <a:srgbClr val="000000">
                      <a:alpha val="50000"/>
                    </a:srgbClr>
                  </a:innerShdw>
                  <a:reflection blurRad="6350" stA="55000" endA="300" endPos="45500" dir="5400000" sy="-100000" algn="bl" rotWithShape="0"/>
                </a:effectLst>
              </a:rPr>
              <a:t>The End</a:t>
            </a:r>
          </a:p>
        </p:txBody>
      </p:sp>
    </p:spTree>
    <p:extLst>
      <p:ext uri="{BB962C8B-B14F-4D97-AF65-F5344CB8AC3E}">
        <p14:creationId xmlns:p14="http://schemas.microsoft.com/office/powerpoint/2010/main" val="28788362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611</TotalTime>
  <Words>1580</Words>
  <Application>Microsoft Office PowerPoint</Application>
  <PresentationFormat>Widescreen</PresentationFormat>
  <Paragraphs>143</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Cambria</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vincent gnanaraj</dc:creator>
  <cp:lastModifiedBy>Kalasamudram Sri Lasya</cp:lastModifiedBy>
  <cp:revision>17</cp:revision>
  <dcterms:created xsi:type="dcterms:W3CDTF">2025-08-11T02:48:58Z</dcterms:created>
  <dcterms:modified xsi:type="dcterms:W3CDTF">2026-08-10T05:51:47Z</dcterms:modified>
</cp:coreProperties>
</file>