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67" r:id="rId3"/>
    <p:sldId id="257" r:id="rId4"/>
    <p:sldId id="258" r:id="rId5"/>
    <p:sldId id="273" r:id="rId6"/>
    <p:sldId id="268" r:id="rId7"/>
    <p:sldId id="269" r:id="rId8"/>
    <p:sldId id="274" r:id="rId9"/>
    <p:sldId id="275" r:id="rId10"/>
    <p:sldId id="279" r:id="rId11"/>
    <p:sldId id="276" r:id="rId12"/>
    <p:sldId id="277" r:id="rId13"/>
    <p:sldId id="278" r:id="rId14"/>
    <p:sldId id="280" r:id="rId15"/>
    <p:sldId id="281" r:id="rId16"/>
    <p:sldId id="282" r:id="rId17"/>
    <p:sldId id="283" r:id="rId18"/>
    <p:sldId id="284" r:id="rId19"/>
    <p:sldId id="290" r:id="rId20"/>
    <p:sldId id="285" r:id="rId21"/>
    <p:sldId id="286" r:id="rId22"/>
    <p:sldId id="287" r:id="rId23"/>
    <p:sldId id="288" r:id="rId24"/>
    <p:sldId id="289" r:id="rId25"/>
    <p:sldId id="26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lasamudram Sri Lasya" userId="e2f342232ef6450f" providerId="LiveId" clId="{FCD5BC7E-B551-491C-8856-525D03B2F130}"/>
    <pc:docChg chg="custSel addSld modSld">
      <pc:chgData name="Kalasamudram Sri Lasya" userId="e2f342232ef6450f" providerId="LiveId" clId="{FCD5BC7E-B551-491C-8856-525D03B2F130}" dt="2026-08-24T03:10:46.368" v="61" actId="1035"/>
      <pc:docMkLst>
        <pc:docMk/>
      </pc:docMkLst>
      <pc:sldChg chg="addSp delSp modSp mod">
        <pc:chgData name="Kalasamudram Sri Lasya" userId="e2f342232ef6450f" providerId="LiveId" clId="{FCD5BC7E-B551-491C-8856-525D03B2F130}" dt="2026-08-21T08:33:12.698" v="50" actId="1076"/>
        <pc:sldMkLst>
          <pc:docMk/>
          <pc:sldMk cId="2235033679" sldId="256"/>
        </pc:sldMkLst>
        <pc:picChg chg="add mod">
          <ac:chgData name="Kalasamudram Sri Lasya" userId="e2f342232ef6450f" providerId="LiveId" clId="{FCD5BC7E-B551-491C-8856-525D03B2F130}" dt="2026-08-21T08:33:12.698" v="50" actId="1076"/>
          <ac:picMkLst>
            <pc:docMk/>
            <pc:sldMk cId="2235033679" sldId="256"/>
            <ac:picMk id="2" creationId="{1DD82984-C4A7-E0AF-8423-48BEADDD55BF}"/>
          </ac:picMkLst>
        </pc:picChg>
      </pc:sldChg>
      <pc:sldChg chg="modSp mod">
        <pc:chgData name="Kalasamudram Sri Lasya" userId="e2f342232ef6450f" providerId="LiveId" clId="{FCD5BC7E-B551-491C-8856-525D03B2F130}" dt="2026-08-21T07:45:14.360" v="3" actId="1036"/>
        <pc:sldMkLst>
          <pc:docMk/>
          <pc:sldMk cId="347044638" sldId="274"/>
        </pc:sldMkLst>
        <pc:picChg chg="mod">
          <ac:chgData name="Kalasamudram Sri Lasya" userId="e2f342232ef6450f" providerId="LiveId" clId="{FCD5BC7E-B551-491C-8856-525D03B2F130}" dt="2026-08-21T07:45:14.360" v="3" actId="1036"/>
          <ac:picMkLst>
            <pc:docMk/>
            <pc:sldMk cId="347044638" sldId="274"/>
            <ac:picMk id="6" creationId="{89128321-F8C6-1F23-90B7-05CB1DD6F782}"/>
          </ac:picMkLst>
        </pc:picChg>
      </pc:sldChg>
      <pc:sldChg chg="delSp modSp mod">
        <pc:chgData name="Kalasamudram Sri Lasya" userId="e2f342232ef6450f" providerId="LiveId" clId="{FCD5BC7E-B551-491C-8856-525D03B2F130}" dt="2026-08-21T08:33:48.324" v="53" actId="1076"/>
        <pc:sldMkLst>
          <pc:docMk/>
          <pc:sldMk cId="3201539134" sldId="280"/>
        </pc:sldMkLst>
        <pc:spChg chg="mod">
          <ac:chgData name="Kalasamudram Sri Lasya" userId="e2f342232ef6450f" providerId="LiveId" clId="{FCD5BC7E-B551-491C-8856-525D03B2F130}" dt="2026-08-21T08:33:48.324" v="53" actId="1076"/>
          <ac:spMkLst>
            <pc:docMk/>
            <pc:sldMk cId="3201539134" sldId="280"/>
            <ac:spMk id="16" creationId="{AF29DDB7-9E3A-A02D-8720-083B24BAC42E}"/>
          </ac:spMkLst>
        </pc:spChg>
      </pc:sldChg>
      <pc:sldChg chg="delSp modSp mod">
        <pc:chgData name="Kalasamudram Sri Lasya" userId="e2f342232ef6450f" providerId="LiveId" clId="{FCD5BC7E-B551-491C-8856-525D03B2F130}" dt="2026-08-24T03:10:46.368" v="61" actId="1035"/>
        <pc:sldMkLst>
          <pc:docMk/>
          <pc:sldMk cId="3496706673" sldId="281"/>
        </pc:sldMkLst>
        <pc:spChg chg="mod">
          <ac:chgData name="Kalasamudram Sri Lasya" userId="e2f342232ef6450f" providerId="LiveId" clId="{FCD5BC7E-B551-491C-8856-525D03B2F130}" dt="2026-08-24T03:10:46.368" v="61" actId="1035"/>
          <ac:spMkLst>
            <pc:docMk/>
            <pc:sldMk cId="3496706673" sldId="281"/>
            <ac:spMk id="16" creationId="{44429D84-5166-E7D3-5F2E-47EC334B1D7C}"/>
          </ac:spMkLst>
        </pc:spChg>
      </pc:sldChg>
      <pc:sldChg chg="delSp modSp mod">
        <pc:chgData name="Kalasamudram Sri Lasya" userId="e2f342232ef6450f" providerId="LiveId" clId="{FCD5BC7E-B551-491C-8856-525D03B2F130}" dt="2026-08-21T08:16:24.324" v="20" actId="1076"/>
        <pc:sldMkLst>
          <pc:docMk/>
          <pc:sldMk cId="4250846524" sldId="282"/>
        </pc:sldMkLst>
        <pc:spChg chg="mod">
          <ac:chgData name="Kalasamudram Sri Lasya" userId="e2f342232ef6450f" providerId="LiveId" clId="{FCD5BC7E-B551-491C-8856-525D03B2F130}" dt="2026-08-21T08:16:24.324" v="20" actId="1076"/>
          <ac:spMkLst>
            <pc:docMk/>
            <pc:sldMk cId="4250846524" sldId="282"/>
            <ac:spMk id="16" creationId="{6D8C076C-2901-7778-6625-2443FBEFDF75}"/>
          </ac:spMkLst>
        </pc:spChg>
      </pc:sldChg>
      <pc:sldChg chg="delSp modSp mod">
        <pc:chgData name="Kalasamudram Sri Lasya" userId="e2f342232ef6450f" providerId="LiveId" clId="{FCD5BC7E-B551-491C-8856-525D03B2F130}" dt="2026-08-21T08:33:59.260" v="56" actId="1076"/>
        <pc:sldMkLst>
          <pc:docMk/>
          <pc:sldMk cId="571749824" sldId="283"/>
        </pc:sldMkLst>
        <pc:spChg chg="mod">
          <ac:chgData name="Kalasamudram Sri Lasya" userId="e2f342232ef6450f" providerId="LiveId" clId="{FCD5BC7E-B551-491C-8856-525D03B2F130}" dt="2026-08-21T08:33:59.260" v="56" actId="1076"/>
          <ac:spMkLst>
            <pc:docMk/>
            <pc:sldMk cId="571749824" sldId="283"/>
            <ac:spMk id="16" creationId="{0E4025E3-0510-2502-DDD3-D3E5462D7C21}"/>
          </ac:spMkLst>
        </pc:spChg>
      </pc:sldChg>
      <pc:sldChg chg="modSp mod">
        <pc:chgData name="Kalasamudram Sri Lasya" userId="e2f342232ef6450f" providerId="LiveId" clId="{FCD5BC7E-B551-491C-8856-525D03B2F130}" dt="2026-08-21T08:34:10.074" v="57" actId="2711"/>
        <pc:sldMkLst>
          <pc:docMk/>
          <pc:sldMk cId="938272334" sldId="285"/>
        </pc:sldMkLst>
        <pc:graphicFrameChg chg="modGraphic">
          <ac:chgData name="Kalasamudram Sri Lasya" userId="e2f342232ef6450f" providerId="LiveId" clId="{FCD5BC7E-B551-491C-8856-525D03B2F130}" dt="2026-08-21T08:34:10.074" v="57" actId="2711"/>
          <ac:graphicFrameMkLst>
            <pc:docMk/>
            <pc:sldMk cId="938272334" sldId="285"/>
            <ac:graphicFrameMk id="9" creationId="{28A3ABBA-A784-80C0-E3DC-9879E19BE1A4}"/>
          </ac:graphicFrameMkLst>
        </pc:graphicFrameChg>
      </pc:sldChg>
      <pc:sldChg chg="modSp mod">
        <pc:chgData name="Kalasamudram Sri Lasya" userId="e2f342232ef6450f" providerId="LiveId" clId="{FCD5BC7E-B551-491C-8856-525D03B2F130}" dt="2026-08-21T08:15:48.049" v="17" actId="2710"/>
        <pc:sldMkLst>
          <pc:docMk/>
          <pc:sldMk cId="3006927351" sldId="286"/>
        </pc:sldMkLst>
        <pc:spChg chg="mod">
          <ac:chgData name="Kalasamudram Sri Lasya" userId="e2f342232ef6450f" providerId="LiveId" clId="{FCD5BC7E-B551-491C-8856-525D03B2F130}" dt="2026-08-21T08:15:48.049" v="17" actId="2710"/>
          <ac:spMkLst>
            <pc:docMk/>
            <pc:sldMk cId="3006927351" sldId="286"/>
            <ac:spMk id="3" creationId="{67E56A5D-3F6F-F4C7-17BD-C2AEE4340D7D}"/>
          </ac:spMkLst>
        </pc:spChg>
      </pc:sldChg>
      <pc:sldChg chg="addSp delSp modSp add mod">
        <pc:chgData name="Kalasamudram Sri Lasya" userId="e2f342232ef6450f" providerId="LiveId" clId="{FCD5BC7E-B551-491C-8856-525D03B2F130}" dt="2026-08-21T08:17:32.406" v="37" actId="14100"/>
        <pc:sldMkLst>
          <pc:docMk/>
          <pc:sldMk cId="3638659372" sldId="290"/>
        </pc:sldMkLst>
        <pc:spChg chg="mod">
          <ac:chgData name="Kalasamudram Sri Lasya" userId="e2f342232ef6450f" providerId="LiveId" clId="{FCD5BC7E-B551-491C-8856-525D03B2F130}" dt="2026-08-21T08:17:28.631" v="36" actId="1076"/>
          <ac:spMkLst>
            <pc:docMk/>
            <pc:sldMk cId="3638659372" sldId="290"/>
            <ac:spMk id="7" creationId="{32A002B8-CEBC-DDB0-1F04-5B4237AC308F}"/>
          </ac:spMkLst>
        </pc:spChg>
        <pc:picChg chg="add mod">
          <ac:chgData name="Kalasamudram Sri Lasya" userId="e2f342232ef6450f" providerId="LiveId" clId="{FCD5BC7E-B551-491C-8856-525D03B2F130}" dt="2026-08-21T08:17:32.406" v="37" actId="14100"/>
          <ac:picMkLst>
            <pc:docMk/>
            <pc:sldMk cId="3638659372" sldId="290"/>
            <ac:picMk id="3" creationId="{C09EC939-5C08-05E8-A791-43C6C5D62BEA}"/>
          </ac:picMkLst>
        </pc:picChg>
        <pc:picChg chg="add mod">
          <ac:chgData name="Kalasamudram Sri Lasya" userId="e2f342232ef6450f" providerId="LiveId" clId="{FCD5BC7E-B551-491C-8856-525D03B2F130}" dt="2026-08-21T08:17:16.099" v="33" actId="14100"/>
          <ac:picMkLst>
            <pc:docMk/>
            <pc:sldMk cId="3638659372" sldId="290"/>
            <ac:picMk id="6" creationId="{A6D1E064-1DB7-81F4-5759-B873EBFAA28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465C40-36AA-4A37-897D-A0375729B6D9}" type="datetimeFigureOut">
              <a:rPr lang="en-IN" smtClean="0"/>
              <a:t>24-08-2026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DAFB96-8EBF-48B7-878E-2F88B96B7E22}" type="slidenum">
              <a:rPr lang="en-IN" smtClean="0"/>
              <a:t>‹#›</a:t>
            </a:fld>
            <a:endParaRPr lang="en-IN"/>
          </a:p>
        </p:txBody>
      </p:sp>
    </p:spTree>
    <p:extLst>
      <p:ext uri="{BB962C8B-B14F-4D97-AF65-F5344CB8AC3E}">
        <p14:creationId xmlns:p14="http://schemas.microsoft.com/office/powerpoint/2010/main" val="99063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BDAFB96-8EBF-48B7-878E-2F88B96B7E22}" type="slidenum">
              <a:rPr lang="en-IN" smtClean="0"/>
              <a:t>21</a:t>
            </a:fld>
            <a:endParaRPr lang="en-IN"/>
          </a:p>
        </p:txBody>
      </p:sp>
    </p:spTree>
    <p:extLst>
      <p:ext uri="{BB962C8B-B14F-4D97-AF65-F5344CB8AC3E}">
        <p14:creationId xmlns:p14="http://schemas.microsoft.com/office/powerpoint/2010/main" val="2058501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7B853-32D0-770C-F68D-69666B76FD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D85252-DC04-3B38-EFCC-19ED4BEA17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0C95AE-421E-F631-079D-D75BB3847E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A7055C9-3DBB-03C6-6AE2-73F477ECD0A1}"/>
              </a:ext>
            </a:extLst>
          </p:cNvPr>
          <p:cNvSpPr>
            <a:spLocks noGrp="1"/>
          </p:cNvSpPr>
          <p:nvPr>
            <p:ph type="sldNum" sz="quarter" idx="5"/>
          </p:nvPr>
        </p:nvSpPr>
        <p:spPr/>
        <p:txBody>
          <a:bodyPr/>
          <a:lstStyle/>
          <a:p>
            <a:fld id="{0BDAFB96-8EBF-48B7-878E-2F88B96B7E22}" type="slidenum">
              <a:rPr lang="en-IN" smtClean="0"/>
              <a:t>22</a:t>
            </a:fld>
            <a:endParaRPr lang="en-IN"/>
          </a:p>
        </p:txBody>
      </p:sp>
    </p:spTree>
    <p:extLst>
      <p:ext uri="{BB962C8B-B14F-4D97-AF65-F5344CB8AC3E}">
        <p14:creationId xmlns:p14="http://schemas.microsoft.com/office/powerpoint/2010/main" val="24218109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E51FB-B129-DB30-703F-53C337E874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815AC-ED3B-3FAE-A516-017E5C30CB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99E3A5-91B8-04B6-7057-83F7462D86B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E68F18E-E2E8-E336-37BF-2EBB2BB36D0F}"/>
              </a:ext>
            </a:extLst>
          </p:cNvPr>
          <p:cNvSpPr>
            <a:spLocks noGrp="1"/>
          </p:cNvSpPr>
          <p:nvPr>
            <p:ph type="sldNum" sz="quarter" idx="5"/>
          </p:nvPr>
        </p:nvSpPr>
        <p:spPr/>
        <p:txBody>
          <a:bodyPr/>
          <a:lstStyle/>
          <a:p>
            <a:fld id="{0BDAFB96-8EBF-48B7-878E-2F88B96B7E22}" type="slidenum">
              <a:rPr lang="en-IN" smtClean="0"/>
              <a:t>23</a:t>
            </a:fld>
            <a:endParaRPr lang="en-IN"/>
          </a:p>
        </p:txBody>
      </p:sp>
    </p:spTree>
    <p:extLst>
      <p:ext uri="{BB962C8B-B14F-4D97-AF65-F5344CB8AC3E}">
        <p14:creationId xmlns:p14="http://schemas.microsoft.com/office/powerpoint/2010/main" val="871128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48160-E73E-2E5D-ED55-A179DFAA8E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368F2F-3262-A9FD-4408-D84758AF5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F18C78-CB50-9624-DC85-17004650632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F9CF6B8-286E-D2FB-2958-6F244566F3D6}"/>
              </a:ext>
            </a:extLst>
          </p:cNvPr>
          <p:cNvSpPr>
            <a:spLocks noGrp="1"/>
          </p:cNvSpPr>
          <p:nvPr>
            <p:ph type="sldNum" sz="quarter" idx="5"/>
          </p:nvPr>
        </p:nvSpPr>
        <p:spPr/>
        <p:txBody>
          <a:bodyPr/>
          <a:lstStyle/>
          <a:p>
            <a:fld id="{0BDAFB96-8EBF-48B7-878E-2F88B96B7E22}" type="slidenum">
              <a:rPr lang="en-IN" smtClean="0"/>
              <a:t>24</a:t>
            </a:fld>
            <a:endParaRPr lang="en-IN"/>
          </a:p>
        </p:txBody>
      </p:sp>
    </p:spTree>
    <p:extLst>
      <p:ext uri="{BB962C8B-B14F-4D97-AF65-F5344CB8AC3E}">
        <p14:creationId xmlns:p14="http://schemas.microsoft.com/office/powerpoint/2010/main" val="3840767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96B54-0756-1E62-1D28-0E8986B73F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03CC7B6-6CB0-0E76-A8E7-336D5113BA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C51B97D-FBC0-CE6C-58C5-D9A52E12D41E}"/>
              </a:ext>
            </a:extLst>
          </p:cNvPr>
          <p:cNvSpPr>
            <a:spLocks noGrp="1"/>
          </p:cNvSpPr>
          <p:nvPr>
            <p:ph type="dt" sz="half" idx="10"/>
          </p:nvPr>
        </p:nvSpPr>
        <p:spPr/>
        <p:txBody>
          <a:bodyPr/>
          <a:lstStyle/>
          <a:p>
            <a:fld id="{1ABB12CB-9A0B-4B3E-A07E-FC2E410EB1AD}" type="datetimeFigureOut">
              <a:rPr lang="en-IN" smtClean="0"/>
              <a:t>24-08-2026</a:t>
            </a:fld>
            <a:endParaRPr lang="en-IN"/>
          </a:p>
        </p:txBody>
      </p:sp>
      <p:sp>
        <p:nvSpPr>
          <p:cNvPr id="5" name="Footer Placeholder 4">
            <a:extLst>
              <a:ext uri="{FF2B5EF4-FFF2-40B4-BE49-F238E27FC236}">
                <a16:creationId xmlns:a16="http://schemas.microsoft.com/office/drawing/2014/main" id="{6A7F4317-7AD1-CDEA-2EB0-50438E98DC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48D0F8-F227-5208-E901-582BF07CEFEE}"/>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541904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7B7AA-E271-C5F5-820F-93C35E62CF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1CCAC7-6227-B5AE-EB1A-AFEC7B9CE2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E9DCBF-C867-9975-7793-43E9CD32CF1B}"/>
              </a:ext>
            </a:extLst>
          </p:cNvPr>
          <p:cNvSpPr>
            <a:spLocks noGrp="1"/>
          </p:cNvSpPr>
          <p:nvPr>
            <p:ph type="dt" sz="half" idx="10"/>
          </p:nvPr>
        </p:nvSpPr>
        <p:spPr/>
        <p:txBody>
          <a:bodyPr/>
          <a:lstStyle/>
          <a:p>
            <a:fld id="{1ABB12CB-9A0B-4B3E-A07E-FC2E410EB1AD}" type="datetimeFigureOut">
              <a:rPr lang="en-IN" smtClean="0"/>
              <a:t>24-08-2026</a:t>
            </a:fld>
            <a:endParaRPr lang="en-IN"/>
          </a:p>
        </p:txBody>
      </p:sp>
      <p:sp>
        <p:nvSpPr>
          <p:cNvPr id="5" name="Footer Placeholder 4">
            <a:extLst>
              <a:ext uri="{FF2B5EF4-FFF2-40B4-BE49-F238E27FC236}">
                <a16:creationId xmlns:a16="http://schemas.microsoft.com/office/drawing/2014/main" id="{2E3DC50C-61E1-5AAF-247B-C383A689E3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E3D843-E0D9-FC7B-7D3A-4D9364C9D19F}"/>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703773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ECFAA-CA82-0882-5FC5-0A3839AAE3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C733859-1BCF-DC29-C116-582D12E0FD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7F7D44-2AB2-D77D-9257-438788A46D05}"/>
              </a:ext>
            </a:extLst>
          </p:cNvPr>
          <p:cNvSpPr>
            <a:spLocks noGrp="1"/>
          </p:cNvSpPr>
          <p:nvPr>
            <p:ph type="dt" sz="half" idx="10"/>
          </p:nvPr>
        </p:nvSpPr>
        <p:spPr/>
        <p:txBody>
          <a:bodyPr/>
          <a:lstStyle/>
          <a:p>
            <a:fld id="{1ABB12CB-9A0B-4B3E-A07E-FC2E410EB1AD}" type="datetimeFigureOut">
              <a:rPr lang="en-IN" smtClean="0"/>
              <a:t>24-08-2026</a:t>
            </a:fld>
            <a:endParaRPr lang="en-IN"/>
          </a:p>
        </p:txBody>
      </p:sp>
      <p:sp>
        <p:nvSpPr>
          <p:cNvPr id="5" name="Footer Placeholder 4">
            <a:extLst>
              <a:ext uri="{FF2B5EF4-FFF2-40B4-BE49-F238E27FC236}">
                <a16:creationId xmlns:a16="http://schemas.microsoft.com/office/drawing/2014/main" id="{CA576B68-0187-6750-F4F1-41369ABC11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9078C8-0028-99C3-CCCC-4DCEAC559A5F}"/>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531055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60C90-C8B7-3899-ABEF-2A0BE9DD35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D06396-FF0B-818E-F231-22FDC07679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42C818C-AF51-11A6-7179-617938BBF6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955182C-88BA-4D22-F137-8FCCFC21C791}"/>
              </a:ext>
            </a:extLst>
          </p:cNvPr>
          <p:cNvSpPr>
            <a:spLocks noGrp="1"/>
          </p:cNvSpPr>
          <p:nvPr>
            <p:ph type="dt" sz="half" idx="10"/>
          </p:nvPr>
        </p:nvSpPr>
        <p:spPr/>
        <p:txBody>
          <a:bodyPr/>
          <a:lstStyle/>
          <a:p>
            <a:fld id="{1ABB12CB-9A0B-4B3E-A07E-FC2E410EB1AD}" type="datetimeFigureOut">
              <a:rPr lang="en-IN" smtClean="0"/>
              <a:t>24-08-2026</a:t>
            </a:fld>
            <a:endParaRPr lang="en-IN"/>
          </a:p>
        </p:txBody>
      </p:sp>
      <p:sp>
        <p:nvSpPr>
          <p:cNvPr id="6" name="Footer Placeholder 5">
            <a:extLst>
              <a:ext uri="{FF2B5EF4-FFF2-40B4-BE49-F238E27FC236}">
                <a16:creationId xmlns:a16="http://schemas.microsoft.com/office/drawing/2014/main" id="{41C020C9-B68F-7187-72A9-6BB9C1F415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764973-DE30-79CC-3A05-06A1FD644C75}"/>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3953839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D4676-1F47-DBE4-43A5-83239795034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8196BD-CB62-80BB-8157-C0E1800ACB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5CD177-A57F-8500-65C9-63B648E8F9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E36A162-956B-6EC1-2CAD-6A21026778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6E6F5-52F0-47ED-4DEC-37B82A1B2C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B5B8CE5-080B-7658-4DC5-81D2B43782AE}"/>
              </a:ext>
            </a:extLst>
          </p:cNvPr>
          <p:cNvSpPr>
            <a:spLocks noGrp="1"/>
          </p:cNvSpPr>
          <p:nvPr>
            <p:ph type="dt" sz="half" idx="10"/>
          </p:nvPr>
        </p:nvSpPr>
        <p:spPr/>
        <p:txBody>
          <a:bodyPr/>
          <a:lstStyle/>
          <a:p>
            <a:fld id="{1ABB12CB-9A0B-4B3E-A07E-FC2E410EB1AD}" type="datetimeFigureOut">
              <a:rPr lang="en-IN" smtClean="0"/>
              <a:t>24-08-2026</a:t>
            </a:fld>
            <a:endParaRPr lang="en-IN"/>
          </a:p>
        </p:txBody>
      </p:sp>
      <p:sp>
        <p:nvSpPr>
          <p:cNvPr id="8" name="Footer Placeholder 7">
            <a:extLst>
              <a:ext uri="{FF2B5EF4-FFF2-40B4-BE49-F238E27FC236}">
                <a16:creationId xmlns:a16="http://schemas.microsoft.com/office/drawing/2014/main" id="{84E7C1A3-C54F-AE10-57A0-2E00009E85E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60A8472-E6D0-7D73-4084-53ED4028A692}"/>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2394108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4A803-D1B6-AE55-87AC-E52D4F1E5A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6D109C2-F56E-DE3A-E363-14813527FF00}"/>
              </a:ext>
            </a:extLst>
          </p:cNvPr>
          <p:cNvSpPr>
            <a:spLocks noGrp="1"/>
          </p:cNvSpPr>
          <p:nvPr>
            <p:ph type="dt" sz="half" idx="10"/>
          </p:nvPr>
        </p:nvSpPr>
        <p:spPr/>
        <p:txBody>
          <a:bodyPr/>
          <a:lstStyle/>
          <a:p>
            <a:fld id="{1ABB12CB-9A0B-4B3E-A07E-FC2E410EB1AD}" type="datetimeFigureOut">
              <a:rPr lang="en-IN" smtClean="0"/>
              <a:t>24-08-2026</a:t>
            </a:fld>
            <a:endParaRPr lang="en-IN"/>
          </a:p>
        </p:txBody>
      </p:sp>
      <p:sp>
        <p:nvSpPr>
          <p:cNvPr id="4" name="Footer Placeholder 3">
            <a:extLst>
              <a:ext uri="{FF2B5EF4-FFF2-40B4-BE49-F238E27FC236}">
                <a16:creationId xmlns:a16="http://schemas.microsoft.com/office/drawing/2014/main" id="{F366FF3B-E67A-6857-FCB5-1ADFFC4B04D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3C69E82-9731-7635-2964-03BD8906D233}"/>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610671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808C63-6DBC-BA5E-4264-C13F812BFC89}"/>
              </a:ext>
            </a:extLst>
          </p:cNvPr>
          <p:cNvSpPr>
            <a:spLocks noGrp="1"/>
          </p:cNvSpPr>
          <p:nvPr>
            <p:ph type="dt" sz="half" idx="10"/>
          </p:nvPr>
        </p:nvSpPr>
        <p:spPr/>
        <p:txBody>
          <a:bodyPr/>
          <a:lstStyle/>
          <a:p>
            <a:fld id="{1ABB12CB-9A0B-4B3E-A07E-FC2E410EB1AD}" type="datetimeFigureOut">
              <a:rPr lang="en-IN" smtClean="0"/>
              <a:t>24-08-2026</a:t>
            </a:fld>
            <a:endParaRPr lang="en-IN"/>
          </a:p>
        </p:txBody>
      </p:sp>
      <p:sp>
        <p:nvSpPr>
          <p:cNvPr id="3" name="Footer Placeholder 2">
            <a:extLst>
              <a:ext uri="{FF2B5EF4-FFF2-40B4-BE49-F238E27FC236}">
                <a16:creationId xmlns:a16="http://schemas.microsoft.com/office/drawing/2014/main" id="{CFCDFFCC-232E-32A5-326C-5D939E4E78B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6E1B074-AA0A-8083-B981-E63977FAC03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304771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94B80-1B83-172A-4F37-E7D7480750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4E9B52-83FC-8D6B-D66C-F6920DDE18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B05F82B-7ADD-F350-BD9F-9D324F5CE0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097B04-F1D4-2834-BB11-837509BDD707}"/>
              </a:ext>
            </a:extLst>
          </p:cNvPr>
          <p:cNvSpPr>
            <a:spLocks noGrp="1"/>
          </p:cNvSpPr>
          <p:nvPr>
            <p:ph type="dt" sz="half" idx="10"/>
          </p:nvPr>
        </p:nvSpPr>
        <p:spPr/>
        <p:txBody>
          <a:bodyPr/>
          <a:lstStyle/>
          <a:p>
            <a:fld id="{1ABB12CB-9A0B-4B3E-A07E-FC2E410EB1AD}" type="datetimeFigureOut">
              <a:rPr lang="en-IN" smtClean="0"/>
              <a:t>24-08-2026</a:t>
            </a:fld>
            <a:endParaRPr lang="en-IN"/>
          </a:p>
        </p:txBody>
      </p:sp>
      <p:sp>
        <p:nvSpPr>
          <p:cNvPr id="6" name="Footer Placeholder 5">
            <a:extLst>
              <a:ext uri="{FF2B5EF4-FFF2-40B4-BE49-F238E27FC236}">
                <a16:creationId xmlns:a16="http://schemas.microsoft.com/office/drawing/2014/main" id="{56C39531-7B23-314E-E9E0-EAFBD6E4C92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AA1584-EB2F-EDCB-22E9-AEB0749F0A5C}"/>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378406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B3F94-2738-BAE5-2CA2-80CF2BD40C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E76238-16F0-EAF7-D1F2-AAC9779DB6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04F3146-CC2B-BFAE-7EBF-678C83AC5D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3C7EEF-C4FB-1E61-2AB0-59381BE3B777}"/>
              </a:ext>
            </a:extLst>
          </p:cNvPr>
          <p:cNvSpPr>
            <a:spLocks noGrp="1"/>
          </p:cNvSpPr>
          <p:nvPr>
            <p:ph type="dt" sz="half" idx="10"/>
          </p:nvPr>
        </p:nvSpPr>
        <p:spPr/>
        <p:txBody>
          <a:bodyPr/>
          <a:lstStyle/>
          <a:p>
            <a:fld id="{1ABB12CB-9A0B-4B3E-A07E-FC2E410EB1AD}" type="datetimeFigureOut">
              <a:rPr lang="en-IN" smtClean="0"/>
              <a:t>24-08-2026</a:t>
            </a:fld>
            <a:endParaRPr lang="en-IN"/>
          </a:p>
        </p:txBody>
      </p:sp>
      <p:sp>
        <p:nvSpPr>
          <p:cNvPr id="6" name="Footer Placeholder 5">
            <a:extLst>
              <a:ext uri="{FF2B5EF4-FFF2-40B4-BE49-F238E27FC236}">
                <a16:creationId xmlns:a16="http://schemas.microsoft.com/office/drawing/2014/main" id="{1E27AA71-2F1B-AE3D-648B-1C45217D62A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16FBBB0-511C-FEAA-E1A1-130B4454DAD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898205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EE422-95E2-3A11-2FFC-2C0EA3C94DD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197C504-1556-F0BE-4A14-88E36035E9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567AB6-2061-6CC8-61BF-9EB72F917316}"/>
              </a:ext>
            </a:extLst>
          </p:cNvPr>
          <p:cNvSpPr>
            <a:spLocks noGrp="1"/>
          </p:cNvSpPr>
          <p:nvPr>
            <p:ph type="dt" sz="half" idx="10"/>
          </p:nvPr>
        </p:nvSpPr>
        <p:spPr/>
        <p:txBody>
          <a:bodyPr/>
          <a:lstStyle/>
          <a:p>
            <a:fld id="{1ABB12CB-9A0B-4B3E-A07E-FC2E410EB1AD}" type="datetimeFigureOut">
              <a:rPr lang="en-IN" smtClean="0"/>
              <a:t>24-08-2026</a:t>
            </a:fld>
            <a:endParaRPr lang="en-IN"/>
          </a:p>
        </p:txBody>
      </p:sp>
      <p:sp>
        <p:nvSpPr>
          <p:cNvPr id="5" name="Footer Placeholder 4">
            <a:extLst>
              <a:ext uri="{FF2B5EF4-FFF2-40B4-BE49-F238E27FC236}">
                <a16:creationId xmlns:a16="http://schemas.microsoft.com/office/drawing/2014/main" id="{B3E37AB4-DC1F-6BFA-851C-38F48A29FA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FE9082-A394-7D88-3D70-4912A1609F32}"/>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2891341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E22D0D-E39A-8BBD-07BA-39D0F77E32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378952-7582-B266-6A54-7F38650A00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4BCFC-380E-1D8D-5381-DC0CAB4A0A48}"/>
              </a:ext>
            </a:extLst>
          </p:cNvPr>
          <p:cNvSpPr>
            <a:spLocks noGrp="1"/>
          </p:cNvSpPr>
          <p:nvPr>
            <p:ph type="dt" sz="half" idx="10"/>
          </p:nvPr>
        </p:nvSpPr>
        <p:spPr/>
        <p:txBody>
          <a:bodyPr/>
          <a:lstStyle/>
          <a:p>
            <a:fld id="{1ABB12CB-9A0B-4B3E-A07E-FC2E410EB1AD}" type="datetimeFigureOut">
              <a:rPr lang="en-IN" smtClean="0"/>
              <a:t>24-08-2026</a:t>
            </a:fld>
            <a:endParaRPr lang="en-IN"/>
          </a:p>
        </p:txBody>
      </p:sp>
      <p:sp>
        <p:nvSpPr>
          <p:cNvPr id="5" name="Footer Placeholder 4">
            <a:extLst>
              <a:ext uri="{FF2B5EF4-FFF2-40B4-BE49-F238E27FC236}">
                <a16:creationId xmlns:a16="http://schemas.microsoft.com/office/drawing/2014/main" id="{923A17A7-A7DF-FAD1-CF15-F67058AD14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B8FFF3-5FAF-66A7-86B8-57890766AA98}"/>
              </a:ext>
            </a:extLst>
          </p:cNvPr>
          <p:cNvSpPr>
            <a:spLocks noGrp="1"/>
          </p:cNvSpPr>
          <p:nvPr>
            <p:ph type="sldNum" sz="quarter" idx="12"/>
          </p:nvPr>
        </p:nvSpPr>
        <p:spPr/>
        <p:txBody>
          <a:bodyPr/>
          <a:lstStyle/>
          <a:p>
            <a:fld id="{A57E4BDE-76D0-467F-921E-1E84543F0B2D}" type="slidenum">
              <a:rPr lang="en-IN" smtClean="0"/>
              <a:t>‹#›</a:t>
            </a:fld>
            <a:endParaRPr lang="en-IN"/>
          </a:p>
        </p:txBody>
      </p:sp>
    </p:spTree>
    <p:extLst>
      <p:ext uri="{BB962C8B-B14F-4D97-AF65-F5344CB8AC3E}">
        <p14:creationId xmlns:p14="http://schemas.microsoft.com/office/powerpoint/2010/main" val="1194251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51D945-8835-07E5-6C0C-5A64F77530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E03D0B-0FF5-2A29-5B41-763623183D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3718D1-A2A2-89DA-F288-991C56D502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BB12CB-9A0B-4B3E-A07E-FC2E410EB1AD}" type="datetimeFigureOut">
              <a:rPr lang="en-IN" smtClean="0"/>
              <a:t>24-08-2026</a:t>
            </a:fld>
            <a:endParaRPr lang="en-IN"/>
          </a:p>
        </p:txBody>
      </p:sp>
      <p:sp>
        <p:nvSpPr>
          <p:cNvPr id="5" name="Footer Placeholder 4">
            <a:extLst>
              <a:ext uri="{FF2B5EF4-FFF2-40B4-BE49-F238E27FC236}">
                <a16:creationId xmlns:a16="http://schemas.microsoft.com/office/drawing/2014/main" id="{7E797BBA-6B2C-A701-AA25-DE86ACBA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6BDE37B-6946-D46A-C948-999A7DF5C1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7E4BDE-76D0-467F-921E-1E84543F0B2D}" type="slidenum">
              <a:rPr lang="en-IN" smtClean="0"/>
              <a:t>‹#›</a:t>
            </a:fld>
            <a:endParaRPr lang="en-IN"/>
          </a:p>
        </p:txBody>
      </p:sp>
    </p:spTree>
    <p:extLst>
      <p:ext uri="{BB962C8B-B14F-4D97-AF65-F5344CB8AC3E}">
        <p14:creationId xmlns:p14="http://schemas.microsoft.com/office/powerpoint/2010/main" val="16243044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AAD3E1D-C7A1-62CA-B230-176A44EAF999}"/>
              </a:ext>
            </a:extLst>
          </p:cNvPr>
          <p:cNvSpPr txBox="1"/>
          <p:nvPr/>
        </p:nvSpPr>
        <p:spPr>
          <a:xfrm>
            <a:off x="533400" y="308207"/>
            <a:ext cx="11125200" cy="523220"/>
          </a:xfrm>
          <a:prstGeom prst="rect">
            <a:avLst/>
          </a:prstGeom>
          <a:noFill/>
        </p:spPr>
        <p:txBody>
          <a:bodyPr wrap="square">
            <a:spAutoFit/>
          </a:bodyPr>
          <a:lstStyle/>
          <a:p>
            <a:pPr algn="ctr" rtl="0">
              <a:buNone/>
            </a:pPr>
            <a:r>
              <a:rPr lang="en-US" sz="2800" b="1" i="0" cap="all" dirty="0">
                <a:solidFill>
                  <a:schemeClr val="accent5">
                    <a:lumMod val="50000"/>
                  </a:schemeClr>
                </a:solidFill>
                <a:effectLst/>
                <a:latin typeface="Cambria" panose="02040503050406030204" pitchFamily="18" charset="0"/>
                <a:ea typeface="Cambria" panose="02040503050406030204" pitchFamily="18" charset="0"/>
              </a:rPr>
              <a:t>MLA0305-Reinforcement learning</a:t>
            </a:r>
          </a:p>
        </p:txBody>
      </p:sp>
      <p:sp>
        <p:nvSpPr>
          <p:cNvPr id="7" name="TextBox 6">
            <a:extLst>
              <a:ext uri="{FF2B5EF4-FFF2-40B4-BE49-F238E27FC236}">
                <a16:creationId xmlns:a16="http://schemas.microsoft.com/office/drawing/2014/main" id="{2AEE184D-CACF-C28F-CF7A-0951173397BB}"/>
              </a:ext>
            </a:extLst>
          </p:cNvPr>
          <p:cNvSpPr txBox="1"/>
          <p:nvPr/>
        </p:nvSpPr>
        <p:spPr>
          <a:xfrm>
            <a:off x="4236538" y="923760"/>
            <a:ext cx="3403782" cy="400110"/>
          </a:xfrm>
          <a:prstGeom prst="rect">
            <a:avLst/>
          </a:prstGeom>
          <a:noFill/>
        </p:spPr>
        <p:txBody>
          <a:bodyPr wrap="square">
            <a:spAutoFit/>
          </a:bodyPr>
          <a:lstStyle/>
          <a:p>
            <a:r>
              <a:rPr lang="en-IN" sz="2000" b="1" i="0" dirty="0">
                <a:solidFill>
                  <a:schemeClr val="accent6">
                    <a:lumMod val="75000"/>
                  </a:schemeClr>
                </a:solidFill>
                <a:effectLst/>
                <a:latin typeface="Cambria" panose="02040503050406030204" pitchFamily="18" charset="0"/>
                <a:ea typeface="Cambria" panose="02040503050406030204" pitchFamily="18" charset="0"/>
              </a:rPr>
              <a:t>MS1 Jul-Sep 2026 - SLOT </a:t>
            </a:r>
            <a:r>
              <a:rPr lang="en-IN" sz="2000" b="1" dirty="0">
                <a:solidFill>
                  <a:schemeClr val="accent6">
                    <a:lumMod val="75000"/>
                  </a:schemeClr>
                </a:solidFill>
                <a:latin typeface="Cambria" panose="02040503050406030204" pitchFamily="18" charset="0"/>
                <a:ea typeface="Cambria" panose="02040503050406030204" pitchFamily="18" charset="0"/>
              </a:rPr>
              <a:t>B</a:t>
            </a:r>
            <a:endParaRPr lang="en-IN" sz="2000" dirty="0">
              <a:solidFill>
                <a:schemeClr val="accent6">
                  <a:lumMod val="75000"/>
                </a:schemeClr>
              </a:solidFill>
              <a:latin typeface="Cambria" panose="02040503050406030204" pitchFamily="18" charset="0"/>
              <a:ea typeface="Cambria" panose="02040503050406030204" pitchFamily="18" charset="0"/>
            </a:endParaRPr>
          </a:p>
        </p:txBody>
      </p:sp>
      <p:sp>
        <p:nvSpPr>
          <p:cNvPr id="11" name="TextBox 10">
            <a:extLst>
              <a:ext uri="{FF2B5EF4-FFF2-40B4-BE49-F238E27FC236}">
                <a16:creationId xmlns:a16="http://schemas.microsoft.com/office/drawing/2014/main" id="{5898A4E7-D69E-C448-1FC2-8DE2EBECF36A}"/>
              </a:ext>
            </a:extLst>
          </p:cNvPr>
          <p:cNvSpPr txBox="1"/>
          <p:nvPr/>
        </p:nvSpPr>
        <p:spPr>
          <a:xfrm>
            <a:off x="7691119" y="4887801"/>
            <a:ext cx="4500881" cy="1862048"/>
          </a:xfrm>
          <a:prstGeom prst="rect">
            <a:avLst/>
          </a:prstGeom>
          <a:noFill/>
        </p:spPr>
        <p:txBody>
          <a:bodyPr wrap="square">
            <a:spAutoFit/>
          </a:bodyPr>
          <a:lstStyle/>
          <a:p>
            <a:pPr lvl="1">
              <a:spcBef>
                <a:spcPts val="550"/>
              </a:spcBef>
              <a:buClr>
                <a:srgbClr val="4F81BD"/>
              </a:buClr>
              <a:buSzPct val="70000"/>
            </a:pPr>
            <a:r>
              <a:rPr lang="en-US" sz="2000" i="1" dirty="0">
                <a:solidFill>
                  <a:schemeClr val="accent4">
                    <a:lumMod val="50000"/>
                  </a:schemeClr>
                </a:solidFill>
                <a:latin typeface="Cambria" panose="02040503050406030204" pitchFamily="18" charset="0"/>
                <a:ea typeface="Cambria" panose="02040503050406030204" pitchFamily="18" charset="0"/>
                <a:cs typeface="Times New Roman" pitchFamily="18" charset="0"/>
              </a:rPr>
              <a:t>Presented by, </a:t>
            </a:r>
            <a:br>
              <a:rPr lang="en-US" sz="2000" b="1" dirty="0">
                <a:solidFill>
                  <a:srgbClr val="C00000"/>
                </a:solidFill>
                <a:latin typeface="Cambria" panose="02040503050406030204" pitchFamily="18" charset="0"/>
                <a:ea typeface="Cambria" panose="02040503050406030204" pitchFamily="18" charset="0"/>
                <a:cs typeface="Times New Roman" pitchFamily="18" charset="0"/>
              </a:rPr>
            </a:b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192425196-P.Hithaishi</a:t>
            </a:r>
          </a:p>
          <a:p>
            <a:pPr lvl="1">
              <a:spcBef>
                <a:spcPts val="550"/>
              </a:spcBef>
              <a:buClr>
                <a:srgbClr val="4F81BD"/>
              </a:buClr>
              <a:buSzPct val="70000"/>
            </a:pP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192472216-K.Sri Lasya</a:t>
            </a:r>
          </a:p>
          <a:p>
            <a:pPr lvl="1">
              <a:spcBef>
                <a:spcPts val="550"/>
              </a:spcBef>
              <a:buClr>
                <a:srgbClr val="4F81BD"/>
              </a:buClr>
              <a:buSzPct val="70000"/>
            </a:pPr>
            <a:r>
              <a:rPr lang="en-US" sz="2000" b="1" dirty="0">
                <a:solidFill>
                  <a:srgbClr val="C00000"/>
                </a:solidFill>
                <a:latin typeface="Cambria" panose="02040503050406030204" pitchFamily="18" charset="0"/>
                <a:ea typeface="Cambria" panose="02040503050406030204" pitchFamily="18" charset="0"/>
                <a:cs typeface="Times New Roman" pitchFamily="18" charset="0"/>
              </a:rPr>
              <a:t>192525322-N.Parnita</a:t>
            </a:r>
          </a:p>
          <a:p>
            <a:pPr lvl="1">
              <a:spcBef>
                <a:spcPts val="550"/>
              </a:spcBef>
              <a:buClr>
                <a:srgbClr val="4F81BD"/>
              </a:buClr>
              <a:buSzPct val="70000"/>
            </a:pPr>
            <a:r>
              <a:rPr lang="en-US" sz="2000" b="1" dirty="0">
                <a:solidFill>
                  <a:srgbClr val="C00000"/>
                </a:solidFill>
                <a:latin typeface="Cambria" panose="02040503050406030204" pitchFamily="18" charset="0"/>
                <a:ea typeface="Cambria" panose="02040503050406030204" pitchFamily="18" charset="0"/>
                <a:cs typeface="Times New Roman" pitchFamily="18" charset="0"/>
              </a:rPr>
              <a:t>	</a:t>
            </a:r>
            <a:endParaRPr lang="en-IN" sz="2000" dirty="0">
              <a:solidFill>
                <a:srgbClr val="C00000"/>
              </a:solidFill>
              <a:latin typeface="Cambria" panose="02040503050406030204" pitchFamily="18" charset="0"/>
              <a:ea typeface="Cambria" panose="02040503050406030204" pitchFamily="18" charset="0"/>
            </a:endParaRPr>
          </a:p>
        </p:txBody>
      </p:sp>
      <p:sp>
        <p:nvSpPr>
          <p:cNvPr id="13" name="TextBox 12">
            <a:extLst>
              <a:ext uri="{FF2B5EF4-FFF2-40B4-BE49-F238E27FC236}">
                <a16:creationId xmlns:a16="http://schemas.microsoft.com/office/drawing/2014/main" id="{82CDEA37-C6AC-1EE2-8FFE-209ACD903C9A}"/>
              </a:ext>
            </a:extLst>
          </p:cNvPr>
          <p:cNvSpPr txBox="1"/>
          <p:nvPr/>
        </p:nvSpPr>
        <p:spPr>
          <a:xfrm>
            <a:off x="283028" y="1293985"/>
            <a:ext cx="11756572" cy="1569660"/>
          </a:xfrm>
          <a:prstGeom prst="rect">
            <a:avLst/>
          </a:prstGeom>
          <a:noFill/>
        </p:spPr>
        <p:txBody>
          <a:bodyPr wrap="square">
            <a:spAutoFit/>
          </a:bodyPr>
          <a:lstStyle/>
          <a:p>
            <a:pPr marL="36195" marR="0" algn="ctr">
              <a:spcAft>
                <a:spcPts val="600"/>
              </a:spcAft>
              <a:buNone/>
            </a:pPr>
            <a:r>
              <a:rPr lang="en-US" sz="3200" b="1" dirty="0">
                <a:solidFill>
                  <a:srgbClr val="C00000"/>
                </a:solidFill>
                <a:latin typeface="Cambria" panose="02040503050406030204" pitchFamily="18" charset="0"/>
                <a:ea typeface="Cambria" panose="02040503050406030204" pitchFamily="18" charset="0"/>
              </a:rPr>
              <a:t>Cooperative Drone Swarm Search and Rescue using Multi-Agent Reinforcement Learning and Swarm-Based Agent Simulation</a:t>
            </a:r>
            <a:endParaRPr lang="en-IN" sz="3200" b="1" dirty="0">
              <a:solidFill>
                <a:srgbClr val="C00000"/>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D0186E62-555B-E8F9-1FBB-0D22F74BA20A}"/>
              </a:ext>
            </a:extLst>
          </p:cNvPr>
          <p:cNvSpPr txBox="1"/>
          <p:nvPr/>
        </p:nvSpPr>
        <p:spPr>
          <a:xfrm>
            <a:off x="182879" y="4887801"/>
            <a:ext cx="5303521" cy="1862048"/>
          </a:xfrm>
          <a:prstGeom prst="rect">
            <a:avLst/>
          </a:prstGeom>
          <a:noFill/>
        </p:spPr>
        <p:txBody>
          <a:bodyPr wrap="square">
            <a:spAutoFit/>
          </a:bodyPr>
          <a:lstStyle/>
          <a:p>
            <a:pPr lvl="1">
              <a:spcBef>
                <a:spcPts val="550"/>
              </a:spcBef>
              <a:buClr>
                <a:srgbClr val="4F81BD"/>
              </a:buClr>
              <a:buSzPct val="70000"/>
            </a:pPr>
            <a:r>
              <a:rPr lang="en-US" sz="2000" i="1" dirty="0">
                <a:solidFill>
                  <a:schemeClr val="accent3">
                    <a:lumMod val="50000"/>
                  </a:schemeClr>
                </a:solidFill>
                <a:latin typeface="Cambria" panose="02040503050406030204" pitchFamily="18" charset="0"/>
                <a:ea typeface="Cambria" panose="02040503050406030204" pitchFamily="18" charset="0"/>
                <a:cs typeface="Times New Roman" pitchFamily="18" charset="0"/>
              </a:rPr>
              <a:t>Guided by, </a:t>
            </a:r>
            <a:br>
              <a:rPr lang="en-US" sz="2000" b="1" dirty="0">
                <a:solidFill>
                  <a:srgbClr val="C00000"/>
                </a:solidFill>
                <a:latin typeface="Cambria" panose="02040503050406030204" pitchFamily="18" charset="0"/>
                <a:ea typeface="Cambria" panose="02040503050406030204" pitchFamily="18" charset="0"/>
                <a:cs typeface="Times New Roman" pitchFamily="18" charset="0"/>
              </a:rPr>
            </a:br>
            <a:r>
              <a:rPr lang="en-US" sz="2000" i="1" dirty="0">
                <a:solidFill>
                  <a:srgbClr val="0070C0"/>
                </a:solidFill>
                <a:latin typeface="Cambria" panose="02040503050406030204" pitchFamily="18" charset="0"/>
                <a:ea typeface="Cambria" panose="02040503050406030204" pitchFamily="18" charset="0"/>
                <a:cs typeface="Times New Roman" pitchFamily="18" charset="0"/>
              </a:rPr>
              <a:t>Dr. Vincent Gnanaraj T</a:t>
            </a:r>
          </a:p>
          <a:p>
            <a:pPr lvl="1">
              <a:spcBef>
                <a:spcPts val="550"/>
              </a:spcBef>
              <a:buClr>
                <a:srgbClr val="4F81BD"/>
              </a:buClr>
              <a:buSzPct val="70000"/>
            </a:pPr>
            <a:r>
              <a:rPr lang="en-US" sz="2000" i="1" dirty="0">
                <a:solidFill>
                  <a:srgbClr val="0070C0"/>
                </a:solidFill>
                <a:latin typeface="Cambria" panose="02040503050406030204" pitchFamily="18" charset="0"/>
                <a:ea typeface="Cambria" panose="02040503050406030204" pitchFamily="18" charset="0"/>
                <a:cs typeface="Times New Roman" pitchFamily="18" charset="0"/>
              </a:rPr>
              <a:t>Associate Professor</a:t>
            </a:r>
          </a:p>
          <a:p>
            <a:pPr lvl="1">
              <a:spcBef>
                <a:spcPts val="550"/>
              </a:spcBef>
              <a:buClr>
                <a:srgbClr val="4F81BD"/>
              </a:buClr>
              <a:buSzPct val="70000"/>
            </a:pPr>
            <a:r>
              <a:rPr lang="en-US" sz="2000" i="1" dirty="0">
                <a:solidFill>
                  <a:srgbClr val="0070C0"/>
                </a:solidFill>
                <a:latin typeface="Cambria" panose="02040503050406030204" pitchFamily="18" charset="0"/>
                <a:ea typeface="Cambria" panose="02040503050406030204" pitchFamily="18" charset="0"/>
                <a:cs typeface="Times New Roman" pitchFamily="18" charset="0"/>
              </a:rPr>
              <a:t>Department of Quantum Intelligence</a:t>
            </a:r>
          </a:p>
          <a:p>
            <a:pPr lvl="1">
              <a:spcBef>
                <a:spcPts val="550"/>
              </a:spcBef>
              <a:buClr>
                <a:srgbClr val="4F81BD"/>
              </a:buClr>
              <a:buSzPct val="70000"/>
            </a:pPr>
            <a:r>
              <a:rPr lang="en-US" sz="2000" i="1" dirty="0">
                <a:solidFill>
                  <a:srgbClr val="0070C0"/>
                </a:solidFill>
                <a:latin typeface="Cambria" panose="02040503050406030204" pitchFamily="18" charset="0"/>
                <a:ea typeface="Cambria" panose="02040503050406030204" pitchFamily="18" charset="0"/>
                <a:cs typeface="Times New Roman" pitchFamily="18" charset="0"/>
              </a:rPr>
              <a:t>SIMATS Engineering</a:t>
            </a:r>
            <a:r>
              <a:rPr lang="en-US" sz="2000" b="1" dirty="0">
                <a:solidFill>
                  <a:srgbClr val="002060"/>
                </a:solidFill>
                <a:latin typeface="Cambria" panose="02040503050406030204" pitchFamily="18" charset="0"/>
                <a:ea typeface="Cambria" panose="02040503050406030204" pitchFamily="18" charset="0"/>
                <a:cs typeface="Times New Roman" pitchFamily="18" charset="0"/>
              </a:rPr>
              <a:t>	</a:t>
            </a:r>
            <a:endParaRPr lang="en-IN" sz="2000" dirty="0">
              <a:latin typeface="Cambria" panose="02040503050406030204" pitchFamily="18" charset="0"/>
              <a:ea typeface="Cambria" panose="02040503050406030204" pitchFamily="18" charset="0"/>
            </a:endParaRPr>
          </a:p>
        </p:txBody>
      </p:sp>
      <p:pic>
        <p:nvPicPr>
          <p:cNvPr id="2" name="Picture 1" descr="These birds flock in mesmerizing swarms of thousands—but why is still a mystery | National Geographic">
            <a:extLst>
              <a:ext uri="{FF2B5EF4-FFF2-40B4-BE49-F238E27FC236}">
                <a16:creationId xmlns:a16="http://schemas.microsoft.com/office/drawing/2014/main" id="{1DD82984-C4A7-E0AF-8423-48BEADDD55BF}"/>
              </a:ext>
            </a:extLst>
          </p:cNvPr>
          <p:cNvPicPr>
            <a:picLocks noChangeAspect="1"/>
          </p:cNvPicPr>
          <p:nvPr/>
        </p:nvPicPr>
        <p:blipFill>
          <a:blip r:embed="rId2"/>
          <a:stretch>
            <a:fillRect/>
          </a:stretch>
        </p:blipFill>
        <p:spPr>
          <a:xfrm>
            <a:off x="836839" y="2775086"/>
            <a:ext cx="10648950" cy="2112715"/>
          </a:xfrm>
          <a:prstGeom prst="rect">
            <a:avLst/>
          </a:prstGeom>
        </p:spPr>
      </p:pic>
    </p:spTree>
    <p:extLst>
      <p:ext uri="{BB962C8B-B14F-4D97-AF65-F5344CB8AC3E}">
        <p14:creationId xmlns:p14="http://schemas.microsoft.com/office/powerpoint/2010/main" val="2235033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1B6F94-3F67-6C03-6A1C-E70F63E32428}"/>
              </a:ext>
            </a:extLst>
          </p:cNvPr>
          <p:cNvSpPr txBox="1"/>
          <p:nvPr/>
        </p:nvSpPr>
        <p:spPr>
          <a:xfrm>
            <a:off x="5016862" y="344381"/>
            <a:ext cx="2158275"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Abstract</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AEB2E3B9-103C-0A4E-E38E-D18457838DB6}"/>
              </a:ext>
            </a:extLst>
          </p:cNvPr>
          <p:cNvSpPr txBox="1"/>
          <p:nvPr/>
        </p:nvSpPr>
        <p:spPr>
          <a:xfrm>
            <a:off x="1111044" y="1445965"/>
            <a:ext cx="10125915" cy="2862322"/>
          </a:xfrm>
          <a:prstGeom prst="rect">
            <a:avLst/>
          </a:prstGeom>
          <a:noFill/>
        </p:spPr>
        <p:txBody>
          <a:bodyPr wrap="square">
            <a:spAutoFit/>
          </a:bodyPr>
          <a:lstStyle/>
          <a:p>
            <a:pPr algn="just"/>
            <a:r>
              <a:rPr lang="en-IN" dirty="0">
                <a:latin typeface="Cambria" panose="02040503050406030204" pitchFamily="18" charset="0"/>
                <a:ea typeface="Cambria" panose="02040503050406030204" pitchFamily="18" charset="0"/>
              </a:rPr>
              <a:t>Cooperative Drone Swarm Search and Rescue using Multi-Agent Reinforcement Learning and Swarm-Based Agent Simulation proposes an intelligent drone swarm for autonomous search and rescue operations. Traditional search methods and single-drone systems suffer from limited coverage, poor coordination, and increased search time. The proposed system integrates Multi-Agent Reinforcement Learning (MARL) with swarm-based agent simulation to enable cooperative decision-making among multiple drones. The drones communicate, coordinate, and optimize their search paths to improve overall mission performance while minimizing redundant exploration. Compared with existing approaches, the proposed framework provides faster target detection, wider area coverage, improved scalability, and enhanced operational efficiency. Simulation results demonstrate better coordination, reduced search time, and higher mission success rates. </a:t>
            </a:r>
          </a:p>
        </p:txBody>
      </p:sp>
    </p:spTree>
    <p:extLst>
      <p:ext uri="{BB962C8B-B14F-4D97-AF65-F5344CB8AC3E}">
        <p14:creationId xmlns:p14="http://schemas.microsoft.com/office/powerpoint/2010/main" val="188138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EE5A181-EA67-C6D5-8250-ED82E7D13CC1}"/>
              </a:ext>
            </a:extLst>
          </p:cNvPr>
          <p:cNvSpPr txBox="1"/>
          <p:nvPr/>
        </p:nvSpPr>
        <p:spPr>
          <a:xfrm>
            <a:off x="4659085" y="283421"/>
            <a:ext cx="2873829"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Introduction</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B1F3BC88-8D23-52E9-2B50-B62189EC34C8}"/>
              </a:ext>
            </a:extLst>
          </p:cNvPr>
          <p:cNvSpPr txBox="1"/>
          <p:nvPr/>
        </p:nvSpPr>
        <p:spPr>
          <a:xfrm>
            <a:off x="845573" y="1053253"/>
            <a:ext cx="10677833" cy="4247317"/>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Cooperative Drone Swarm Search and Rescue using Multi-Agent Reinforcement Learning and Swarm-Based Agent Simulation is an intelligent system that uses multiple autonomous drones to perform efficient search and rescue operations.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Multi-Agent Reinforcement Learning (MARL) is an AI technique in which multiple agents learn collaboratively and make intelligent decisions to achieve a common objective.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Swarm-Based Agent Simulation enables drones to coordinate, communicate, and perform tasks collectively without requiring centralized control.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The proposed system integrates MARL with swarm intelligence to enable autonomous navigation, cooperative search, and efficient task allocation among multiple drones.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Each drone shares real-time information with other drones to maximize search coverage, avoid redundant exploration, and improve overall mission performance.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Compared with conventional search methods and single-drone systems, the proposed framework provides faster target detection, better coordination, higher scalability, and improved operational efficiency.</a:t>
            </a:r>
            <a:endParaRPr lang="en-US" dirty="0">
              <a:solidFill>
                <a:schemeClr val="tx1">
                  <a:lumMod val="85000"/>
                  <a:lumOff val="15000"/>
                </a:schemeClr>
              </a:solidFill>
              <a:latin typeface="Cambria" panose="02040503050406030204" pitchFamily="18" charset="0"/>
              <a:ea typeface="Cambria" panose="02040503050406030204" pitchFamily="18" charset="0"/>
            </a:endParaRPr>
          </a:p>
          <a:p>
            <a:pPr algn="just"/>
            <a:endParaRPr lang="en-US" dirty="0">
              <a:solidFill>
                <a:srgbClr val="FF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931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30AAD2FB-1672-B38E-DE0A-21992D53C5CE}"/>
              </a:ext>
            </a:extLst>
          </p:cNvPr>
          <p:cNvGraphicFramePr>
            <a:graphicFrameLocks noGrp="1"/>
          </p:cNvGraphicFramePr>
          <p:nvPr>
            <p:extLst>
              <p:ext uri="{D42A27DB-BD31-4B8C-83A1-F6EECF244321}">
                <p14:modId xmlns:p14="http://schemas.microsoft.com/office/powerpoint/2010/main" val="1280435663"/>
              </p:ext>
            </p:extLst>
          </p:nvPr>
        </p:nvGraphicFramePr>
        <p:xfrm>
          <a:off x="231321" y="824140"/>
          <a:ext cx="11729357" cy="5390880"/>
        </p:xfrm>
        <a:graphic>
          <a:graphicData uri="http://schemas.openxmlformats.org/drawingml/2006/table">
            <a:tbl>
              <a:tblPr/>
              <a:tblGrid>
                <a:gridCol w="3780077">
                  <a:extLst>
                    <a:ext uri="{9D8B030D-6E8A-4147-A177-3AD203B41FA5}">
                      <a16:colId xmlns:a16="http://schemas.microsoft.com/office/drawing/2014/main" val="3379567841"/>
                    </a:ext>
                  </a:extLst>
                </a:gridCol>
                <a:gridCol w="3724486">
                  <a:extLst>
                    <a:ext uri="{9D8B030D-6E8A-4147-A177-3AD203B41FA5}">
                      <a16:colId xmlns:a16="http://schemas.microsoft.com/office/drawing/2014/main" val="1990139872"/>
                    </a:ext>
                  </a:extLst>
                </a:gridCol>
                <a:gridCol w="4224794">
                  <a:extLst>
                    <a:ext uri="{9D8B030D-6E8A-4147-A177-3AD203B41FA5}">
                      <a16:colId xmlns:a16="http://schemas.microsoft.com/office/drawing/2014/main" val="189062214"/>
                    </a:ext>
                  </a:extLst>
                </a:gridCol>
              </a:tblGrid>
              <a:tr h="202388">
                <a:tc>
                  <a:txBody>
                    <a:bodyPr/>
                    <a:lstStyle/>
                    <a:p>
                      <a:pPr algn="ctr" fontAlgn="ctr">
                        <a:buNone/>
                      </a:pPr>
                      <a:r>
                        <a:rPr lang="en-US"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Author(s), Year, Journal/Proceedings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Title</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Key Findings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7242679"/>
                  </a:ext>
                </a:extLst>
              </a:tr>
              <a:tr h="809551">
                <a:tc>
                  <a:txBody>
                    <a:bodyPr/>
                    <a:lstStyle/>
                    <a:p>
                      <a:pPr algn="ctr" fontAlgn="ctr">
                        <a:buNone/>
                      </a:pPr>
                      <a:r>
                        <a:rPr lang="en-IN" sz="1600" dirty="0">
                          <a:latin typeface="Cambria" panose="02040503050406030204" pitchFamily="18" charset="0"/>
                          <a:ea typeface="Cambria" panose="02040503050406030204" pitchFamily="18" charset="0"/>
                        </a:rPr>
                        <a:t>Hickling, T., Hogan, M., </a:t>
                      </a:r>
                      <a:r>
                        <a:rPr lang="en-IN" sz="1600" dirty="0" err="1">
                          <a:latin typeface="Cambria" panose="02040503050406030204" pitchFamily="18" charset="0"/>
                          <a:ea typeface="Cambria" panose="02040503050406030204" pitchFamily="18" charset="0"/>
                        </a:rPr>
                        <a:t>Tammam</a:t>
                      </a:r>
                      <a:r>
                        <a:rPr lang="en-IN" sz="1600" dirty="0">
                          <a:latin typeface="Cambria" panose="02040503050406030204" pitchFamily="18" charset="0"/>
                          <a:ea typeface="Cambria" panose="02040503050406030204" pitchFamily="18" charset="0"/>
                        </a:rPr>
                        <a:t>, A., &amp; </a:t>
                      </a:r>
                      <a:r>
                        <a:rPr lang="en-IN" sz="1600" dirty="0" err="1">
                          <a:latin typeface="Cambria" panose="02040503050406030204" pitchFamily="18" charset="0"/>
                          <a:ea typeface="Cambria" panose="02040503050406030204" pitchFamily="18" charset="0"/>
                        </a:rPr>
                        <a:t>Aouf</a:t>
                      </a:r>
                      <a:r>
                        <a:rPr lang="en-IN" sz="1600" dirty="0">
                          <a:latin typeface="Cambria" panose="02040503050406030204" pitchFamily="18" charset="0"/>
                          <a:ea typeface="Cambria" panose="02040503050406030204" pitchFamily="18" charset="0"/>
                        </a:rPr>
                        <a:t>, N., 2026, </a:t>
                      </a:r>
                      <a:r>
                        <a:rPr lang="en-IN" sz="1600" i="1" dirty="0">
                          <a:latin typeface="Cambria" panose="02040503050406030204" pitchFamily="18" charset="0"/>
                          <a:ea typeface="Cambria" panose="02040503050406030204" pitchFamily="18" charset="0"/>
                        </a:rPr>
                        <a:t>Journal of Field Robotics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Deep Reinforcement Learning Based Autonomous Decision-Making for Cooperative Uncrewed Aerial Vehicles: A Search and Rescue Real World Application</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Developed a deep reinforcement learning framework for cooperative UAVs capable of autonomous navigation, task allocation, and victim search in real-world search-and-rescue missions.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2546248"/>
                  </a:ext>
                </a:extLst>
              </a:tr>
              <a:tr h="708357">
                <a:tc>
                  <a:txBody>
                    <a:bodyPr/>
                    <a:lstStyle/>
                    <a:p>
                      <a:pPr algn="ctr" fontAlgn="ctr">
                        <a:buNone/>
                      </a:pPr>
                      <a:r>
                        <a:rPr lang="en-IN" sz="1600" dirty="0">
                          <a:latin typeface="Cambria" panose="02040503050406030204" pitchFamily="18" charset="0"/>
                          <a:ea typeface="Cambria" panose="02040503050406030204" pitchFamily="18" charset="0"/>
                        </a:rPr>
                        <a:t>Chen, C., Yan, S., Zhou, X., et al., 2026, </a:t>
                      </a:r>
                      <a:r>
                        <a:rPr lang="en-IN" sz="1600" i="1" dirty="0">
                          <a:latin typeface="Cambria" panose="02040503050406030204" pitchFamily="18" charset="0"/>
                          <a:ea typeface="Cambria" panose="02040503050406030204" pitchFamily="18" charset="0"/>
                        </a:rPr>
                        <a:t>Discover Robotics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Multi-stage Hierarchical Multi-Agent Reinforcement Learning for UAV-Quadruped Completing Search and Rescue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Proposed a hierarchical MARL architecture that enables UAVs and ground robots to cooperate efficiently during search-and-rescue operations with improved coordination and exploration.</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4637597"/>
                  </a:ext>
                </a:extLst>
              </a:tr>
              <a:tr h="607163">
                <a:tc>
                  <a:txBody>
                    <a:bodyPr/>
                    <a:lstStyle/>
                    <a:p>
                      <a:pPr algn="ctr" fontAlgn="ctr">
                        <a:buNone/>
                      </a:pPr>
                      <a:r>
                        <a:rPr lang="en-IN" sz="1600" dirty="0">
                          <a:latin typeface="Cambria" panose="02040503050406030204" pitchFamily="18" charset="0"/>
                          <a:ea typeface="Cambria" panose="02040503050406030204" pitchFamily="18" charset="0"/>
                        </a:rPr>
                        <a:t>Liu, M., Wei, J., &amp; Liu, K., 2024, </a:t>
                      </a:r>
                      <a:r>
                        <a:rPr lang="en-IN" sz="1600" i="1" dirty="0">
                          <a:latin typeface="Cambria" panose="02040503050406030204" pitchFamily="18" charset="0"/>
                          <a:ea typeface="Cambria" panose="02040503050406030204" pitchFamily="18" charset="0"/>
                        </a:rPr>
                        <a:t>Drones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A Two-Stage Target Search and Tracking Method for UAV Based on Deep Reinforcement Learning</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Introduced a two-stage reinforcement learning model for target search and tracking that improved navigation accuracy and target-following performance.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7559347"/>
                  </a:ext>
                </a:extLst>
              </a:tr>
              <a:tr h="607163">
                <a:tc>
                  <a:txBody>
                    <a:bodyPr/>
                    <a:lstStyle/>
                    <a:p>
                      <a:pPr algn="ctr" fontAlgn="ctr">
                        <a:buNone/>
                      </a:pPr>
                      <a:r>
                        <a:rPr lang="en-IN" sz="1600" dirty="0">
                          <a:latin typeface="Cambria" panose="02040503050406030204" pitchFamily="18" charset="0"/>
                          <a:ea typeface="Cambria" panose="02040503050406030204" pitchFamily="18" charset="0"/>
                        </a:rPr>
                        <a:t>Sadhu, V., Sun, C., Karimian, A., Tron, R., &amp; Pompili, D., (2024) </a:t>
                      </a:r>
                      <a:r>
                        <a:rPr lang="en-IN" sz="1600" i="1" dirty="0">
                          <a:latin typeface="Cambria" panose="02040503050406030204" pitchFamily="18" charset="0"/>
                          <a:ea typeface="Cambria" panose="02040503050406030204" pitchFamily="18" charset="0"/>
                        </a:rPr>
                        <a:t>IEEE Conference Proceedings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Aerial-Deep Search: Distributed Multi-Agent Deep Reinforcement Learning for Search Missions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Presented a distributed deep reinforcement learning framework allowing multiple UAVs to cooperate efficiently while exploring unknown environments.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1874380"/>
                  </a:ext>
                </a:extLst>
              </a:tr>
              <a:tr h="708357">
                <a:tc>
                  <a:txBody>
                    <a:bodyPr/>
                    <a:lstStyle/>
                    <a:p>
                      <a:pPr algn="ctr" fontAlgn="ctr">
                        <a:buNone/>
                      </a:pPr>
                      <a:r>
                        <a:rPr lang="en-IN" sz="1600" dirty="0">
                          <a:latin typeface="Cambria" panose="02040503050406030204" pitchFamily="18" charset="0"/>
                          <a:ea typeface="Cambria" panose="02040503050406030204" pitchFamily="18" charset="0"/>
                        </a:rPr>
                        <a:t>Han, S., Liu, X., Zhou, M. C., et al., 2024, </a:t>
                      </a:r>
                      <a:r>
                        <a:rPr lang="en-IN" sz="1600" i="1" dirty="0">
                          <a:latin typeface="Cambria" panose="02040503050406030204" pitchFamily="18" charset="0"/>
                          <a:ea typeface="Cambria" panose="02040503050406030204" pitchFamily="18" charset="0"/>
                        </a:rPr>
                        <a:t>IEEE Internet of Things Journal</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Joint Association, Deployment and Flight Trajectory Optimization for Multi-UAV Enabled Large-Scale Mobile Edge Computing</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600" dirty="0">
                          <a:latin typeface="Cambria" panose="02040503050406030204" pitchFamily="18" charset="0"/>
                          <a:ea typeface="Cambria" panose="02040503050406030204" pitchFamily="18" charset="0"/>
                        </a:rPr>
                        <a:t>Proposed optimized UAV deployment and trajectory planning to improve communication efficiency and cooperative mission performance.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35606414"/>
                  </a:ext>
                </a:extLst>
              </a:tr>
            </a:tbl>
          </a:graphicData>
        </a:graphic>
      </p:graphicFrame>
      <p:sp>
        <p:nvSpPr>
          <p:cNvPr id="12" name="TextBox 11">
            <a:extLst>
              <a:ext uri="{FF2B5EF4-FFF2-40B4-BE49-F238E27FC236}">
                <a16:creationId xmlns:a16="http://schemas.microsoft.com/office/drawing/2014/main" id="{4A2ACC86-2FAE-F7FE-7D6B-DECA40382D9A}"/>
              </a:ext>
            </a:extLst>
          </p:cNvPr>
          <p:cNvSpPr txBox="1"/>
          <p:nvPr/>
        </p:nvSpPr>
        <p:spPr>
          <a:xfrm>
            <a:off x="4283527" y="150900"/>
            <a:ext cx="3624944"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Literature Survey</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82437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C2F93-A799-FE20-41B9-85B0565740E4}"/>
            </a:ext>
          </a:extLst>
        </p:cNvPr>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078D176B-076C-B694-385C-81CB255C33E1}"/>
              </a:ext>
            </a:extLst>
          </p:cNvPr>
          <p:cNvGraphicFramePr>
            <a:graphicFrameLocks noGrp="1"/>
          </p:cNvGraphicFramePr>
          <p:nvPr>
            <p:extLst>
              <p:ext uri="{D42A27DB-BD31-4B8C-83A1-F6EECF244321}">
                <p14:modId xmlns:p14="http://schemas.microsoft.com/office/powerpoint/2010/main" val="3781704503"/>
              </p:ext>
            </p:extLst>
          </p:nvPr>
        </p:nvGraphicFramePr>
        <p:xfrm>
          <a:off x="231320" y="1217430"/>
          <a:ext cx="11729357" cy="4732991"/>
        </p:xfrm>
        <a:graphic>
          <a:graphicData uri="http://schemas.openxmlformats.org/drawingml/2006/table">
            <a:tbl>
              <a:tblPr/>
              <a:tblGrid>
                <a:gridCol w="3780077">
                  <a:extLst>
                    <a:ext uri="{9D8B030D-6E8A-4147-A177-3AD203B41FA5}">
                      <a16:colId xmlns:a16="http://schemas.microsoft.com/office/drawing/2014/main" val="3379567841"/>
                    </a:ext>
                  </a:extLst>
                </a:gridCol>
                <a:gridCol w="3724486">
                  <a:extLst>
                    <a:ext uri="{9D8B030D-6E8A-4147-A177-3AD203B41FA5}">
                      <a16:colId xmlns:a16="http://schemas.microsoft.com/office/drawing/2014/main" val="1990139872"/>
                    </a:ext>
                  </a:extLst>
                </a:gridCol>
                <a:gridCol w="4224794">
                  <a:extLst>
                    <a:ext uri="{9D8B030D-6E8A-4147-A177-3AD203B41FA5}">
                      <a16:colId xmlns:a16="http://schemas.microsoft.com/office/drawing/2014/main" val="189062214"/>
                    </a:ext>
                  </a:extLst>
                </a:gridCol>
              </a:tblGrid>
              <a:tr h="202388">
                <a:tc>
                  <a:txBody>
                    <a:bodyPr/>
                    <a:lstStyle/>
                    <a:p>
                      <a:pPr algn="l" fontAlgn="ctr">
                        <a:buNone/>
                      </a:pPr>
                      <a:r>
                        <a:rPr lang="en-US"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Author(s), Year, Journal/Proceedings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Title</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b="1" i="0" u="none" strike="noStrike">
                          <a:solidFill>
                            <a:schemeClr val="tx1">
                              <a:lumMod val="85000"/>
                              <a:lumOff val="15000"/>
                            </a:schemeClr>
                          </a:solidFill>
                          <a:effectLst/>
                          <a:latin typeface="Cambria" panose="02040503050406030204" pitchFamily="18" charset="0"/>
                          <a:ea typeface="Cambria" panose="02040503050406030204" pitchFamily="18" charset="0"/>
                        </a:rPr>
                        <a:t>Key Findings</a:t>
                      </a: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77242679"/>
                  </a:ext>
                </a:extLst>
              </a:tr>
              <a:tr h="809551">
                <a:tc>
                  <a:txBody>
                    <a:bodyPr/>
                    <a:lstStyle/>
                    <a:p>
                      <a:pPr algn="l" fontAlgn="ctr">
                        <a:buNone/>
                      </a:pPr>
                      <a:r>
                        <a:rPr lang="en-IN" sz="1600" dirty="0">
                          <a:latin typeface="Cambria" panose="02040503050406030204" pitchFamily="18" charset="0"/>
                          <a:ea typeface="Cambria" panose="02040503050406030204" pitchFamily="18" charset="0"/>
                        </a:rPr>
                        <a:t>Chung, S. J., Paranjape, A. A., Dames, P., Shen, S., &amp; Kumar, V., 2018, </a:t>
                      </a:r>
                      <a:r>
                        <a:rPr lang="en-IN" sz="1600" i="1" dirty="0">
                          <a:latin typeface="Cambria" panose="02040503050406030204" pitchFamily="18" charset="0"/>
                          <a:ea typeface="Cambria" panose="02040503050406030204" pitchFamily="18" charset="0"/>
                        </a:rPr>
                        <a:t>IEEE Robotics and Automation Magazine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A Survey on Aerial Swarm Robotics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Reviewed aerial swarm architectures, autonomous coordination, distributed control, communication methods, and future applications of UAV swarms.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3462294"/>
                  </a:ext>
                </a:extLst>
              </a:tr>
              <a:tr h="809551">
                <a:tc>
                  <a:txBody>
                    <a:bodyPr/>
                    <a:lstStyle/>
                    <a:p>
                      <a:pPr algn="l" fontAlgn="ctr">
                        <a:buNone/>
                      </a:pPr>
                      <a:r>
                        <a:rPr lang="en-IN" sz="1600" dirty="0">
                          <a:latin typeface="Cambria" panose="02040503050406030204" pitchFamily="18" charset="0"/>
                          <a:ea typeface="Cambria" panose="02040503050406030204" pitchFamily="18" charset="0"/>
                        </a:rPr>
                        <a:t>Gupta, L., Jain, R., &amp; </a:t>
                      </a:r>
                      <a:r>
                        <a:rPr lang="en-IN" sz="1600" dirty="0" err="1">
                          <a:latin typeface="Cambria" panose="02040503050406030204" pitchFamily="18" charset="0"/>
                          <a:ea typeface="Cambria" panose="02040503050406030204" pitchFamily="18" charset="0"/>
                        </a:rPr>
                        <a:t>Vaszkun</a:t>
                      </a:r>
                      <a:r>
                        <a:rPr lang="en-IN" sz="1600" dirty="0">
                          <a:latin typeface="Cambria" panose="02040503050406030204" pitchFamily="18" charset="0"/>
                          <a:ea typeface="Cambria" panose="02040503050406030204" pitchFamily="18" charset="0"/>
                        </a:rPr>
                        <a:t>, G., 2016, </a:t>
                      </a:r>
                      <a:r>
                        <a:rPr lang="en-IN" sz="1600" i="1" dirty="0">
                          <a:latin typeface="Cambria" panose="02040503050406030204" pitchFamily="18" charset="0"/>
                          <a:ea typeface="Cambria" panose="02040503050406030204" pitchFamily="18" charset="0"/>
                        </a:rPr>
                        <a:t>IEEE Access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Survey of Important Issues in UAV Communication Networks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Reviewed UAV communication technologies, swarm networking, coordination strategies, and challenges for autonomous multi-UAV systems.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32546248"/>
                  </a:ext>
                </a:extLst>
              </a:tr>
              <a:tr h="708357">
                <a:tc>
                  <a:txBody>
                    <a:bodyPr/>
                    <a:lstStyle/>
                    <a:p>
                      <a:pPr algn="l" fontAlgn="ctr">
                        <a:buNone/>
                      </a:pPr>
                      <a:r>
                        <a:rPr lang="en-IN" sz="1600" dirty="0">
                          <a:latin typeface="Cambria" panose="02040503050406030204" pitchFamily="18" charset="0"/>
                          <a:ea typeface="Cambria" panose="02040503050406030204" pitchFamily="18" charset="0"/>
                        </a:rPr>
                        <a:t>Dorigo, M., </a:t>
                      </a:r>
                      <a:r>
                        <a:rPr lang="en-IN" sz="1600" dirty="0" err="1">
                          <a:latin typeface="Cambria" panose="02040503050406030204" pitchFamily="18" charset="0"/>
                          <a:ea typeface="Cambria" panose="02040503050406030204" pitchFamily="18" charset="0"/>
                        </a:rPr>
                        <a:t>Birattari</a:t>
                      </a:r>
                      <a:r>
                        <a:rPr lang="en-IN" sz="1600" dirty="0">
                          <a:latin typeface="Cambria" panose="02040503050406030204" pitchFamily="18" charset="0"/>
                          <a:ea typeface="Cambria" panose="02040503050406030204" pitchFamily="18" charset="0"/>
                        </a:rPr>
                        <a:t>, M., &amp; Brambilla, M., 2014, </a:t>
                      </a:r>
                      <a:r>
                        <a:rPr lang="en-IN" sz="1600" i="1" dirty="0">
                          <a:latin typeface="Cambria" panose="02040503050406030204" pitchFamily="18" charset="0"/>
                          <a:ea typeface="Cambria" panose="02040503050406030204" pitchFamily="18" charset="0"/>
                        </a:rPr>
                        <a:t>Swarm Intelligence</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Swarm Robotics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Explained swarm intelligence principles, decentralized coordination, collective decision-making, and cooperative </a:t>
                      </a:r>
                      <a:r>
                        <a:rPr lang="en-IN" sz="1600" dirty="0" err="1">
                          <a:latin typeface="Cambria" panose="02040503050406030204" pitchFamily="18" charset="0"/>
                          <a:ea typeface="Cambria" panose="02040503050406030204" pitchFamily="18" charset="0"/>
                        </a:rPr>
                        <a:t>behavior</a:t>
                      </a:r>
                      <a:r>
                        <a:rPr lang="en-IN" sz="1600" dirty="0">
                          <a:latin typeface="Cambria" panose="02040503050406030204" pitchFamily="18" charset="0"/>
                          <a:ea typeface="Cambria" panose="02040503050406030204" pitchFamily="18" charset="0"/>
                        </a:rPr>
                        <a:t> for multi-robot systems.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64637597"/>
                  </a:ext>
                </a:extLst>
              </a:tr>
              <a:tr h="607163">
                <a:tc>
                  <a:txBody>
                    <a:bodyPr/>
                    <a:lstStyle/>
                    <a:p>
                      <a:pPr algn="l" fontAlgn="ctr">
                        <a:buNone/>
                      </a:pPr>
                      <a:r>
                        <a:rPr lang="en-IN" sz="1600" dirty="0">
                          <a:latin typeface="Cambria" panose="02040503050406030204" pitchFamily="18" charset="0"/>
                          <a:ea typeface="Cambria" panose="02040503050406030204" pitchFamily="18" charset="0"/>
                        </a:rPr>
                        <a:t>Yang, L., et al., 2014, </a:t>
                      </a:r>
                      <a:r>
                        <a:rPr lang="en-IN" sz="1600" i="1" dirty="0">
                          <a:latin typeface="Cambria" panose="02040503050406030204" pitchFamily="18" charset="0"/>
                          <a:ea typeface="Cambria" panose="02040503050406030204" pitchFamily="18" charset="0"/>
                        </a:rPr>
                        <a:t>Chinese Journal of Aeronautics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A LODBO Algorithm for Multi-UAV Search and Rescue Path Planning</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Proposed an optimized path-planning algorithm that reduced travel distance and improved cooperative search efficiency for multiple UAVs.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27559347"/>
                  </a:ext>
                </a:extLst>
              </a:tr>
              <a:tr h="607163">
                <a:tc>
                  <a:txBody>
                    <a:bodyPr/>
                    <a:lstStyle/>
                    <a:p>
                      <a:pPr algn="l" fontAlgn="ctr">
                        <a:buNone/>
                      </a:pPr>
                      <a:r>
                        <a:rPr lang="en-IN" sz="1600" dirty="0">
                          <a:latin typeface="Cambria" panose="02040503050406030204" pitchFamily="18" charset="0"/>
                          <a:ea typeface="Cambria" panose="02040503050406030204" pitchFamily="18" charset="0"/>
                        </a:rPr>
                        <a:t>Cao, Y. U., Fukunaga, A. S., &amp; Kahng, A. B., 1997, </a:t>
                      </a:r>
                      <a:r>
                        <a:rPr lang="en-IN" sz="1600" i="1" dirty="0">
                          <a:latin typeface="Cambria" panose="02040503050406030204" pitchFamily="18" charset="0"/>
                          <a:ea typeface="Cambria" panose="02040503050406030204" pitchFamily="18" charset="0"/>
                        </a:rPr>
                        <a:t>Autonomous Robots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Cooperative Mobile Robotics: Antecedents and Directions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1600" dirty="0">
                          <a:latin typeface="Cambria" panose="02040503050406030204" pitchFamily="18" charset="0"/>
                          <a:ea typeface="Cambria" panose="02040503050406030204" pitchFamily="18" charset="0"/>
                        </a:rPr>
                        <a:t>Discussed cooperative robot architectures, task allocation, distributed control, and collaboration strategies that form the basis of modern multi-agent robotic systems.</a:t>
                      </a:r>
                      <a:endParaRPr lang="en-US" sz="1600" b="0" i="0" u="none" strike="noStrike" dirty="0">
                        <a:solidFill>
                          <a:schemeClr val="tx1">
                            <a:lumMod val="85000"/>
                            <a:lumOff val="15000"/>
                          </a:schemeClr>
                        </a:solidFill>
                        <a:effectLst/>
                        <a:latin typeface="Cambria" panose="02040503050406030204" pitchFamily="18" charset="0"/>
                        <a:ea typeface="Cambria" panose="02040503050406030204" pitchFamily="18" charset="0"/>
                      </a:endParaRPr>
                    </a:p>
                  </a:txBody>
                  <a:tcPr marL="4400" marR="4400" marT="440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1874380"/>
                  </a:ext>
                </a:extLst>
              </a:tr>
            </a:tbl>
          </a:graphicData>
        </a:graphic>
      </p:graphicFrame>
      <p:sp>
        <p:nvSpPr>
          <p:cNvPr id="12" name="TextBox 11">
            <a:extLst>
              <a:ext uri="{FF2B5EF4-FFF2-40B4-BE49-F238E27FC236}">
                <a16:creationId xmlns:a16="http://schemas.microsoft.com/office/drawing/2014/main" id="{29024FF1-CC16-1D0E-19F2-A1998F927247}"/>
              </a:ext>
            </a:extLst>
          </p:cNvPr>
          <p:cNvSpPr txBox="1"/>
          <p:nvPr/>
        </p:nvSpPr>
        <p:spPr>
          <a:xfrm>
            <a:off x="4283527" y="150900"/>
            <a:ext cx="3624944"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Literature Survey</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71032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5D3A393-C3AE-A646-62B7-6FB37B6160BE}"/>
              </a:ext>
            </a:extLst>
          </p:cNvPr>
          <p:cNvSpPr txBox="1"/>
          <p:nvPr/>
        </p:nvSpPr>
        <p:spPr>
          <a:xfrm>
            <a:off x="4407262" y="660611"/>
            <a:ext cx="3834675"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Problem Statement</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88F24EE7-A202-0AD1-5378-FB771210F28B}"/>
              </a:ext>
            </a:extLst>
          </p:cNvPr>
          <p:cNvSpPr txBox="1"/>
          <p:nvPr/>
        </p:nvSpPr>
        <p:spPr>
          <a:xfrm>
            <a:off x="1409946" y="1554576"/>
            <a:ext cx="9372108" cy="2031325"/>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Existing search and rescue systems and single-drone approaches suffer from limited coverage, inefficient coordination, and increased search time, reducing the overall effectiveness of rescue missions.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There is a need for an intelligent cooperative drone swarm system using Multi-Agent Reinforcement Learning and swarm-based agent simulation to improve coordination, maximize search coverage, optimize path planning, and enhance search and rescue efficiency. </a:t>
            </a:r>
            <a:endParaRPr lang="en-IN" dirty="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32581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A847DE-93F8-FC33-95AE-206442B30B17}"/>
              </a:ext>
            </a:extLst>
          </p:cNvPr>
          <p:cNvSpPr txBox="1"/>
          <p:nvPr/>
        </p:nvSpPr>
        <p:spPr>
          <a:xfrm>
            <a:off x="4659085" y="283421"/>
            <a:ext cx="2873829" cy="584775"/>
          </a:xfrm>
          <a:prstGeom prst="rect">
            <a:avLst/>
          </a:prstGeom>
          <a:noFill/>
        </p:spPr>
        <p:txBody>
          <a:bodyPr wrap="square">
            <a:spAutoFit/>
          </a:bodyPr>
          <a:lstStyle/>
          <a:p>
            <a:pPr lvl="0" fontAlgn="base"/>
            <a:r>
              <a:rPr lang="en-US" sz="3200" b="1" cap="small" dirty="0">
                <a:solidFill>
                  <a:schemeClr val="accent1">
                    <a:lumMod val="75000"/>
                  </a:schemeClr>
                </a:solidFill>
                <a:latin typeface="Cambria" panose="02040503050406030204" pitchFamily="18" charset="0"/>
                <a:ea typeface="Cambria" panose="02040503050406030204" pitchFamily="18" charset="0"/>
              </a:rPr>
              <a:t>Objectives</a:t>
            </a:r>
            <a:endParaRPr lang="en-IN" sz="3200" b="1" cap="small" dirty="0">
              <a:solidFill>
                <a:schemeClr val="accent1">
                  <a:lumMod val="75000"/>
                </a:schemeClr>
              </a:solidFill>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30202DDE-D1F4-1E6D-CF46-80B4B20E1F26}"/>
              </a:ext>
            </a:extLst>
          </p:cNvPr>
          <p:cNvSpPr txBox="1"/>
          <p:nvPr/>
        </p:nvSpPr>
        <p:spPr>
          <a:xfrm>
            <a:off x="1394213" y="1564407"/>
            <a:ext cx="9175463" cy="1754326"/>
          </a:xfrm>
          <a:prstGeom prst="rect">
            <a:avLst/>
          </a:prstGeom>
          <a:noFill/>
        </p:spPr>
        <p:txBody>
          <a:bodyPr wrap="square">
            <a:spAutoFit/>
          </a:bodyPr>
          <a:lstStyle/>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To develop a cooperative drone swarm system using Multi-Agent Reinforcement Learning (MARL) for autonomous search and rescue operations.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To implement swarm-based coordination for efficient communication, task allocation, path planning, and maximum search area coverage among multiple drones. </a:t>
            </a:r>
          </a:p>
          <a:p>
            <a:pPr marL="28575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To improve target detection accuracy, reduce search time, and enhance the overall efficiency and reliability of cooperative drone swarm missions. </a:t>
            </a:r>
            <a:endParaRPr lang="en-IN" dirty="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84994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DED0D-AC0B-D3BC-CA42-A1CC6CAF623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B187BF7-6170-BAAA-B235-55F11DCC17BF}"/>
              </a:ext>
            </a:extLst>
          </p:cNvPr>
          <p:cNvSpPr txBox="1"/>
          <p:nvPr/>
        </p:nvSpPr>
        <p:spPr>
          <a:xfrm>
            <a:off x="4218214" y="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9CB3A801-58DC-2B27-FD84-7D0535D55244}"/>
              </a:ext>
            </a:extLst>
          </p:cNvPr>
          <p:cNvSpPr txBox="1"/>
          <p:nvPr/>
        </p:nvSpPr>
        <p:spPr>
          <a:xfrm>
            <a:off x="5862607" y="1295529"/>
            <a:ext cx="4813300" cy="3970318"/>
          </a:xfrm>
          <a:prstGeom prst="rect">
            <a:avLst/>
          </a:prstGeom>
          <a:noFill/>
        </p:spPr>
        <p:txBody>
          <a:bodyPr wrap="square">
            <a:spAutoFit/>
          </a:bodyPr>
          <a:lstStyle/>
          <a:p>
            <a:pPr marL="342900" lvl="0" indent="-342900" algn="just">
              <a:buFont typeface="+mj-lt"/>
              <a:buAutoNum type="arabicPeriod"/>
            </a:pPr>
            <a:r>
              <a:rPr lang="en-IN" b="1" dirty="0">
                <a:latin typeface="Cambria" panose="02040503050406030204" pitchFamily="18" charset="0"/>
                <a:ea typeface="Cambria" panose="02040503050406030204" pitchFamily="18" charset="0"/>
              </a:rPr>
              <a:t>Define Environment</a:t>
            </a:r>
            <a:r>
              <a:rPr lang="en-IN" dirty="0">
                <a:latin typeface="Cambria" panose="02040503050406030204" pitchFamily="18" charset="0"/>
                <a:ea typeface="Cambria" panose="02040503050406030204" pitchFamily="18" charset="0"/>
              </a:rPr>
              <a:t> – Set the search area, obstacles, and target locations. </a:t>
            </a:r>
          </a:p>
          <a:p>
            <a:pPr marL="342900" lvl="0" indent="-342900" algn="just">
              <a:buFont typeface="+mj-lt"/>
              <a:buAutoNum type="arabicPeriod"/>
            </a:pPr>
            <a:r>
              <a:rPr lang="en-IN" b="1" dirty="0">
                <a:latin typeface="Cambria" panose="02040503050406030204" pitchFamily="18" charset="0"/>
                <a:ea typeface="Cambria" panose="02040503050406030204" pitchFamily="18" charset="0"/>
              </a:rPr>
              <a:t>Initialize Drone Swarm</a:t>
            </a:r>
            <a:r>
              <a:rPr lang="en-IN" dirty="0">
                <a:latin typeface="Cambria" panose="02040503050406030204" pitchFamily="18" charset="0"/>
                <a:ea typeface="Cambria" panose="02040503050406030204" pitchFamily="18" charset="0"/>
              </a:rPr>
              <a:t> – Set drone number, positions, battery, and sensor range. </a:t>
            </a:r>
          </a:p>
          <a:p>
            <a:pPr marL="342900" lvl="0" indent="-342900" algn="just">
              <a:buFont typeface="+mj-lt"/>
              <a:buAutoNum type="arabicPeriod"/>
            </a:pPr>
            <a:r>
              <a:rPr lang="en-IN" b="1" dirty="0">
                <a:latin typeface="Cambria" panose="02040503050406030204" pitchFamily="18" charset="0"/>
                <a:ea typeface="Cambria" panose="02040503050406030204" pitchFamily="18" charset="0"/>
              </a:rPr>
              <a:t>Swarm Coordination &amp; MARL</a:t>
            </a:r>
            <a:r>
              <a:rPr lang="en-IN" dirty="0">
                <a:latin typeface="Cambria" panose="02040503050406030204" pitchFamily="18" charset="0"/>
                <a:ea typeface="Cambria" panose="02040503050406030204" pitchFamily="18" charset="0"/>
              </a:rPr>
              <a:t> – Coordinate drones and select optimal actions. </a:t>
            </a:r>
          </a:p>
          <a:p>
            <a:pPr marL="342900" lvl="0" indent="-342900" algn="just">
              <a:buFont typeface="+mj-lt"/>
              <a:buAutoNum type="arabicPeriod"/>
            </a:pPr>
            <a:r>
              <a:rPr lang="en-IN" b="1" dirty="0">
                <a:latin typeface="Cambria" panose="02040503050406030204" pitchFamily="18" charset="0"/>
                <a:ea typeface="Cambria" panose="02040503050406030204" pitchFamily="18" charset="0"/>
              </a:rPr>
              <a:t>Reward &amp; State Update</a:t>
            </a:r>
            <a:r>
              <a:rPr lang="en-IN" dirty="0">
                <a:latin typeface="Cambria" panose="02040503050406030204" pitchFamily="18" charset="0"/>
                <a:ea typeface="Cambria" panose="02040503050406030204" pitchFamily="18" charset="0"/>
              </a:rPr>
              <a:t> – Calculate rewards and update drone states and Q-values. </a:t>
            </a:r>
          </a:p>
          <a:p>
            <a:pPr marL="342900" lvl="0" indent="-342900" algn="just">
              <a:buFont typeface="+mj-lt"/>
              <a:buAutoNum type="arabicPeriod"/>
            </a:pPr>
            <a:r>
              <a:rPr lang="en-IN" b="1" dirty="0">
                <a:latin typeface="Cambria" panose="02040503050406030204" pitchFamily="18" charset="0"/>
                <a:ea typeface="Cambria" panose="02040503050406030204" pitchFamily="18" charset="0"/>
              </a:rPr>
              <a:t>Search &amp; Output</a:t>
            </a:r>
            <a:r>
              <a:rPr lang="en-IN" dirty="0">
                <a:latin typeface="Cambria" panose="02040503050406030204" pitchFamily="18" charset="0"/>
                <a:ea typeface="Cambria" panose="02040503050406030204" pitchFamily="18" charset="0"/>
              </a:rPr>
              <a:t> – Repeat until completion, then display trajectories, coverage map, and results. </a:t>
            </a:r>
          </a:p>
        </p:txBody>
      </p:sp>
      <p:pic>
        <p:nvPicPr>
          <p:cNvPr id="6" name="Picture 5">
            <a:extLst>
              <a:ext uri="{FF2B5EF4-FFF2-40B4-BE49-F238E27FC236}">
                <a16:creationId xmlns:a16="http://schemas.microsoft.com/office/drawing/2014/main" id="{89128321-F8C6-1F23-90B7-05CB1DD6F782}"/>
              </a:ext>
            </a:extLst>
          </p:cNvPr>
          <p:cNvPicPr>
            <a:picLocks noChangeAspect="1"/>
          </p:cNvPicPr>
          <p:nvPr/>
        </p:nvPicPr>
        <p:blipFill>
          <a:blip r:embed="rId2"/>
          <a:srcRect l="7278" r="10006"/>
          <a:stretch>
            <a:fillRect/>
          </a:stretch>
        </p:blipFill>
        <p:spPr>
          <a:xfrm>
            <a:off x="845820" y="153383"/>
            <a:ext cx="3989070" cy="6704617"/>
          </a:xfrm>
          <a:prstGeom prst="rect">
            <a:avLst/>
          </a:prstGeom>
        </p:spPr>
      </p:pic>
    </p:spTree>
    <p:extLst>
      <p:ext uri="{BB962C8B-B14F-4D97-AF65-F5344CB8AC3E}">
        <p14:creationId xmlns:p14="http://schemas.microsoft.com/office/powerpoint/2010/main" val="347044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58430-F853-5E6D-1098-D7B812B7903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85B5D1E-F0BD-3C3D-CFBF-DBAC1DD8B126}"/>
              </a:ext>
            </a:extLst>
          </p:cNvPr>
          <p:cNvSpPr txBox="1"/>
          <p:nvPr/>
        </p:nvSpPr>
        <p:spPr>
          <a:xfrm>
            <a:off x="3972743" y="25527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6" name="TextBox 5">
            <a:extLst>
              <a:ext uri="{FF2B5EF4-FFF2-40B4-BE49-F238E27FC236}">
                <a16:creationId xmlns:a16="http://schemas.microsoft.com/office/drawing/2014/main" id="{DA7600ED-1052-5320-A7EE-DB79823FDC9C}"/>
              </a:ext>
            </a:extLst>
          </p:cNvPr>
          <p:cNvSpPr txBox="1"/>
          <p:nvPr/>
        </p:nvSpPr>
        <p:spPr>
          <a:xfrm>
            <a:off x="1527867" y="1364555"/>
            <a:ext cx="9667126" cy="4401205"/>
          </a:xfrm>
          <a:prstGeom prst="rect">
            <a:avLst/>
          </a:prstGeom>
          <a:noFill/>
        </p:spPr>
        <p:txBody>
          <a:bodyPr wrap="square">
            <a:spAutoFit/>
          </a:bodyPr>
          <a:lstStyle/>
          <a:p>
            <a:pPr>
              <a:buNone/>
            </a:pPr>
            <a:r>
              <a:rPr lang="en-IN" sz="2000" b="1" dirty="0">
                <a:latin typeface="Cambria" panose="02040503050406030204" pitchFamily="18" charset="0"/>
                <a:ea typeface="Cambria" panose="02040503050406030204" pitchFamily="18" charset="0"/>
              </a:rPr>
              <a:t>Proposed Algorithm for Cooperative Drone Swarm</a:t>
            </a:r>
          </a:p>
          <a:p>
            <a:pPr>
              <a:buNone/>
            </a:pPr>
            <a:endParaRPr lang="en-IN" sz="2000" b="1" dirty="0">
              <a:latin typeface="Cambria" panose="02040503050406030204" pitchFamily="18" charset="0"/>
              <a:ea typeface="Cambria" panose="02040503050406030204" pitchFamily="18" charset="0"/>
            </a:endParaRPr>
          </a:p>
          <a:p>
            <a:pPr>
              <a:buNone/>
            </a:pPr>
            <a:r>
              <a:rPr lang="en-IN" sz="2000" b="1" dirty="0">
                <a:latin typeface="Cambria" panose="02040503050406030204" pitchFamily="18" charset="0"/>
                <a:ea typeface="Cambria" panose="02040503050406030204" pitchFamily="18" charset="0"/>
              </a:rPr>
              <a:t>Step 1: Define Environment and Drone Swarm</a:t>
            </a:r>
          </a:p>
          <a:p>
            <a:pPr>
              <a:buNone/>
            </a:pPr>
            <a:r>
              <a:rPr lang="en-IN" sz="2000" dirty="0">
                <a:latin typeface="Cambria" panose="02040503050406030204" pitchFamily="18" charset="0"/>
                <a:ea typeface="Cambria" panose="02040503050406030204" pitchFamily="18" charset="0"/>
              </a:rPr>
              <a:t>Let</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E = Search Environment </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D={D1​,D2​,...,Dn​} = Set of Drones </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T={T1​,T2​,...,Tm​} = Target Locations </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O = Obstacles </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Bi​ = Battery level of drone Di​ </a:t>
            </a:r>
          </a:p>
          <a:p>
            <a:pPr marL="342900" lvl="0" indent="-342900">
              <a:buFont typeface="Arial" panose="020B0604020202020204" pitchFamily="34" charset="0"/>
              <a:buChar char="•"/>
            </a:pPr>
            <a:r>
              <a:rPr lang="en-IN" sz="2000" dirty="0">
                <a:latin typeface="Cambria" panose="02040503050406030204" pitchFamily="18" charset="0"/>
                <a:ea typeface="Cambria" panose="02040503050406030204" pitchFamily="18" charset="0"/>
              </a:rPr>
              <a:t>Ri​ = Sensor range of drone Di​ </a:t>
            </a:r>
          </a:p>
          <a:p>
            <a:pPr marL="342900" lvl="0" indent="-342900">
              <a:buFont typeface="Arial" panose="020B0604020202020204" pitchFamily="34" charset="0"/>
              <a:buChar char="•"/>
            </a:pPr>
            <a:endParaRPr lang="en-IN" sz="2000" dirty="0">
              <a:latin typeface="Cambria" panose="02040503050406030204" pitchFamily="18" charset="0"/>
              <a:ea typeface="Cambria" panose="02040503050406030204" pitchFamily="18" charset="0"/>
            </a:endParaRPr>
          </a:p>
          <a:p>
            <a:pPr>
              <a:buNone/>
            </a:pPr>
            <a:r>
              <a:rPr lang="en-IN" sz="2000" dirty="0">
                <a:latin typeface="Cambria" panose="02040503050406030204" pitchFamily="18" charset="0"/>
                <a:ea typeface="Cambria" panose="02040503050406030204" pitchFamily="18" charset="0"/>
              </a:rPr>
              <a:t>The environment consists of a predefined search area containing obstacles and unknown target locations.</a:t>
            </a:r>
          </a:p>
          <a:p>
            <a:pPr>
              <a:buNone/>
            </a:pPr>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22589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EE431-EA3C-BB2B-B8EE-02AA2EFE4BD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3C6D3AB-83CF-C7B9-04A5-1A7FFE235819}"/>
              </a:ext>
            </a:extLst>
          </p:cNvPr>
          <p:cNvSpPr txBox="1"/>
          <p:nvPr/>
        </p:nvSpPr>
        <p:spPr>
          <a:xfrm>
            <a:off x="3972743" y="25527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0C91E90-D041-B2EF-8BAE-2799911496E4}"/>
                  </a:ext>
                </a:extLst>
              </p:cNvPr>
              <p:cNvSpPr txBox="1"/>
              <p:nvPr/>
            </p:nvSpPr>
            <p:spPr>
              <a:xfrm>
                <a:off x="1440237" y="765690"/>
                <a:ext cx="9667126" cy="6186309"/>
              </a:xfrm>
              <a:prstGeom prst="rect">
                <a:avLst/>
              </a:prstGeom>
              <a:noFill/>
            </p:spPr>
            <p:txBody>
              <a:bodyPr wrap="square">
                <a:spAutoFit/>
              </a:bodyPr>
              <a:lstStyle/>
              <a:p>
                <a:pPr>
                  <a:buNone/>
                </a:pPr>
                <a:endParaRPr lang="en-IN" dirty="0">
                  <a:latin typeface="Cambria" panose="02040503050406030204" pitchFamily="18" charset="0"/>
                  <a:ea typeface="Cambria" panose="02040503050406030204" pitchFamily="18" charset="0"/>
                </a:endParaRPr>
              </a:p>
              <a:p>
                <a:pPr>
                  <a:buNone/>
                </a:pPr>
                <a:r>
                  <a:rPr lang="en-IN" b="1" dirty="0">
                    <a:latin typeface="Cambria" panose="02040503050406030204" pitchFamily="18" charset="0"/>
                    <a:ea typeface="Cambria" panose="02040503050406030204" pitchFamily="18" charset="0"/>
                  </a:rPr>
                  <a:t>Step 2: Initialize Drone State</a:t>
                </a:r>
              </a:p>
              <a:p>
                <a:pPr>
                  <a:buNone/>
                </a:pPr>
                <a:r>
                  <a:rPr lang="en-IN" dirty="0">
                    <a:latin typeface="Cambria" panose="02040503050406030204" pitchFamily="18" charset="0"/>
                    <a:ea typeface="Cambria" panose="02040503050406030204" pitchFamily="18" charset="0"/>
                  </a:rPr>
                  <a:t>For each drone Di​,</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Position: Pi​(t)=(xi​,</a:t>
                </a:r>
                <a:r>
                  <a:rPr lang="en-IN" dirty="0" err="1">
                    <a:latin typeface="Cambria" panose="02040503050406030204" pitchFamily="18" charset="0"/>
                    <a:ea typeface="Cambria" panose="02040503050406030204" pitchFamily="18" charset="0"/>
                  </a:rPr>
                  <a:t>yi</a:t>
                </a:r>
                <a:r>
                  <a:rPr lang="en-IN" dirty="0">
                    <a:latin typeface="Cambria" panose="02040503050406030204" pitchFamily="18" charset="0"/>
                    <a:ea typeface="Cambria" panose="02040503050406030204" pitchFamily="18" charset="0"/>
                  </a:rPr>
                  <a:t>​)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Velocity: Vi​(t)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Battery: Bi​(t)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Sensor range: Ri​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Local observation: Oi​(t) </a:t>
                </a:r>
              </a:p>
              <a:p>
                <a:pPr>
                  <a:buNone/>
                </a:pPr>
                <a:r>
                  <a:rPr lang="en-IN" dirty="0">
                    <a:latin typeface="Cambria" panose="02040503050406030204" pitchFamily="18" charset="0"/>
                    <a:ea typeface="Cambria" panose="02040503050406030204" pitchFamily="18" charset="0"/>
                  </a:rPr>
                  <a:t>Each drone receives its local environmental state and shares relevant information with neighbouring drones.</a:t>
                </a:r>
              </a:p>
              <a:p>
                <a:pPr>
                  <a:lnSpc>
                    <a:spcPct val="150000"/>
                  </a:lnSpc>
                  <a:buNone/>
                </a:pPr>
                <a:r>
                  <a:rPr lang="en-IN" b="1" dirty="0">
                    <a:latin typeface="Cambria" panose="02040503050406030204" pitchFamily="18" charset="0"/>
                    <a:ea typeface="Cambria" panose="02040503050406030204" pitchFamily="18" charset="0"/>
                  </a:rPr>
                  <a:t>Step 3: Swarm Coordination</a:t>
                </a:r>
              </a:p>
              <a:p>
                <a:pPr>
                  <a:lnSpc>
                    <a:spcPct val="150000"/>
                  </a:lnSpc>
                  <a:buNone/>
                </a:pPr>
                <a:r>
                  <a:rPr lang="en-IN" dirty="0">
                    <a:latin typeface="Cambria" panose="02040503050406030204" pitchFamily="18" charset="0"/>
                    <a:ea typeface="Cambria" panose="02040503050406030204" pitchFamily="18" charset="0"/>
                  </a:rPr>
                  <a:t>The movement of each drone is determined using separation, cohesion and alignment forces.</a:t>
                </a:r>
              </a:p>
              <a:p>
                <a:pPr>
                  <a:lnSpc>
                    <a:spcPct val="150000"/>
                  </a:lnSpc>
                  <a:buNone/>
                </a:pPr>
                <a14:m>
                  <m:oMathPara xmlns:m="http://schemas.openxmlformats.org/officeDocument/2006/math">
                    <m:oMath>
                      <m:r>
                        <a:rPr lang="en-IN" i="1" dirty="0" smtClean="0">
                          <a:solidFill>
                            <a:srgbClr val="FF0000"/>
                          </a:solidFill>
                          <a:latin typeface="Cambria Math" panose="02040503050406030204" pitchFamily="18" charset="0"/>
                        </a:rPr>
                        <m:t>𝐹𝑖</m:t>
                      </m:r>
                      <m:r>
                        <a:rPr lang="en-IN" i="1" dirty="0" smtClean="0">
                          <a:solidFill>
                            <a:srgbClr val="FF0000"/>
                          </a:solidFill>
                          <a:latin typeface="Cambria Math" panose="02040503050406030204" pitchFamily="18" charset="0"/>
                        </a:rPr>
                        <m:t> = </m:t>
                      </m:r>
                      <m:r>
                        <a:rPr lang="en-IN" i="1" dirty="0" err="1">
                          <a:solidFill>
                            <a:srgbClr val="FF0000"/>
                          </a:solidFill>
                          <a:latin typeface="Cambria Math" panose="02040503050406030204" pitchFamily="18" charset="0"/>
                        </a:rPr>
                        <m:t>𝑤𝑠𝐹𝑠𝑒𝑝</m:t>
                      </m:r>
                      <m:r>
                        <a:rPr lang="en-IN" i="1" dirty="0">
                          <a:solidFill>
                            <a:srgbClr val="FF0000"/>
                          </a:solidFill>
                          <a:latin typeface="Cambria Math" panose="02040503050406030204" pitchFamily="18" charset="0"/>
                        </a:rPr>
                        <m:t> + </m:t>
                      </m:r>
                      <m:r>
                        <a:rPr lang="en-IN" i="1" dirty="0" err="1">
                          <a:solidFill>
                            <a:srgbClr val="FF0000"/>
                          </a:solidFill>
                          <a:latin typeface="Cambria Math" panose="02040503050406030204" pitchFamily="18" charset="0"/>
                        </a:rPr>
                        <m:t>𝑤𝑐𝐹𝑐𝑜ℎ</m:t>
                      </m:r>
                      <m:r>
                        <a:rPr lang="en-IN" i="1" dirty="0">
                          <a:solidFill>
                            <a:srgbClr val="FF0000"/>
                          </a:solidFill>
                          <a:latin typeface="Cambria Math" panose="02040503050406030204" pitchFamily="18" charset="0"/>
                        </a:rPr>
                        <m:t> + </m:t>
                      </m:r>
                      <m:r>
                        <a:rPr lang="en-IN" i="1" dirty="0" err="1">
                          <a:solidFill>
                            <a:srgbClr val="FF0000"/>
                          </a:solidFill>
                          <a:latin typeface="Cambria Math" panose="02040503050406030204" pitchFamily="18" charset="0"/>
                        </a:rPr>
                        <m:t>𝑤𝑎𝐹𝑎𝑙𝑖𝑔𝑛</m:t>
                      </m:r>
                      <m:r>
                        <a:rPr lang="en-IN" i="1" dirty="0">
                          <a:solidFill>
                            <a:srgbClr val="FF0000"/>
                          </a:solidFill>
                          <a:latin typeface="Cambria Math" panose="02040503050406030204" pitchFamily="18" charset="0"/>
                        </a:rPr>
                        <m:t>                                    </m:t>
                      </m:r>
                      <m:r>
                        <a:rPr lang="en-IN" b="0" i="1" dirty="0" smtClean="0">
                          <a:solidFill>
                            <a:srgbClr val="FF0000"/>
                          </a:solidFill>
                          <a:latin typeface="Cambria Math" panose="02040503050406030204" pitchFamily="18" charset="0"/>
                        </a:rPr>
                        <m:t>                              </m:t>
                      </m:r>
                      <m:r>
                        <a:rPr lang="en-IN" i="1" dirty="0">
                          <a:solidFill>
                            <a:srgbClr val="FF0000"/>
                          </a:solidFill>
                          <a:latin typeface="Cambria Math" panose="02040503050406030204" pitchFamily="18" charset="0"/>
                        </a:rPr>
                        <m:t>  (1)</m:t>
                      </m:r>
                    </m:oMath>
                  </m:oMathPara>
                </a14:m>
                <a:endParaRPr lang="en-IN" dirty="0">
                  <a:latin typeface="Cambria" panose="02040503050406030204" pitchFamily="18" charset="0"/>
                  <a:ea typeface="Cambria" panose="02040503050406030204" pitchFamily="18" charset="0"/>
                </a:endParaRPr>
              </a:p>
              <a:p>
                <a:pPr>
                  <a:lnSpc>
                    <a:spcPct val="150000"/>
                  </a:lnSpc>
                  <a:buNone/>
                </a:pPr>
                <a:r>
                  <a:rPr lang="en-IN" dirty="0">
                    <a:latin typeface="Cambria" panose="02040503050406030204" pitchFamily="18" charset="0"/>
                    <a:ea typeface="Cambria" panose="02040503050406030204" pitchFamily="18" charset="0"/>
                  </a:rPr>
                  <a:t>where:</a:t>
                </a:r>
              </a:p>
              <a:p>
                <a:pPr marL="342900" lvl="0" indent="-342900">
                  <a:buFont typeface="Arial" panose="020B0604020202020204" pitchFamily="34" charset="0"/>
                  <a:buChar char="•"/>
                </a:pPr>
                <a:r>
                  <a:rPr lang="en-IN" dirty="0" err="1">
                    <a:latin typeface="Cambria" panose="02040503050406030204" pitchFamily="18" charset="0"/>
                    <a:ea typeface="Cambria" panose="02040503050406030204" pitchFamily="18" charset="0"/>
                  </a:rPr>
                  <a:t>Fsep</a:t>
                </a:r>
                <a:r>
                  <a:rPr lang="en-IN" dirty="0">
                    <a:latin typeface="Cambria" panose="02040503050406030204" pitchFamily="18" charset="0"/>
                    <a:ea typeface="Cambria" panose="02040503050406030204" pitchFamily="18" charset="0"/>
                  </a:rPr>
                  <a:t>​ = Separation force </a:t>
                </a:r>
              </a:p>
              <a:p>
                <a:pPr marL="342900" lvl="0" indent="-342900">
                  <a:buFont typeface="Arial" panose="020B0604020202020204" pitchFamily="34" charset="0"/>
                  <a:buChar char="•"/>
                </a:pPr>
                <a:r>
                  <a:rPr lang="en-IN" dirty="0" err="1">
                    <a:latin typeface="Cambria" panose="02040503050406030204" pitchFamily="18" charset="0"/>
                    <a:ea typeface="Cambria" panose="02040503050406030204" pitchFamily="18" charset="0"/>
                  </a:rPr>
                  <a:t>Fcoh</a:t>
                </a:r>
                <a:r>
                  <a:rPr lang="en-IN" dirty="0">
                    <a:latin typeface="Cambria" panose="02040503050406030204" pitchFamily="18" charset="0"/>
                    <a:ea typeface="Cambria" panose="02040503050406030204" pitchFamily="18" charset="0"/>
                  </a:rPr>
                  <a:t>​ = Cohesion force </a:t>
                </a:r>
              </a:p>
              <a:p>
                <a:pPr marL="342900" lvl="0" indent="-342900">
                  <a:buFont typeface="Arial" panose="020B0604020202020204" pitchFamily="34" charset="0"/>
                  <a:buChar char="•"/>
                </a:pPr>
                <a:r>
                  <a:rPr lang="en-IN" dirty="0" err="1">
                    <a:latin typeface="Cambria" panose="02040503050406030204" pitchFamily="18" charset="0"/>
                    <a:ea typeface="Cambria" panose="02040503050406030204" pitchFamily="18" charset="0"/>
                  </a:rPr>
                  <a:t>Falign</a:t>
                </a:r>
                <a:r>
                  <a:rPr lang="en-IN" dirty="0">
                    <a:latin typeface="Cambria" panose="02040503050406030204" pitchFamily="18" charset="0"/>
                    <a:ea typeface="Cambria" panose="02040503050406030204" pitchFamily="18" charset="0"/>
                  </a:rPr>
                  <a:t>​ = Alignment force </a:t>
                </a:r>
              </a:p>
              <a:p>
                <a:pPr>
                  <a:buNone/>
                </a:pPr>
                <a:r>
                  <a:rPr lang="en-IN" dirty="0">
                    <a:latin typeface="Cambria" panose="02040503050406030204" pitchFamily="18" charset="0"/>
                    <a:ea typeface="Cambria" panose="02040503050406030204" pitchFamily="18" charset="0"/>
                  </a:rPr>
                  <a:t>From </a:t>
                </a:r>
                <a:r>
                  <a:rPr lang="en-IN" dirty="0" err="1">
                    <a:latin typeface="Cambria" panose="02040503050406030204" pitchFamily="18" charset="0"/>
                    <a:ea typeface="Cambria" panose="02040503050406030204" pitchFamily="18" charset="0"/>
                  </a:rPr>
                  <a:t>Eq</a:t>
                </a:r>
                <a:r>
                  <a:rPr lang="en-IN" dirty="0">
                    <a:latin typeface="Cambria" panose="02040503050406030204" pitchFamily="18" charset="0"/>
                    <a:ea typeface="Cambria" panose="02040503050406030204" pitchFamily="18" charset="0"/>
                  </a:rPr>
                  <a:t>(1), The swarm coordination mechanism enables drones to maintain formation, avoid collisions and explore the search area cooperatively.</a:t>
                </a:r>
              </a:p>
              <a:p>
                <a:pPr>
                  <a:buNone/>
                </a:pPr>
                <a:endParaRPr lang="en-IN" dirty="0">
                  <a:latin typeface="Cambria" panose="02040503050406030204" pitchFamily="18" charset="0"/>
                  <a:ea typeface="Cambria" panose="02040503050406030204" pitchFamily="18" charset="0"/>
                </a:endParaRPr>
              </a:p>
            </p:txBody>
          </p:sp>
        </mc:Choice>
        <mc:Fallback xmlns="">
          <p:sp>
            <p:nvSpPr>
              <p:cNvPr id="6" name="TextBox 5">
                <a:extLst>
                  <a:ext uri="{FF2B5EF4-FFF2-40B4-BE49-F238E27FC236}">
                    <a16:creationId xmlns:a16="http://schemas.microsoft.com/office/drawing/2014/main" id="{E0C91E90-D041-B2EF-8BAE-2799911496E4}"/>
                  </a:ext>
                </a:extLst>
              </p:cNvPr>
              <p:cNvSpPr txBox="1">
                <a:spLocks noRot="1" noChangeAspect="1" noMove="1" noResize="1" noEditPoints="1" noAdjustHandles="1" noChangeArrowheads="1" noChangeShapeType="1" noTextEdit="1"/>
              </p:cNvSpPr>
              <p:nvPr/>
            </p:nvSpPr>
            <p:spPr>
              <a:xfrm>
                <a:off x="1440237" y="765690"/>
                <a:ext cx="9667126" cy="6186309"/>
              </a:xfrm>
              <a:prstGeom prst="rect">
                <a:avLst/>
              </a:prstGeom>
              <a:blipFill>
                <a:blip r:embed="rId2"/>
                <a:stretch>
                  <a:fillRect l="-504"/>
                </a:stretch>
              </a:blipFill>
            </p:spPr>
            <p:txBody>
              <a:bodyPr/>
              <a:lstStyle/>
              <a:p>
                <a:r>
                  <a:rPr lang="en-IN">
                    <a:noFill/>
                  </a:rPr>
                  <a:t> </a:t>
                </a:r>
              </a:p>
            </p:txBody>
          </p:sp>
        </mc:Fallback>
      </mc:AlternateContent>
    </p:spTree>
    <p:extLst>
      <p:ext uri="{BB962C8B-B14F-4D97-AF65-F5344CB8AC3E}">
        <p14:creationId xmlns:p14="http://schemas.microsoft.com/office/powerpoint/2010/main" val="3598144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AA5D8-4450-F259-07C0-2A09D7790DF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066FB56-F6B2-2A77-0169-5F356423A0FB}"/>
              </a:ext>
            </a:extLst>
          </p:cNvPr>
          <p:cNvSpPr txBox="1"/>
          <p:nvPr/>
        </p:nvSpPr>
        <p:spPr>
          <a:xfrm>
            <a:off x="3732713" y="46101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B021CF4-8014-E892-E2A3-8595A3335E06}"/>
                  </a:ext>
                </a:extLst>
              </p:cNvPr>
              <p:cNvSpPr txBox="1"/>
              <p:nvPr/>
            </p:nvSpPr>
            <p:spPr>
              <a:xfrm>
                <a:off x="1540933" y="1582340"/>
                <a:ext cx="9787467" cy="3970318"/>
              </a:xfrm>
              <a:prstGeom prst="rect">
                <a:avLst/>
              </a:prstGeom>
              <a:noFill/>
            </p:spPr>
            <p:txBody>
              <a:bodyPr wrap="square">
                <a:spAutoFit/>
              </a:bodyPr>
              <a:lstStyle/>
              <a:p>
                <a:pPr>
                  <a:buNone/>
                </a:pPr>
                <a:r>
                  <a:rPr lang="en-IN" b="1" dirty="0">
                    <a:latin typeface="Cambria" panose="02040503050406030204" pitchFamily="18" charset="0"/>
                    <a:ea typeface="Cambria" panose="02040503050406030204" pitchFamily="18" charset="0"/>
                  </a:rPr>
                  <a:t>Step 4: Multi-Agent Reinforcement Learning</a:t>
                </a:r>
              </a:p>
              <a:p>
                <a:pPr>
                  <a:buNone/>
                </a:pPr>
                <a:r>
                  <a:rPr lang="en-IN" dirty="0">
                    <a:latin typeface="Cambria" panose="02040503050406030204" pitchFamily="18" charset="0"/>
                    <a:ea typeface="Cambria" panose="02040503050406030204" pitchFamily="18" charset="0"/>
                  </a:rPr>
                  <a:t>Each drone acts as an independent learning agent.</a:t>
                </a:r>
              </a:p>
              <a:p>
                <a:pPr>
                  <a:buNone/>
                </a:pPr>
                <a:r>
                  <a:rPr lang="en-IN" dirty="0">
                    <a:latin typeface="Cambria" panose="02040503050406030204" pitchFamily="18" charset="0"/>
                    <a:ea typeface="Cambria" panose="02040503050406030204" pitchFamily="18" charset="0"/>
                  </a:rPr>
                  <a:t>The Q-value is updated using:</a:t>
                </a:r>
              </a:p>
              <a:p>
                <a:pPr>
                  <a:buNone/>
                </a:pPr>
                <a14:m>
                  <m:oMathPara xmlns:m="http://schemas.openxmlformats.org/officeDocument/2006/math">
                    <m:oMath>
                      <m:r>
                        <a:rPr lang="en-IN" i="1" dirty="0" smtClean="0">
                          <a:solidFill>
                            <a:srgbClr val="FF0000"/>
                          </a:solidFill>
                          <a:latin typeface="Cambria Math" panose="02040503050406030204" pitchFamily="18" charset="0"/>
                        </a:rPr>
                        <m:t>𝑄</m:t>
                      </m:r>
                      <m:d>
                        <m:dPr>
                          <m:ctrlPr>
                            <a:rPr lang="en-IN" i="1" dirty="0" err="1">
                              <a:solidFill>
                                <a:srgbClr val="FF0000"/>
                              </a:solidFill>
                              <a:latin typeface="Cambria Math" panose="02040503050406030204" pitchFamily="18" charset="0"/>
                            </a:rPr>
                          </m:ctrlPr>
                        </m:dPr>
                        <m:e>
                          <m:r>
                            <a:rPr lang="en-IN" i="1" dirty="0" err="1">
                              <a:solidFill>
                                <a:srgbClr val="FF0000"/>
                              </a:solidFill>
                              <a:latin typeface="Cambria Math" panose="02040503050406030204" pitchFamily="18" charset="0"/>
                            </a:rPr>
                            <m:t>𝑠</m:t>
                          </m:r>
                          <m:r>
                            <a:rPr lang="en-IN" i="1" dirty="0" err="1">
                              <a:solidFill>
                                <a:srgbClr val="FF0000"/>
                              </a:solidFill>
                              <a:latin typeface="Cambria Math" panose="02040503050406030204" pitchFamily="18" charset="0"/>
                            </a:rPr>
                            <m:t>,</m:t>
                          </m:r>
                          <m:r>
                            <a:rPr lang="en-IN" i="1" dirty="0" err="1">
                              <a:solidFill>
                                <a:srgbClr val="FF0000"/>
                              </a:solidFill>
                              <a:latin typeface="Cambria Math" panose="02040503050406030204" pitchFamily="18" charset="0"/>
                            </a:rPr>
                            <m:t>𝑎</m:t>
                          </m:r>
                        </m:e>
                      </m:d>
                      <m:r>
                        <a:rPr lang="en-IN" i="1" dirty="0">
                          <a:solidFill>
                            <a:srgbClr val="FF0000"/>
                          </a:solidFill>
                          <a:latin typeface="Cambria Math" panose="02040503050406030204" pitchFamily="18" charset="0"/>
                        </a:rPr>
                        <m:t>←</m:t>
                      </m:r>
                      <m:r>
                        <a:rPr lang="en-IN" i="1" dirty="0">
                          <a:solidFill>
                            <a:srgbClr val="FF0000"/>
                          </a:solidFill>
                          <a:latin typeface="Cambria Math" panose="02040503050406030204" pitchFamily="18" charset="0"/>
                        </a:rPr>
                        <m:t>𝑄</m:t>
                      </m:r>
                      <m:d>
                        <m:dPr>
                          <m:ctrlPr>
                            <a:rPr lang="en-IN" i="1" dirty="0" err="1">
                              <a:solidFill>
                                <a:srgbClr val="FF0000"/>
                              </a:solidFill>
                              <a:latin typeface="Cambria Math" panose="02040503050406030204" pitchFamily="18" charset="0"/>
                            </a:rPr>
                          </m:ctrlPr>
                        </m:dPr>
                        <m:e>
                          <m:r>
                            <a:rPr lang="en-IN" i="1" dirty="0" err="1">
                              <a:solidFill>
                                <a:srgbClr val="FF0000"/>
                              </a:solidFill>
                              <a:latin typeface="Cambria Math" panose="02040503050406030204" pitchFamily="18" charset="0"/>
                            </a:rPr>
                            <m:t>𝑠</m:t>
                          </m:r>
                          <m:r>
                            <a:rPr lang="en-IN" i="1" dirty="0" err="1">
                              <a:solidFill>
                                <a:srgbClr val="FF0000"/>
                              </a:solidFill>
                              <a:latin typeface="Cambria Math" panose="02040503050406030204" pitchFamily="18" charset="0"/>
                            </a:rPr>
                            <m:t>,</m:t>
                          </m:r>
                          <m:r>
                            <a:rPr lang="en-IN" i="1" dirty="0" err="1">
                              <a:solidFill>
                                <a:srgbClr val="FF0000"/>
                              </a:solidFill>
                              <a:latin typeface="Cambria Math" panose="02040503050406030204" pitchFamily="18" charset="0"/>
                            </a:rPr>
                            <m:t>𝑎</m:t>
                          </m:r>
                        </m:e>
                      </m:d>
                      <m:r>
                        <a:rPr lang="en-IN" i="1" dirty="0">
                          <a:solidFill>
                            <a:srgbClr val="FF0000"/>
                          </a:solidFill>
                          <a:latin typeface="Cambria Math" panose="02040503050406030204" pitchFamily="18" charset="0"/>
                        </a:rPr>
                        <m:t>+</m:t>
                      </m:r>
                      <m:r>
                        <a:rPr lang="en-IN" i="1" dirty="0">
                          <a:solidFill>
                            <a:srgbClr val="FF0000"/>
                          </a:solidFill>
                          <a:latin typeface="Cambria Math" panose="02040503050406030204" pitchFamily="18" charset="0"/>
                        </a:rPr>
                        <m:t>𝛼</m:t>
                      </m:r>
                      <m:d>
                        <m:dPr>
                          <m:begChr m:val="["/>
                          <m:endChr m:val="]"/>
                          <m:ctrlPr>
                            <a:rPr lang="en-IN" i="1" dirty="0" err="1">
                              <a:solidFill>
                                <a:srgbClr val="FF0000"/>
                              </a:solidFill>
                              <a:latin typeface="Cambria Math" panose="02040503050406030204" pitchFamily="18" charset="0"/>
                            </a:rPr>
                          </m:ctrlPr>
                        </m:dPr>
                        <m:e>
                          <m:r>
                            <a:rPr lang="en-IN" i="1" dirty="0" err="1">
                              <a:solidFill>
                                <a:srgbClr val="FF0000"/>
                              </a:solidFill>
                              <a:latin typeface="Cambria Math" panose="02040503050406030204" pitchFamily="18" charset="0"/>
                            </a:rPr>
                            <m:t>𝑅</m:t>
                          </m:r>
                          <m:r>
                            <a:rPr lang="en-IN" i="1" dirty="0" err="1">
                              <a:solidFill>
                                <a:srgbClr val="FF0000"/>
                              </a:solidFill>
                              <a:latin typeface="Cambria Math" panose="02040503050406030204" pitchFamily="18" charset="0"/>
                            </a:rPr>
                            <m:t>+</m:t>
                          </m:r>
                          <m:r>
                            <a:rPr lang="en-IN" i="1" dirty="0" err="1">
                              <a:solidFill>
                                <a:srgbClr val="FF0000"/>
                              </a:solidFill>
                              <a:latin typeface="Cambria Math" panose="02040503050406030204" pitchFamily="18" charset="0"/>
                            </a:rPr>
                            <m:t>𝛾</m:t>
                          </m:r>
                          <m:sSup>
                            <m:sSupPr>
                              <m:ctrlPr>
                                <a:rPr lang="en-IN" i="1" dirty="0" err="1">
                                  <a:solidFill>
                                    <a:srgbClr val="FF0000"/>
                                  </a:solidFill>
                                  <a:latin typeface="Cambria Math" panose="02040503050406030204" pitchFamily="18" charset="0"/>
                                </a:rPr>
                              </m:ctrlPr>
                            </m:sSupPr>
                            <m:e>
                              <m:r>
                                <a:rPr lang="en-IN" i="1" dirty="0" err="1">
                                  <a:solidFill>
                                    <a:srgbClr val="FF0000"/>
                                  </a:solidFill>
                                  <a:latin typeface="Cambria Math" panose="02040503050406030204" pitchFamily="18" charset="0"/>
                                </a:rPr>
                                <m:t>𝑎</m:t>
                              </m:r>
                            </m:e>
                            <m:sup>
                              <m:r>
                                <a:rPr lang="en-IN" i="1" dirty="0" err="1">
                                  <a:solidFill>
                                    <a:srgbClr val="FF0000"/>
                                  </a:solidFill>
                                  <a:latin typeface="Cambria Math" panose="02040503050406030204" pitchFamily="18" charset="0"/>
                                </a:rPr>
                                <m:t>′</m:t>
                              </m:r>
                            </m:sup>
                          </m:sSup>
                          <m:r>
                            <m:rPr>
                              <m:sty m:val="p"/>
                            </m:rPr>
                            <a:rPr lang="en-IN" i="1" dirty="0" err="1">
                              <a:solidFill>
                                <a:srgbClr val="FF0000"/>
                              </a:solidFill>
                              <a:latin typeface="Cambria Math" panose="02040503050406030204" pitchFamily="18" charset="0"/>
                            </a:rPr>
                            <m:t>max</m:t>
                          </m:r>
                          <m:r>
                            <a:rPr lang="en-IN" i="1" dirty="0">
                              <a:solidFill>
                                <a:srgbClr val="FF0000"/>
                              </a:solidFill>
                              <a:latin typeface="Cambria Math" panose="02040503050406030204" pitchFamily="18" charset="0"/>
                            </a:rPr>
                            <m:t>​</m:t>
                          </m:r>
                          <m:r>
                            <a:rPr lang="en-IN" i="1" dirty="0">
                              <a:solidFill>
                                <a:srgbClr val="FF0000"/>
                              </a:solidFill>
                              <a:latin typeface="Cambria Math" panose="02040503050406030204" pitchFamily="18" charset="0"/>
                            </a:rPr>
                            <m:t>𝑄</m:t>
                          </m:r>
                          <m:d>
                            <m:dPr>
                              <m:ctrlPr>
                                <a:rPr lang="en-IN" i="1" dirty="0" err="1">
                                  <a:solidFill>
                                    <a:srgbClr val="FF0000"/>
                                  </a:solidFill>
                                  <a:latin typeface="Cambria Math" panose="02040503050406030204" pitchFamily="18" charset="0"/>
                                </a:rPr>
                              </m:ctrlPr>
                            </m:dPr>
                            <m:e>
                              <m:sSup>
                                <m:sSupPr>
                                  <m:ctrlPr>
                                    <a:rPr lang="en-IN" i="1" dirty="0" err="1">
                                      <a:solidFill>
                                        <a:srgbClr val="FF0000"/>
                                      </a:solidFill>
                                      <a:latin typeface="Cambria Math" panose="02040503050406030204" pitchFamily="18" charset="0"/>
                                    </a:rPr>
                                  </m:ctrlPr>
                                </m:sSupPr>
                                <m:e>
                                  <m:r>
                                    <a:rPr lang="en-IN" i="1" dirty="0" err="1">
                                      <a:solidFill>
                                        <a:srgbClr val="FF0000"/>
                                      </a:solidFill>
                                      <a:latin typeface="Cambria Math" panose="02040503050406030204" pitchFamily="18" charset="0"/>
                                    </a:rPr>
                                    <m:t>𝑠</m:t>
                                  </m:r>
                                </m:e>
                                <m:sup>
                                  <m:r>
                                    <a:rPr lang="en-IN" i="1" dirty="0" err="1">
                                      <a:solidFill>
                                        <a:srgbClr val="FF0000"/>
                                      </a:solidFill>
                                      <a:latin typeface="Cambria Math" panose="02040503050406030204" pitchFamily="18" charset="0"/>
                                    </a:rPr>
                                    <m:t>′</m:t>
                                  </m:r>
                                </m:sup>
                              </m:sSup>
                              <m:r>
                                <a:rPr lang="en-IN" i="1" dirty="0" err="1">
                                  <a:solidFill>
                                    <a:srgbClr val="FF0000"/>
                                  </a:solidFill>
                                  <a:latin typeface="Cambria Math" panose="02040503050406030204" pitchFamily="18" charset="0"/>
                                </a:rPr>
                                <m:t>,</m:t>
                              </m:r>
                              <m:sSup>
                                <m:sSupPr>
                                  <m:ctrlPr>
                                    <a:rPr lang="en-IN" i="1" dirty="0" err="1">
                                      <a:solidFill>
                                        <a:srgbClr val="FF0000"/>
                                      </a:solidFill>
                                      <a:latin typeface="Cambria Math" panose="02040503050406030204" pitchFamily="18" charset="0"/>
                                    </a:rPr>
                                  </m:ctrlPr>
                                </m:sSupPr>
                                <m:e>
                                  <m:r>
                                    <a:rPr lang="en-IN" i="1" dirty="0" err="1">
                                      <a:solidFill>
                                        <a:srgbClr val="FF0000"/>
                                      </a:solidFill>
                                      <a:latin typeface="Cambria Math" panose="02040503050406030204" pitchFamily="18" charset="0"/>
                                    </a:rPr>
                                    <m:t>𝑎</m:t>
                                  </m:r>
                                </m:e>
                                <m:sup>
                                  <m:r>
                                    <a:rPr lang="en-IN" i="1" dirty="0">
                                      <a:solidFill>
                                        <a:srgbClr val="FF0000"/>
                                      </a:solidFill>
                                      <a:latin typeface="Cambria Math" panose="02040503050406030204" pitchFamily="18" charset="0"/>
                                    </a:rPr>
                                    <m:t>′</m:t>
                                  </m:r>
                                </m:sup>
                              </m:sSup>
                            </m:e>
                          </m:d>
                          <m:r>
                            <a:rPr lang="en-IN" i="1" dirty="0">
                              <a:solidFill>
                                <a:srgbClr val="FF0000"/>
                              </a:solidFill>
                              <a:latin typeface="Cambria Math" panose="02040503050406030204" pitchFamily="18" charset="0"/>
                            </a:rPr>
                            <m:t>−</m:t>
                          </m:r>
                          <m:r>
                            <a:rPr lang="en-IN" i="1" dirty="0">
                              <a:solidFill>
                                <a:srgbClr val="FF0000"/>
                              </a:solidFill>
                              <a:latin typeface="Cambria Math" panose="02040503050406030204" pitchFamily="18" charset="0"/>
                            </a:rPr>
                            <m:t>𝑄</m:t>
                          </m:r>
                          <m:d>
                            <m:dPr>
                              <m:ctrlPr>
                                <a:rPr lang="en-IN" i="1" dirty="0" err="1">
                                  <a:solidFill>
                                    <a:srgbClr val="FF0000"/>
                                  </a:solidFill>
                                  <a:latin typeface="Cambria Math" panose="02040503050406030204" pitchFamily="18" charset="0"/>
                                </a:rPr>
                              </m:ctrlPr>
                            </m:dPr>
                            <m:e>
                              <m:r>
                                <a:rPr lang="en-IN" i="1" dirty="0" err="1">
                                  <a:solidFill>
                                    <a:srgbClr val="FF0000"/>
                                  </a:solidFill>
                                  <a:latin typeface="Cambria Math" panose="02040503050406030204" pitchFamily="18" charset="0"/>
                                </a:rPr>
                                <m:t>𝑠</m:t>
                              </m:r>
                              <m:r>
                                <a:rPr lang="en-IN" i="1" dirty="0" err="1">
                                  <a:solidFill>
                                    <a:srgbClr val="FF0000"/>
                                  </a:solidFill>
                                  <a:latin typeface="Cambria Math" panose="02040503050406030204" pitchFamily="18" charset="0"/>
                                </a:rPr>
                                <m:t>,</m:t>
                              </m:r>
                              <m:r>
                                <a:rPr lang="en-IN" i="1" dirty="0" err="1">
                                  <a:solidFill>
                                    <a:srgbClr val="FF0000"/>
                                  </a:solidFill>
                                  <a:latin typeface="Cambria Math" panose="02040503050406030204" pitchFamily="18" charset="0"/>
                                </a:rPr>
                                <m:t>𝑎</m:t>
                              </m:r>
                            </m:e>
                          </m:d>
                        </m:e>
                      </m:d>
                      <m:r>
                        <a:rPr lang="en-IN" b="0" i="1" dirty="0" smtClean="0">
                          <a:solidFill>
                            <a:srgbClr val="FF0000"/>
                          </a:solidFill>
                          <a:latin typeface="Cambria Math" panose="02040503050406030204" pitchFamily="18" charset="0"/>
                        </a:rPr>
                        <m:t>                                                </m:t>
                      </m:r>
                      <m:r>
                        <a:rPr lang="en-IN" i="1" dirty="0">
                          <a:solidFill>
                            <a:srgbClr val="FF0000"/>
                          </a:solidFill>
                          <a:latin typeface="Cambria Math" panose="02040503050406030204" pitchFamily="18" charset="0"/>
                        </a:rPr>
                        <m:t>(2) </m:t>
                      </m:r>
                    </m:oMath>
                  </m:oMathPara>
                </a14:m>
                <a:endParaRPr lang="en-IN" dirty="0">
                  <a:solidFill>
                    <a:srgbClr val="FF0000"/>
                  </a:solidFill>
                  <a:latin typeface="Cambria" panose="02040503050406030204" pitchFamily="18" charset="0"/>
                  <a:ea typeface="Cambria" panose="02040503050406030204" pitchFamily="18" charset="0"/>
                </a:endParaRPr>
              </a:p>
              <a:p>
                <a:pPr>
                  <a:buNone/>
                </a:pPr>
                <a:r>
                  <a:rPr lang="en-IN" dirty="0">
                    <a:latin typeface="Cambria" panose="02040503050406030204" pitchFamily="18" charset="0"/>
                    <a:ea typeface="Cambria" panose="02040503050406030204" pitchFamily="18" charset="0"/>
                  </a:rPr>
                  <a:t>where:</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s = Current state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a = Selected action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R = Reward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s′ = Next state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α = Learning rate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γ = Discount factor </a:t>
                </a:r>
              </a:p>
              <a:p>
                <a:pPr marL="342900" lvl="0" indent="-342900">
                  <a:buFont typeface="Arial" panose="020B0604020202020204" pitchFamily="34" charset="0"/>
                  <a:buChar char="•"/>
                </a:pPr>
                <a:endParaRPr lang="en-IN" dirty="0">
                  <a:latin typeface="Cambria" panose="02040503050406030204" pitchFamily="18" charset="0"/>
                  <a:ea typeface="Cambria" panose="02040503050406030204" pitchFamily="18" charset="0"/>
                </a:endParaRPr>
              </a:p>
              <a:p>
                <a:pPr>
                  <a:buNone/>
                </a:pPr>
                <a:r>
                  <a:rPr lang="en-IN" dirty="0">
                    <a:latin typeface="Cambria" panose="02040503050406030204" pitchFamily="18" charset="0"/>
                    <a:ea typeface="Cambria" panose="02040503050406030204" pitchFamily="18" charset="0"/>
                  </a:rPr>
                  <a:t>From </a:t>
                </a:r>
                <a:r>
                  <a:rPr lang="en-IN" dirty="0" err="1">
                    <a:latin typeface="Cambria" panose="02040503050406030204" pitchFamily="18" charset="0"/>
                    <a:ea typeface="Cambria" panose="02040503050406030204" pitchFamily="18" charset="0"/>
                  </a:rPr>
                  <a:t>Eq</a:t>
                </a:r>
                <a:r>
                  <a:rPr lang="en-IN" dirty="0">
                    <a:latin typeface="Cambria" panose="02040503050406030204" pitchFamily="18" charset="0"/>
                    <a:ea typeface="Cambria" panose="02040503050406030204" pitchFamily="18" charset="0"/>
                  </a:rPr>
                  <a:t>(2), The MARL algorithm enables multiple drones to learn cooperative actions for navigation, target search and task allocation.</a:t>
                </a:r>
              </a:p>
            </p:txBody>
          </p:sp>
        </mc:Choice>
        <mc:Fallback xmlns="">
          <p:sp>
            <p:nvSpPr>
              <p:cNvPr id="3" name="TextBox 2">
                <a:extLst>
                  <a:ext uri="{FF2B5EF4-FFF2-40B4-BE49-F238E27FC236}">
                    <a16:creationId xmlns:a16="http://schemas.microsoft.com/office/drawing/2014/main" id="{3B021CF4-8014-E892-E2A3-8595A3335E06}"/>
                  </a:ext>
                </a:extLst>
              </p:cNvPr>
              <p:cNvSpPr txBox="1">
                <a:spLocks noRot="1" noChangeAspect="1" noMove="1" noResize="1" noEditPoints="1" noAdjustHandles="1" noChangeArrowheads="1" noChangeShapeType="1" noTextEdit="1"/>
              </p:cNvSpPr>
              <p:nvPr/>
            </p:nvSpPr>
            <p:spPr>
              <a:xfrm>
                <a:off x="1540933" y="1582340"/>
                <a:ext cx="9787467" cy="3970318"/>
              </a:xfrm>
              <a:prstGeom prst="rect">
                <a:avLst/>
              </a:prstGeom>
              <a:blipFill>
                <a:blip r:embed="rId2"/>
                <a:stretch>
                  <a:fillRect l="-561" t="-1075" b="-1382"/>
                </a:stretch>
              </a:blipFill>
            </p:spPr>
            <p:txBody>
              <a:bodyPr/>
              <a:lstStyle/>
              <a:p>
                <a:r>
                  <a:rPr lang="en-IN">
                    <a:noFill/>
                  </a:rPr>
                  <a:t> </a:t>
                </a:r>
              </a:p>
            </p:txBody>
          </p:sp>
        </mc:Fallback>
      </mc:AlternateContent>
    </p:spTree>
    <p:extLst>
      <p:ext uri="{BB962C8B-B14F-4D97-AF65-F5344CB8AC3E}">
        <p14:creationId xmlns:p14="http://schemas.microsoft.com/office/powerpoint/2010/main" val="3555312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671B8-8467-3450-FC33-FEE94A68A6F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5B2E2CE-EC77-6EC1-6CC3-593E283B5051}"/>
              </a:ext>
            </a:extLst>
          </p:cNvPr>
          <p:cNvSpPr txBox="1"/>
          <p:nvPr/>
        </p:nvSpPr>
        <p:spPr>
          <a:xfrm>
            <a:off x="3732713" y="46101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D25E74B-DE7B-B485-EAB2-0227B864E2E0}"/>
                  </a:ext>
                </a:extLst>
              </p:cNvPr>
              <p:cNvSpPr txBox="1"/>
              <p:nvPr/>
            </p:nvSpPr>
            <p:spPr>
              <a:xfrm>
                <a:off x="1677670" y="1859339"/>
                <a:ext cx="9752330" cy="3893374"/>
              </a:xfrm>
              <a:prstGeom prst="rect">
                <a:avLst/>
              </a:prstGeom>
              <a:noFill/>
            </p:spPr>
            <p:txBody>
              <a:bodyPr wrap="square">
                <a:spAutoFit/>
              </a:bodyPr>
              <a:lstStyle/>
              <a:p>
                <a:pPr>
                  <a:buNone/>
                </a:pPr>
                <a:r>
                  <a:rPr lang="en-IN" sz="1900" b="1" dirty="0">
                    <a:latin typeface="Cambria" panose="02040503050406030204" pitchFamily="18" charset="0"/>
                    <a:ea typeface="Cambria" panose="02040503050406030204" pitchFamily="18" charset="0"/>
                  </a:rPr>
                  <a:t>Step 5: Cooperative Reward Calculation</a:t>
                </a:r>
              </a:p>
              <a:p>
                <a:r>
                  <a:rPr lang="en-IN" sz="1900" dirty="0">
                    <a:latin typeface="Cambria" panose="02040503050406030204" pitchFamily="18" charset="0"/>
                    <a:ea typeface="Cambria" panose="02040503050406030204" pitchFamily="18" charset="0"/>
                  </a:rPr>
                  <a:t>The reward for each drone is calculated as:</a:t>
                </a:r>
                <a:endParaRPr lang="en-IN" sz="1900" i="1" dirty="0">
                  <a:latin typeface="Cambria" panose="02040503050406030204" pitchFamily="18" charset="0"/>
                  <a:ea typeface="Cambria" panose="02040503050406030204" pitchFamily="18" charset="0"/>
                </a:endParaRPr>
              </a:p>
              <a:p>
                <a:pPr/>
                <a14:m>
                  <m:oMathPara xmlns:m="http://schemas.openxmlformats.org/officeDocument/2006/math">
                    <m:oMath>
                      <m:r>
                        <a:rPr lang="en-IN" sz="1900" i="1" dirty="0" smtClean="0">
                          <a:solidFill>
                            <a:srgbClr val="FF0000"/>
                          </a:solidFill>
                          <a:latin typeface="Cambria Math" panose="02040503050406030204" pitchFamily="18" charset="0"/>
                        </a:rPr>
                        <m:t>𝑅</m:t>
                      </m:r>
                      <m:r>
                        <a:rPr lang="en-IN" sz="1900" i="1" dirty="0" smtClean="0">
                          <a:solidFill>
                            <a:srgbClr val="FF0000"/>
                          </a:solidFill>
                          <a:latin typeface="Cambria Math" panose="02040503050406030204" pitchFamily="18" charset="0"/>
                        </a:rPr>
                        <m:t>=</m:t>
                      </m:r>
                      <m:r>
                        <a:rPr lang="en-IN" sz="1900" i="1" dirty="0" smtClean="0">
                          <a:solidFill>
                            <a:srgbClr val="FF0000"/>
                          </a:solidFill>
                          <a:latin typeface="Cambria Math" panose="02040503050406030204" pitchFamily="18" charset="0"/>
                        </a:rPr>
                        <m:t>𝑤</m:t>
                      </m:r>
                      <m:r>
                        <a:rPr lang="en-IN" sz="1900" i="1" dirty="0" smtClean="0">
                          <a:solidFill>
                            <a:srgbClr val="FF0000"/>
                          </a:solidFill>
                          <a:latin typeface="Cambria Math" panose="02040503050406030204" pitchFamily="18" charset="0"/>
                        </a:rPr>
                        <m:t>1​</m:t>
                      </m:r>
                      <m:r>
                        <a:rPr lang="en-IN" sz="1900" i="1" dirty="0" smtClean="0">
                          <a:solidFill>
                            <a:srgbClr val="FF0000"/>
                          </a:solidFill>
                          <a:latin typeface="Cambria Math" panose="02040503050406030204" pitchFamily="18" charset="0"/>
                        </a:rPr>
                        <m:t>𝑅𝑐𝑜𝑣𝑒𝑟𝑎𝑔𝑒</m:t>
                      </m:r>
                      <m:r>
                        <a:rPr lang="en-IN" sz="1900" i="1" dirty="0">
                          <a:solidFill>
                            <a:srgbClr val="FF0000"/>
                          </a:solidFill>
                          <a:latin typeface="Cambria Math" panose="02040503050406030204" pitchFamily="18" charset="0"/>
                        </a:rPr>
                        <m:t>​+</m:t>
                      </m:r>
                      <m:r>
                        <a:rPr lang="en-IN" sz="1900" i="1" dirty="0">
                          <a:solidFill>
                            <a:srgbClr val="FF0000"/>
                          </a:solidFill>
                          <a:latin typeface="Cambria Math" panose="02040503050406030204" pitchFamily="18" charset="0"/>
                        </a:rPr>
                        <m:t>𝑤</m:t>
                      </m:r>
                      <m:r>
                        <a:rPr lang="en-IN" sz="1900" i="1" dirty="0">
                          <a:solidFill>
                            <a:srgbClr val="FF0000"/>
                          </a:solidFill>
                          <a:latin typeface="Cambria Math" panose="02040503050406030204" pitchFamily="18" charset="0"/>
                        </a:rPr>
                        <m:t>2​</m:t>
                      </m:r>
                      <m:r>
                        <a:rPr lang="en-IN" sz="1900" i="1" dirty="0" err="1">
                          <a:solidFill>
                            <a:srgbClr val="FF0000"/>
                          </a:solidFill>
                          <a:latin typeface="Cambria Math" panose="02040503050406030204" pitchFamily="18" charset="0"/>
                        </a:rPr>
                        <m:t>𝑅𝑡𝑎𝑟𝑔𝑒𝑡</m:t>
                      </m:r>
                      <m:r>
                        <a:rPr lang="en-IN" sz="1900" i="1" dirty="0">
                          <a:solidFill>
                            <a:srgbClr val="FF0000"/>
                          </a:solidFill>
                          <a:latin typeface="Cambria Math" panose="02040503050406030204" pitchFamily="18" charset="0"/>
                        </a:rPr>
                        <m:t>​−</m:t>
                      </m:r>
                      <m:r>
                        <a:rPr lang="en-IN" sz="1900" i="1" dirty="0">
                          <a:solidFill>
                            <a:srgbClr val="FF0000"/>
                          </a:solidFill>
                          <a:latin typeface="Cambria Math" panose="02040503050406030204" pitchFamily="18" charset="0"/>
                        </a:rPr>
                        <m:t>𝑤</m:t>
                      </m:r>
                      <m:r>
                        <a:rPr lang="en-IN" sz="1900" i="1" dirty="0">
                          <a:solidFill>
                            <a:srgbClr val="FF0000"/>
                          </a:solidFill>
                          <a:latin typeface="Cambria Math" panose="02040503050406030204" pitchFamily="18" charset="0"/>
                        </a:rPr>
                        <m:t>3​</m:t>
                      </m:r>
                      <m:r>
                        <a:rPr lang="en-IN" sz="1900" i="1" dirty="0" err="1">
                          <a:solidFill>
                            <a:srgbClr val="FF0000"/>
                          </a:solidFill>
                          <a:latin typeface="Cambria Math" panose="02040503050406030204" pitchFamily="18" charset="0"/>
                        </a:rPr>
                        <m:t>𝑅𝑐𝑜𝑙𝑙𝑖𝑠𝑖𝑜𝑛</m:t>
                      </m:r>
                      <m:r>
                        <a:rPr lang="en-IN" sz="1900" i="1" dirty="0">
                          <a:solidFill>
                            <a:srgbClr val="FF0000"/>
                          </a:solidFill>
                          <a:latin typeface="Cambria Math" panose="02040503050406030204" pitchFamily="18" charset="0"/>
                        </a:rPr>
                        <m:t>​−</m:t>
                      </m:r>
                      <m:r>
                        <a:rPr lang="en-IN" sz="1900" i="1" dirty="0">
                          <a:solidFill>
                            <a:srgbClr val="FF0000"/>
                          </a:solidFill>
                          <a:latin typeface="Cambria Math" panose="02040503050406030204" pitchFamily="18" charset="0"/>
                        </a:rPr>
                        <m:t>𝑤</m:t>
                      </m:r>
                      <m:r>
                        <a:rPr lang="en-IN" sz="1900" i="1" dirty="0">
                          <a:solidFill>
                            <a:srgbClr val="FF0000"/>
                          </a:solidFill>
                          <a:latin typeface="Cambria Math" panose="02040503050406030204" pitchFamily="18" charset="0"/>
                        </a:rPr>
                        <m:t>4​</m:t>
                      </m:r>
                      <m:r>
                        <a:rPr lang="en-IN" sz="1900" i="1" dirty="0" err="1">
                          <a:solidFill>
                            <a:srgbClr val="FF0000"/>
                          </a:solidFill>
                          <a:latin typeface="Cambria Math" panose="02040503050406030204" pitchFamily="18" charset="0"/>
                        </a:rPr>
                        <m:t>𝑅𝑒𝑛𝑒𝑟𝑔𝑦</m:t>
                      </m:r>
                      <m:r>
                        <a:rPr lang="en-IN" sz="1900" i="1" dirty="0">
                          <a:solidFill>
                            <a:srgbClr val="FF0000"/>
                          </a:solidFill>
                          <a:latin typeface="Cambria Math" panose="02040503050406030204" pitchFamily="18" charset="0"/>
                        </a:rPr>
                        <m:t>​</m:t>
                      </m:r>
                      <m:r>
                        <a:rPr lang="en-IN" sz="1900" b="0" i="1" dirty="0" smtClean="0">
                          <a:solidFill>
                            <a:srgbClr val="FF0000"/>
                          </a:solidFill>
                          <a:latin typeface="Cambria Math" panose="02040503050406030204" pitchFamily="18" charset="0"/>
                        </a:rPr>
                        <m:t>                     </m:t>
                      </m:r>
                      <m:r>
                        <a:rPr lang="en-IN" sz="1900" i="1" dirty="0">
                          <a:solidFill>
                            <a:srgbClr val="FF0000"/>
                          </a:solidFill>
                          <a:latin typeface="Cambria Math" panose="02040503050406030204" pitchFamily="18" charset="0"/>
                        </a:rPr>
                        <m:t>(3) </m:t>
                      </m:r>
                    </m:oMath>
                  </m:oMathPara>
                </a14:m>
                <a:endParaRPr lang="en-IN" sz="1900" dirty="0">
                  <a:solidFill>
                    <a:srgbClr val="FF0000"/>
                  </a:solidFill>
                  <a:latin typeface="Cambria" panose="02040503050406030204" pitchFamily="18" charset="0"/>
                  <a:ea typeface="Cambria" panose="02040503050406030204" pitchFamily="18" charset="0"/>
                </a:endParaRPr>
              </a:p>
              <a:p>
                <a:pPr>
                  <a:buNone/>
                </a:pPr>
                <a:endParaRPr lang="en-IN" sz="1900" dirty="0">
                  <a:latin typeface="Cambria" panose="02040503050406030204" pitchFamily="18" charset="0"/>
                  <a:ea typeface="Cambria" panose="02040503050406030204" pitchFamily="18" charset="0"/>
                </a:endParaRPr>
              </a:p>
              <a:p>
                <a:pPr>
                  <a:buNone/>
                </a:pPr>
                <a:r>
                  <a:rPr lang="en-IN" sz="1900" dirty="0">
                    <a:latin typeface="Cambria" panose="02040503050406030204" pitchFamily="18" charset="0"/>
                    <a:ea typeface="Cambria" panose="02040503050406030204" pitchFamily="18" charset="0"/>
                  </a:rPr>
                  <a:t>where:</a:t>
                </a:r>
              </a:p>
              <a:p>
                <a:pPr marL="342900" lvl="0" indent="-342900">
                  <a:buFont typeface="Arial" panose="020B0604020202020204" pitchFamily="34" charset="0"/>
                  <a:buChar char="•"/>
                </a:pPr>
                <a:r>
                  <a:rPr lang="en-IN" sz="1900" dirty="0" err="1">
                    <a:latin typeface="Cambria" panose="02040503050406030204" pitchFamily="18" charset="0"/>
                    <a:ea typeface="Cambria" panose="02040503050406030204" pitchFamily="18" charset="0"/>
                  </a:rPr>
                  <a:t>Rcoverage</a:t>
                </a:r>
                <a:r>
                  <a:rPr lang="en-IN" sz="1900" dirty="0">
                    <a:latin typeface="Cambria" panose="02040503050406030204" pitchFamily="18" charset="0"/>
                    <a:ea typeface="Cambria" panose="02040503050406030204" pitchFamily="18" charset="0"/>
                  </a:rPr>
                  <a:t>​ = Search area coverage reward </a:t>
                </a:r>
              </a:p>
              <a:p>
                <a:pPr marL="342900" lvl="0" indent="-342900">
                  <a:buFont typeface="Arial" panose="020B0604020202020204" pitchFamily="34" charset="0"/>
                  <a:buChar char="•"/>
                </a:pPr>
                <a:r>
                  <a:rPr lang="en-IN" sz="1900" dirty="0" err="1">
                    <a:latin typeface="Cambria" panose="02040503050406030204" pitchFamily="18" charset="0"/>
                    <a:ea typeface="Cambria" panose="02040503050406030204" pitchFamily="18" charset="0"/>
                  </a:rPr>
                  <a:t>Rtarget</a:t>
                </a:r>
                <a:r>
                  <a:rPr lang="en-IN" sz="1900" dirty="0">
                    <a:latin typeface="Cambria" panose="02040503050406030204" pitchFamily="18" charset="0"/>
                    <a:ea typeface="Cambria" panose="02040503050406030204" pitchFamily="18" charset="0"/>
                  </a:rPr>
                  <a:t>​ = Target detection reward </a:t>
                </a:r>
              </a:p>
              <a:p>
                <a:pPr marL="342900" lvl="0" indent="-342900">
                  <a:buFont typeface="Arial" panose="020B0604020202020204" pitchFamily="34" charset="0"/>
                  <a:buChar char="•"/>
                </a:pPr>
                <a:r>
                  <a:rPr lang="en-IN" sz="1900" dirty="0" err="1">
                    <a:latin typeface="Cambria" panose="02040503050406030204" pitchFamily="18" charset="0"/>
                    <a:ea typeface="Cambria" panose="02040503050406030204" pitchFamily="18" charset="0"/>
                  </a:rPr>
                  <a:t>Rcollision</a:t>
                </a:r>
                <a:r>
                  <a:rPr lang="en-IN" sz="1900" dirty="0">
                    <a:latin typeface="Cambria" panose="02040503050406030204" pitchFamily="18" charset="0"/>
                    <a:ea typeface="Cambria" panose="02040503050406030204" pitchFamily="18" charset="0"/>
                  </a:rPr>
                  <a:t>​ = Collision penalty </a:t>
                </a:r>
              </a:p>
              <a:p>
                <a:pPr marL="342900" lvl="0" indent="-342900">
                  <a:buFont typeface="Arial" panose="020B0604020202020204" pitchFamily="34" charset="0"/>
                  <a:buChar char="•"/>
                </a:pPr>
                <a:r>
                  <a:rPr lang="en-IN" sz="1900" dirty="0" err="1">
                    <a:latin typeface="Cambria" panose="02040503050406030204" pitchFamily="18" charset="0"/>
                    <a:ea typeface="Cambria" panose="02040503050406030204" pitchFamily="18" charset="0"/>
                  </a:rPr>
                  <a:t>Renergy</a:t>
                </a:r>
                <a:r>
                  <a:rPr lang="en-IN" sz="1900" dirty="0">
                    <a:latin typeface="Cambria" panose="02040503050406030204" pitchFamily="18" charset="0"/>
                    <a:ea typeface="Cambria" panose="02040503050406030204" pitchFamily="18" charset="0"/>
                  </a:rPr>
                  <a:t>​ = Energy consumption penalty </a:t>
                </a:r>
              </a:p>
              <a:p>
                <a:pPr marL="342900" lvl="0" indent="-342900">
                  <a:buFont typeface="Arial" panose="020B0604020202020204" pitchFamily="34" charset="0"/>
                  <a:buChar char="•"/>
                </a:pPr>
                <a:endParaRPr lang="en-IN" sz="1900" dirty="0">
                  <a:latin typeface="Cambria" panose="02040503050406030204" pitchFamily="18" charset="0"/>
                  <a:ea typeface="Cambria" panose="02040503050406030204" pitchFamily="18" charset="0"/>
                </a:endParaRPr>
              </a:p>
              <a:p>
                <a:pPr>
                  <a:buNone/>
                </a:pPr>
                <a:r>
                  <a:rPr lang="en-IN" sz="2000" dirty="0">
                    <a:latin typeface="Cambria" panose="02040503050406030204" pitchFamily="18" charset="0"/>
                    <a:ea typeface="Cambria" panose="02040503050406030204" pitchFamily="18" charset="0"/>
                  </a:rPr>
                  <a:t>From </a:t>
                </a:r>
                <a:r>
                  <a:rPr lang="en-IN" sz="2000" dirty="0" err="1">
                    <a:latin typeface="Cambria" panose="02040503050406030204" pitchFamily="18" charset="0"/>
                    <a:ea typeface="Cambria" panose="02040503050406030204" pitchFamily="18" charset="0"/>
                  </a:rPr>
                  <a:t>Eq</a:t>
                </a:r>
                <a:r>
                  <a:rPr lang="en-IN" sz="2000" dirty="0">
                    <a:latin typeface="Cambria" panose="02040503050406030204" pitchFamily="18" charset="0"/>
                    <a:ea typeface="Cambria" panose="02040503050406030204" pitchFamily="18" charset="0"/>
                  </a:rPr>
                  <a:t>(3), </a:t>
                </a:r>
                <a:r>
                  <a:rPr lang="en-IN" sz="1900" dirty="0">
                    <a:latin typeface="Cambria" panose="02040503050406030204" pitchFamily="18" charset="0"/>
                    <a:ea typeface="Cambria" panose="02040503050406030204" pitchFamily="18" charset="0"/>
                  </a:rPr>
                  <a:t>The cooperative reward encourages the drones to maximize coverage and target detection while minimizing collisions and energy consumption.</a:t>
                </a:r>
              </a:p>
              <a:p>
                <a:pPr>
                  <a:buNone/>
                </a:pPr>
                <a:endParaRPr lang="en-IN" sz="1900" dirty="0">
                  <a:latin typeface="Cambria" panose="02040503050406030204" pitchFamily="18" charset="0"/>
                  <a:ea typeface="Cambria" panose="02040503050406030204" pitchFamily="18" charset="0"/>
                </a:endParaRPr>
              </a:p>
            </p:txBody>
          </p:sp>
        </mc:Choice>
        <mc:Fallback xmlns="">
          <p:sp>
            <p:nvSpPr>
              <p:cNvPr id="4" name="TextBox 3">
                <a:extLst>
                  <a:ext uri="{FF2B5EF4-FFF2-40B4-BE49-F238E27FC236}">
                    <a16:creationId xmlns:a16="http://schemas.microsoft.com/office/drawing/2014/main" id="{ED25E74B-DE7B-B485-EAB2-0227B864E2E0}"/>
                  </a:ext>
                </a:extLst>
              </p:cNvPr>
              <p:cNvSpPr txBox="1">
                <a:spLocks noRot="1" noChangeAspect="1" noMove="1" noResize="1" noEditPoints="1" noAdjustHandles="1" noChangeArrowheads="1" noChangeShapeType="1" noTextEdit="1"/>
              </p:cNvSpPr>
              <p:nvPr/>
            </p:nvSpPr>
            <p:spPr>
              <a:xfrm>
                <a:off x="1677670" y="1859339"/>
                <a:ext cx="9752330" cy="3893374"/>
              </a:xfrm>
              <a:prstGeom prst="rect">
                <a:avLst/>
              </a:prstGeom>
              <a:blipFill>
                <a:blip r:embed="rId2"/>
                <a:stretch>
                  <a:fillRect l="-625" t="-782" r="-1000"/>
                </a:stretch>
              </a:blipFill>
            </p:spPr>
            <p:txBody>
              <a:bodyPr/>
              <a:lstStyle/>
              <a:p>
                <a:r>
                  <a:rPr lang="en-IN">
                    <a:noFill/>
                  </a:rPr>
                  <a:t> </a:t>
                </a:r>
              </a:p>
            </p:txBody>
          </p:sp>
        </mc:Fallback>
      </mc:AlternateContent>
    </p:spTree>
    <p:extLst>
      <p:ext uri="{BB962C8B-B14F-4D97-AF65-F5344CB8AC3E}">
        <p14:creationId xmlns:p14="http://schemas.microsoft.com/office/powerpoint/2010/main" val="4145548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9B34-7577-8CE6-CEF7-DE531B9EDE3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008E908-5530-3F31-4CAC-C262EE2BF144}"/>
              </a:ext>
            </a:extLst>
          </p:cNvPr>
          <p:cNvSpPr txBox="1"/>
          <p:nvPr/>
        </p:nvSpPr>
        <p:spPr>
          <a:xfrm>
            <a:off x="3732713" y="461010"/>
            <a:ext cx="3755571"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Methodology</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9FF5CB8-A727-FA8D-244A-6E2FD9ADDD94}"/>
                  </a:ext>
                </a:extLst>
              </p:cNvPr>
              <p:cNvSpPr txBox="1"/>
              <p:nvPr/>
            </p:nvSpPr>
            <p:spPr>
              <a:xfrm>
                <a:off x="1028700" y="1422966"/>
                <a:ext cx="10350500" cy="4478149"/>
              </a:xfrm>
              <a:prstGeom prst="rect">
                <a:avLst/>
              </a:prstGeom>
              <a:noFill/>
            </p:spPr>
            <p:txBody>
              <a:bodyPr wrap="square">
                <a:spAutoFit/>
              </a:bodyPr>
              <a:lstStyle/>
              <a:p>
                <a:pPr algn="just">
                  <a:buNone/>
                </a:pPr>
                <a:r>
                  <a:rPr lang="en-IN" sz="1900" b="1" dirty="0">
                    <a:latin typeface="Cambria" panose="02040503050406030204" pitchFamily="18" charset="0"/>
                    <a:ea typeface="Cambria" panose="02040503050406030204" pitchFamily="18" charset="0"/>
                  </a:rPr>
                  <a:t>Step 6: Search Coverage and Target Detection</a:t>
                </a:r>
              </a:p>
              <a:p>
                <a:pPr algn="just">
                  <a:buNone/>
                </a:pPr>
                <a:r>
                  <a:rPr lang="en-IN" sz="1900" dirty="0">
                    <a:latin typeface="Cambria" panose="02040503050406030204" pitchFamily="18" charset="0"/>
                    <a:ea typeface="Cambria" panose="02040503050406030204" pitchFamily="18" charset="0"/>
                  </a:rPr>
                  <a:t>Search coverage is calculated as:</a:t>
                </a:r>
              </a:p>
              <a:p>
                <a:pPr algn="just">
                  <a:buNone/>
                </a:pPr>
                <a14:m>
                  <m:oMathPara xmlns:m="http://schemas.openxmlformats.org/officeDocument/2006/math">
                    <m:oMath>
                      <m:r>
                        <a:rPr lang="en-IN" sz="1900" b="1" i="1" dirty="0" smtClean="0">
                          <a:solidFill>
                            <a:srgbClr val="FF0000"/>
                          </a:solidFill>
                          <a:latin typeface="Cambria Math" panose="02040503050406030204" pitchFamily="18" charset="0"/>
                          <a:ea typeface="Cambria" panose="02040503050406030204" pitchFamily="18" charset="0"/>
                        </a:rPr>
                        <m:t>𝑪</m:t>
                      </m:r>
                      <m:r>
                        <a:rPr lang="en-IN" sz="1900" b="1" i="1" dirty="0" smtClean="0">
                          <a:solidFill>
                            <a:srgbClr val="FF0000"/>
                          </a:solidFill>
                          <a:latin typeface="Cambria Math" panose="02040503050406030204" pitchFamily="18" charset="0"/>
                          <a:ea typeface="Cambria" panose="02040503050406030204" pitchFamily="18" charset="0"/>
                        </a:rPr>
                        <m:t> = </m:t>
                      </m:r>
                      <m:r>
                        <a:rPr lang="en-IN" sz="1900" b="1" i="1" dirty="0" err="1">
                          <a:solidFill>
                            <a:srgbClr val="FF0000"/>
                          </a:solidFill>
                          <a:latin typeface="Cambria Math" panose="02040503050406030204" pitchFamily="18" charset="0"/>
                          <a:ea typeface="Cambria" panose="02040503050406030204" pitchFamily="18" charset="0"/>
                        </a:rPr>
                        <m:t>𝑨𝒔𝒆𝒂𝒓𝒄𝒉𝒆𝒅</m:t>
                      </m:r>
                      <m:r>
                        <a:rPr lang="en-IN" sz="1900" b="1" i="1" dirty="0">
                          <a:solidFill>
                            <a:srgbClr val="FF0000"/>
                          </a:solidFill>
                          <a:latin typeface="Cambria Math" panose="02040503050406030204" pitchFamily="18" charset="0"/>
                          <a:ea typeface="Cambria" panose="02040503050406030204" pitchFamily="18" charset="0"/>
                        </a:rPr>
                        <m:t> / </m:t>
                      </m:r>
                      <m:r>
                        <a:rPr lang="en-IN" sz="1900" b="1" i="1" dirty="0" err="1">
                          <a:solidFill>
                            <a:srgbClr val="FF0000"/>
                          </a:solidFill>
                          <a:latin typeface="Cambria Math" panose="02040503050406030204" pitchFamily="18" charset="0"/>
                          <a:ea typeface="Cambria" panose="02040503050406030204" pitchFamily="18" charset="0"/>
                        </a:rPr>
                        <m:t>𝑨𝒕𝒐𝒕𝒂𝒍</m:t>
                      </m:r>
                      <m:r>
                        <a:rPr lang="en-IN" sz="1900" b="1" i="1" dirty="0">
                          <a:solidFill>
                            <a:srgbClr val="FF0000"/>
                          </a:solidFill>
                          <a:latin typeface="Cambria Math" panose="02040503050406030204" pitchFamily="18" charset="0"/>
                          <a:ea typeface="Cambria" panose="02040503050406030204" pitchFamily="18" charset="0"/>
                        </a:rPr>
                        <m:t> × </m:t>
                      </m:r>
                      <m:r>
                        <a:rPr lang="en-IN" sz="1900" b="1" i="1" dirty="0">
                          <a:solidFill>
                            <a:srgbClr val="FF0000"/>
                          </a:solidFill>
                          <a:latin typeface="Cambria Math" panose="02040503050406030204" pitchFamily="18" charset="0"/>
                          <a:ea typeface="Cambria" panose="02040503050406030204" pitchFamily="18" charset="0"/>
                        </a:rPr>
                        <m:t>𝟏𝟎𝟎</m:t>
                      </m:r>
                      <m:r>
                        <a:rPr lang="en-IN" sz="1900" b="1" i="1" dirty="0">
                          <a:solidFill>
                            <a:srgbClr val="FF0000"/>
                          </a:solidFill>
                          <a:latin typeface="Cambria Math" panose="02040503050406030204" pitchFamily="18" charset="0"/>
                          <a:ea typeface="Cambria" panose="02040503050406030204" pitchFamily="18" charset="0"/>
                        </a:rPr>
                        <m:t>                                                                         </m:t>
                      </m:r>
                      <m:r>
                        <a:rPr lang="en-IN" sz="1900" b="1" i="1" dirty="0" smtClean="0">
                          <a:solidFill>
                            <a:srgbClr val="FF0000"/>
                          </a:solidFill>
                          <a:latin typeface="Cambria Math" panose="02040503050406030204" pitchFamily="18" charset="0"/>
                          <a:ea typeface="Cambria" panose="02040503050406030204" pitchFamily="18" charset="0"/>
                        </a:rPr>
                        <m:t>           (</m:t>
                      </m:r>
                      <m:r>
                        <a:rPr lang="en-IN" sz="1900" b="1" i="1" dirty="0">
                          <a:solidFill>
                            <a:srgbClr val="FF0000"/>
                          </a:solidFill>
                          <a:latin typeface="Cambria Math" panose="02040503050406030204" pitchFamily="18" charset="0"/>
                          <a:ea typeface="Cambria" panose="02040503050406030204" pitchFamily="18" charset="0"/>
                        </a:rPr>
                        <m:t>𝟒</m:t>
                      </m:r>
                      <m:r>
                        <a:rPr lang="en-IN" sz="1900" b="1" i="1" dirty="0">
                          <a:solidFill>
                            <a:srgbClr val="FF0000"/>
                          </a:solidFill>
                          <a:latin typeface="Cambria Math" panose="02040503050406030204" pitchFamily="18" charset="0"/>
                          <a:ea typeface="Cambria" panose="02040503050406030204" pitchFamily="18" charset="0"/>
                        </a:rPr>
                        <m:t>)</m:t>
                      </m:r>
                    </m:oMath>
                  </m:oMathPara>
                </a14:m>
                <a:endParaRPr lang="en-IN" sz="1900" dirty="0">
                  <a:solidFill>
                    <a:srgbClr val="FF0000"/>
                  </a:solidFill>
                  <a:latin typeface="Cambria" panose="02040503050406030204" pitchFamily="18" charset="0"/>
                  <a:ea typeface="Cambria" panose="02040503050406030204" pitchFamily="18" charset="0"/>
                </a:endParaRPr>
              </a:p>
              <a:p>
                <a:pPr algn="just">
                  <a:buNone/>
                </a:pPr>
                <a:r>
                  <a:rPr lang="en-IN" sz="1900" dirty="0">
                    <a:latin typeface="Cambria" panose="02040503050406030204" pitchFamily="18" charset="0"/>
                    <a:ea typeface="Cambria" panose="02040503050406030204" pitchFamily="18" charset="0"/>
                  </a:rPr>
                  <a:t>where:</a:t>
                </a:r>
              </a:p>
              <a:p>
                <a:pPr marL="342900" lvl="0" indent="-342900" algn="just">
                  <a:buFont typeface="Arial" panose="020B0604020202020204" pitchFamily="34" charset="0"/>
                  <a:buChar char="•"/>
                </a:pPr>
                <a:r>
                  <a:rPr lang="en-IN" sz="1900" b="1" dirty="0" err="1">
                    <a:latin typeface="Cambria" panose="02040503050406030204" pitchFamily="18" charset="0"/>
                    <a:ea typeface="Cambria" panose="02040503050406030204" pitchFamily="18" charset="0"/>
                  </a:rPr>
                  <a:t>Asearched</a:t>
                </a:r>
                <a:r>
                  <a:rPr lang="en-IN" sz="1900" dirty="0">
                    <a:latin typeface="Cambria" panose="02040503050406030204" pitchFamily="18" charset="0"/>
                    <a:ea typeface="Cambria" panose="02040503050406030204" pitchFamily="18" charset="0"/>
                  </a:rPr>
                  <a:t> = Area searched by the drone swarm </a:t>
                </a:r>
              </a:p>
              <a:p>
                <a:pPr marL="342900" lvl="0" indent="-342900" algn="just">
                  <a:buFont typeface="Arial" panose="020B0604020202020204" pitchFamily="34" charset="0"/>
                  <a:buChar char="•"/>
                </a:pPr>
                <a:r>
                  <a:rPr lang="en-IN" sz="1900" b="1" dirty="0" err="1">
                    <a:latin typeface="Cambria" panose="02040503050406030204" pitchFamily="18" charset="0"/>
                    <a:ea typeface="Cambria" panose="02040503050406030204" pitchFamily="18" charset="0"/>
                  </a:rPr>
                  <a:t>Atotal</a:t>
                </a:r>
                <a:r>
                  <a:rPr lang="en-IN" sz="1900" dirty="0">
                    <a:latin typeface="Cambria" panose="02040503050406030204" pitchFamily="18" charset="0"/>
                    <a:ea typeface="Cambria" panose="02040503050406030204" pitchFamily="18" charset="0"/>
                  </a:rPr>
                  <a:t> = Total search area </a:t>
                </a:r>
              </a:p>
              <a:p>
                <a:pPr algn="just">
                  <a:buNone/>
                </a:pPr>
                <a:r>
                  <a:rPr lang="en-IN" sz="1900" dirty="0">
                    <a:latin typeface="Cambria" panose="02040503050406030204" pitchFamily="18" charset="0"/>
                    <a:ea typeface="Cambria" panose="02040503050406030204" pitchFamily="18" charset="0"/>
                  </a:rPr>
                  <a:t>Target Detection Rate is calculated as:</a:t>
                </a:r>
              </a:p>
              <a:p>
                <a:pPr algn="just">
                  <a:buNone/>
                </a:pPr>
                <a14:m>
                  <m:oMathPara xmlns:m="http://schemas.openxmlformats.org/officeDocument/2006/math">
                    <m:oMath>
                      <m:r>
                        <a:rPr lang="en-IN" sz="1900" b="1" i="1" dirty="0" smtClean="0">
                          <a:solidFill>
                            <a:srgbClr val="FF0000"/>
                          </a:solidFill>
                          <a:latin typeface="Cambria Math" panose="02040503050406030204" pitchFamily="18" charset="0"/>
                          <a:ea typeface="Cambria" panose="02040503050406030204" pitchFamily="18" charset="0"/>
                        </a:rPr>
                        <m:t>𝑻𝑫𝑹</m:t>
                      </m:r>
                      <m:r>
                        <a:rPr lang="en-IN" sz="1900" b="1" i="1" dirty="0" smtClean="0">
                          <a:solidFill>
                            <a:srgbClr val="FF0000"/>
                          </a:solidFill>
                          <a:latin typeface="Cambria Math" panose="02040503050406030204" pitchFamily="18" charset="0"/>
                          <a:ea typeface="Cambria" panose="02040503050406030204" pitchFamily="18" charset="0"/>
                        </a:rPr>
                        <m:t> = </m:t>
                      </m:r>
                      <m:r>
                        <a:rPr lang="en-IN" sz="1900" b="1" i="1" dirty="0" err="1">
                          <a:solidFill>
                            <a:srgbClr val="FF0000"/>
                          </a:solidFill>
                          <a:latin typeface="Cambria Math" panose="02040503050406030204" pitchFamily="18" charset="0"/>
                          <a:ea typeface="Cambria" panose="02040503050406030204" pitchFamily="18" charset="0"/>
                        </a:rPr>
                        <m:t>𝑵𝒅𝒆𝒕𝒆𝒄𝒕𝒆𝒅</m:t>
                      </m:r>
                      <m:r>
                        <a:rPr lang="en-IN" sz="1900" b="1" i="1" dirty="0">
                          <a:solidFill>
                            <a:srgbClr val="FF0000"/>
                          </a:solidFill>
                          <a:latin typeface="Cambria Math" panose="02040503050406030204" pitchFamily="18" charset="0"/>
                          <a:ea typeface="Cambria" panose="02040503050406030204" pitchFamily="18" charset="0"/>
                        </a:rPr>
                        <m:t> / </m:t>
                      </m:r>
                      <m:r>
                        <a:rPr lang="en-IN" sz="1900" b="1" i="1" dirty="0" err="1">
                          <a:solidFill>
                            <a:srgbClr val="FF0000"/>
                          </a:solidFill>
                          <a:latin typeface="Cambria Math" panose="02040503050406030204" pitchFamily="18" charset="0"/>
                          <a:ea typeface="Cambria" panose="02040503050406030204" pitchFamily="18" charset="0"/>
                        </a:rPr>
                        <m:t>𝑵𝒕𝒂𝒓𝒈𝒆𝒕𝒔</m:t>
                      </m:r>
                      <m:r>
                        <a:rPr lang="en-IN" sz="1900" b="1" i="1" dirty="0">
                          <a:solidFill>
                            <a:srgbClr val="FF0000"/>
                          </a:solidFill>
                          <a:latin typeface="Cambria Math" panose="02040503050406030204" pitchFamily="18" charset="0"/>
                          <a:ea typeface="Cambria" panose="02040503050406030204" pitchFamily="18" charset="0"/>
                        </a:rPr>
                        <m:t> × </m:t>
                      </m:r>
                      <m:r>
                        <a:rPr lang="en-IN" sz="1900" b="1" i="1" dirty="0">
                          <a:solidFill>
                            <a:srgbClr val="FF0000"/>
                          </a:solidFill>
                          <a:latin typeface="Cambria Math" panose="02040503050406030204" pitchFamily="18" charset="0"/>
                          <a:ea typeface="Cambria" panose="02040503050406030204" pitchFamily="18" charset="0"/>
                        </a:rPr>
                        <m:t>𝟏𝟎𝟎</m:t>
                      </m:r>
                      <m:r>
                        <a:rPr lang="en-IN" sz="1900" b="1" i="1" dirty="0">
                          <a:solidFill>
                            <a:srgbClr val="FF0000"/>
                          </a:solidFill>
                          <a:latin typeface="Cambria Math" panose="02040503050406030204" pitchFamily="18" charset="0"/>
                          <a:ea typeface="Cambria" panose="02040503050406030204" pitchFamily="18" charset="0"/>
                        </a:rPr>
                        <m:t>                                                                      (</m:t>
                      </m:r>
                      <m:r>
                        <a:rPr lang="en-IN" sz="1900" b="1" i="1" dirty="0">
                          <a:solidFill>
                            <a:srgbClr val="FF0000"/>
                          </a:solidFill>
                          <a:latin typeface="Cambria Math" panose="02040503050406030204" pitchFamily="18" charset="0"/>
                          <a:ea typeface="Cambria" panose="02040503050406030204" pitchFamily="18" charset="0"/>
                        </a:rPr>
                        <m:t>𝟓</m:t>
                      </m:r>
                      <m:r>
                        <a:rPr lang="en-IN" sz="1900" b="1" i="1" dirty="0">
                          <a:solidFill>
                            <a:srgbClr val="FF0000"/>
                          </a:solidFill>
                          <a:latin typeface="Cambria Math" panose="02040503050406030204" pitchFamily="18" charset="0"/>
                          <a:ea typeface="Cambria" panose="02040503050406030204" pitchFamily="18" charset="0"/>
                        </a:rPr>
                        <m:t>)</m:t>
                      </m:r>
                    </m:oMath>
                  </m:oMathPara>
                </a14:m>
                <a:endParaRPr lang="en-IN" sz="1900" dirty="0">
                  <a:solidFill>
                    <a:srgbClr val="FF0000"/>
                  </a:solidFill>
                  <a:latin typeface="Cambria" panose="02040503050406030204" pitchFamily="18" charset="0"/>
                  <a:ea typeface="Cambria" panose="02040503050406030204" pitchFamily="18" charset="0"/>
                </a:endParaRPr>
              </a:p>
              <a:p>
                <a:pPr algn="just">
                  <a:buNone/>
                </a:pPr>
                <a:r>
                  <a:rPr lang="en-IN" sz="1900" dirty="0">
                    <a:latin typeface="Cambria" panose="02040503050406030204" pitchFamily="18" charset="0"/>
                    <a:ea typeface="Cambria" panose="02040503050406030204" pitchFamily="18" charset="0"/>
                  </a:rPr>
                  <a:t>where:</a:t>
                </a:r>
              </a:p>
              <a:p>
                <a:pPr marL="342900" lvl="0" indent="-342900" algn="just">
                  <a:buFont typeface="Arial" panose="020B0604020202020204" pitchFamily="34" charset="0"/>
                  <a:buChar char="•"/>
                </a:pPr>
                <a:r>
                  <a:rPr lang="en-IN" sz="1900" b="1" dirty="0" err="1">
                    <a:latin typeface="Cambria" panose="02040503050406030204" pitchFamily="18" charset="0"/>
                    <a:ea typeface="Cambria" panose="02040503050406030204" pitchFamily="18" charset="0"/>
                  </a:rPr>
                  <a:t>Ndetected</a:t>
                </a:r>
                <a:r>
                  <a:rPr lang="en-IN" sz="1900" dirty="0">
                    <a:latin typeface="Cambria" panose="02040503050406030204" pitchFamily="18" charset="0"/>
                    <a:ea typeface="Cambria" panose="02040503050406030204" pitchFamily="18" charset="0"/>
                  </a:rPr>
                  <a:t> = Number of detected targets </a:t>
                </a:r>
              </a:p>
              <a:p>
                <a:pPr marL="342900" lvl="0" indent="-342900" algn="just">
                  <a:buFont typeface="Arial" panose="020B0604020202020204" pitchFamily="34" charset="0"/>
                  <a:buChar char="•"/>
                </a:pPr>
                <a:r>
                  <a:rPr lang="en-IN" sz="1900" b="1" dirty="0" err="1">
                    <a:latin typeface="Cambria" panose="02040503050406030204" pitchFamily="18" charset="0"/>
                    <a:ea typeface="Cambria" panose="02040503050406030204" pitchFamily="18" charset="0"/>
                  </a:rPr>
                  <a:t>Ntargets</a:t>
                </a:r>
                <a:r>
                  <a:rPr lang="en-IN" sz="1900" dirty="0">
                    <a:latin typeface="Cambria" panose="02040503050406030204" pitchFamily="18" charset="0"/>
                    <a:ea typeface="Cambria" panose="02040503050406030204" pitchFamily="18" charset="0"/>
                  </a:rPr>
                  <a:t> = Total number of targets </a:t>
                </a:r>
              </a:p>
              <a:p>
                <a:pPr marL="342900" lvl="0" indent="-342900" algn="just">
                  <a:buFont typeface="Arial" panose="020B0604020202020204" pitchFamily="34" charset="0"/>
                  <a:buChar char="•"/>
                </a:pPr>
                <a:endParaRPr lang="en-IN" sz="1900" dirty="0">
                  <a:latin typeface="Cambria" panose="02040503050406030204" pitchFamily="18" charset="0"/>
                  <a:ea typeface="Cambria" panose="02040503050406030204" pitchFamily="18" charset="0"/>
                </a:endParaRPr>
              </a:p>
              <a:p>
                <a:pPr algn="just">
                  <a:buNone/>
                </a:pPr>
                <a:r>
                  <a:rPr lang="en-IN" sz="2000" dirty="0">
                    <a:latin typeface="Cambria" panose="02040503050406030204" pitchFamily="18" charset="0"/>
                    <a:ea typeface="Cambria" panose="02040503050406030204" pitchFamily="18" charset="0"/>
                  </a:rPr>
                  <a:t>From </a:t>
                </a:r>
                <a:r>
                  <a:rPr lang="en-IN" sz="2000" dirty="0" err="1">
                    <a:latin typeface="Cambria" panose="02040503050406030204" pitchFamily="18" charset="0"/>
                    <a:ea typeface="Cambria" panose="02040503050406030204" pitchFamily="18" charset="0"/>
                  </a:rPr>
                  <a:t>Eq</a:t>
                </a:r>
                <a:r>
                  <a:rPr lang="en-IN" sz="2000" dirty="0">
                    <a:latin typeface="Cambria" panose="02040503050406030204" pitchFamily="18" charset="0"/>
                    <a:ea typeface="Cambria" panose="02040503050406030204" pitchFamily="18" charset="0"/>
                  </a:rPr>
                  <a:t>(4) &amp; </a:t>
                </a:r>
                <a:r>
                  <a:rPr lang="en-IN" sz="2000" dirty="0" err="1">
                    <a:latin typeface="Cambria" panose="02040503050406030204" pitchFamily="18" charset="0"/>
                    <a:ea typeface="Cambria" panose="02040503050406030204" pitchFamily="18" charset="0"/>
                  </a:rPr>
                  <a:t>Eq</a:t>
                </a:r>
                <a:r>
                  <a:rPr lang="en-IN" sz="2000" dirty="0">
                    <a:latin typeface="Cambria" panose="02040503050406030204" pitchFamily="18" charset="0"/>
                    <a:ea typeface="Cambria" panose="02040503050406030204" pitchFamily="18" charset="0"/>
                  </a:rPr>
                  <a:t>(5), </a:t>
                </a:r>
                <a:r>
                  <a:rPr lang="en-IN" sz="1900" dirty="0">
                    <a:latin typeface="Cambria" panose="02040503050406030204" pitchFamily="18" charset="0"/>
                    <a:ea typeface="Cambria" panose="02040503050406030204" pitchFamily="18" charset="0"/>
                  </a:rPr>
                  <a:t>The search coverage measures how much of the total area has been explored by the drone swarm. A higher coverage percentage indicates more effective exploration of the search region.</a:t>
                </a:r>
              </a:p>
            </p:txBody>
          </p:sp>
        </mc:Choice>
        <mc:Fallback xmlns="">
          <p:sp>
            <p:nvSpPr>
              <p:cNvPr id="16" name="TextBox 15">
                <a:extLst>
                  <a:ext uri="{FF2B5EF4-FFF2-40B4-BE49-F238E27FC236}">
                    <a16:creationId xmlns:a16="http://schemas.microsoft.com/office/drawing/2014/main" id="{B9FF5CB8-A727-FA8D-244A-6E2FD9ADDD94}"/>
                  </a:ext>
                </a:extLst>
              </p:cNvPr>
              <p:cNvSpPr txBox="1">
                <a:spLocks noRot="1" noChangeAspect="1" noMove="1" noResize="1" noEditPoints="1" noAdjustHandles="1" noChangeArrowheads="1" noChangeShapeType="1" noTextEdit="1"/>
              </p:cNvSpPr>
              <p:nvPr/>
            </p:nvSpPr>
            <p:spPr>
              <a:xfrm>
                <a:off x="1028700" y="1422966"/>
                <a:ext cx="10350500" cy="4478149"/>
              </a:xfrm>
              <a:prstGeom prst="rect">
                <a:avLst/>
              </a:prstGeom>
              <a:blipFill>
                <a:blip r:embed="rId2"/>
                <a:stretch>
                  <a:fillRect l="-648" t="-680" r="-530" b="-1633"/>
                </a:stretch>
              </a:blipFill>
            </p:spPr>
            <p:txBody>
              <a:bodyPr/>
              <a:lstStyle/>
              <a:p>
                <a:r>
                  <a:rPr lang="en-IN">
                    <a:noFill/>
                  </a:rPr>
                  <a:t> </a:t>
                </a:r>
              </a:p>
            </p:txBody>
          </p:sp>
        </mc:Fallback>
      </mc:AlternateContent>
    </p:spTree>
    <p:extLst>
      <p:ext uri="{BB962C8B-B14F-4D97-AF65-F5344CB8AC3E}">
        <p14:creationId xmlns:p14="http://schemas.microsoft.com/office/powerpoint/2010/main" val="3614418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EE700-9C1B-C2A6-3179-0D37EF68E7B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8A0D3BC-1A6E-02B1-B0DD-BF6E90B654EB}"/>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MODULE 1 – Environment &amp; Drone Initialization</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F29DDB7-9E3A-A02D-8720-083B24BAC42E}"/>
              </a:ext>
            </a:extLst>
          </p:cNvPr>
          <p:cNvSpPr txBox="1"/>
          <p:nvPr/>
        </p:nvSpPr>
        <p:spPr>
          <a:xfrm>
            <a:off x="1028700" y="1708716"/>
            <a:ext cx="11473176" cy="2669577"/>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Define the search environment with the required search area, obstacles, and target locations.</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Initialize the drone swarm with a predefined number of drones.</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Set the initial position, velocity, battery level, and sensor range of each drone.</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Each drone observes its local environmental state.</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Drones collect information about obstacles, targets, and </a:t>
            </a:r>
            <a:r>
              <a:rPr lang="en-US" sz="1900" dirty="0" err="1">
                <a:latin typeface="Cambria" panose="02040503050406030204" pitchFamily="18" charset="0"/>
                <a:ea typeface="Cambria" panose="02040503050406030204" pitchFamily="18" charset="0"/>
              </a:rPr>
              <a:t>neighbouring</a:t>
            </a:r>
            <a:r>
              <a:rPr lang="en-US" sz="1900" dirty="0">
                <a:latin typeface="Cambria" panose="02040503050406030204" pitchFamily="18" charset="0"/>
                <a:ea typeface="Cambria" panose="02040503050406030204" pitchFamily="18" charset="0"/>
              </a:rPr>
              <a:t> drones.</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The initialized state is provided to the subsequent swarm coordination and MARL process.</a:t>
            </a:r>
            <a:endParaRPr lang="en-IN" sz="19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01539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3B8FF-7EF1-78CE-D020-9A1FC486DD5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CA56D53-E06D-B0C7-6895-D9833DA9E6F0}"/>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MODULE 2 – Swarm Coordination</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44429D84-5166-E7D3-5F2E-47EC334B1D7C}"/>
              </a:ext>
            </a:extLst>
          </p:cNvPr>
          <p:cNvSpPr txBox="1"/>
          <p:nvPr/>
        </p:nvSpPr>
        <p:spPr>
          <a:xfrm>
            <a:off x="1691640" y="1392672"/>
            <a:ext cx="9681209" cy="310815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Coordinate multiple drones to perform cooperative search.</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Apply separation, cohesion, and alignment forces to control swarm movement.</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Separation helps maintain safe distance and avoid collisions.</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Cohesion keeps drones connected as a coordinated swarm.</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Alignment helps drones maintain consistent movement direction.</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The combined coordination mechanism enables formation maintenance, collision avoidance, and cooperative exploration.</a:t>
            </a:r>
            <a:endParaRPr lang="en-IN" sz="19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96706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36FA2-DFF8-2381-AD45-0C583032074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2E7C22F-0763-A326-BF96-D3A79E8E1A60}"/>
              </a:ext>
            </a:extLst>
          </p:cNvPr>
          <p:cNvSpPr txBox="1"/>
          <p:nvPr/>
        </p:nvSpPr>
        <p:spPr>
          <a:xfrm>
            <a:off x="1109134" y="22352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MODULE 3 – Multi-Agent Reinforcement Learning</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6D8C076C-2901-7778-6625-2443FBEFDF75}"/>
              </a:ext>
            </a:extLst>
          </p:cNvPr>
          <p:cNvSpPr txBox="1"/>
          <p:nvPr/>
        </p:nvSpPr>
        <p:spPr>
          <a:xfrm>
            <a:off x="1794510" y="1308656"/>
            <a:ext cx="9121140" cy="2669577"/>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Each drone acts as an independent learning agent within the swarm.</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Drones observe the current state of their environment and </a:t>
            </a:r>
            <a:r>
              <a:rPr lang="en-US" sz="1900" dirty="0" err="1">
                <a:latin typeface="Cambria" panose="02040503050406030204" pitchFamily="18" charset="0"/>
                <a:ea typeface="Cambria" panose="02040503050406030204" pitchFamily="18" charset="0"/>
              </a:rPr>
              <a:t>neighbouring</a:t>
            </a:r>
            <a:r>
              <a:rPr lang="en-US" sz="1900" dirty="0">
                <a:latin typeface="Cambria" panose="02040503050406030204" pitchFamily="18" charset="0"/>
                <a:ea typeface="Cambria" panose="02040503050406030204" pitchFamily="18" charset="0"/>
              </a:rPr>
              <a:t> agents.</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Each drone selects an appropriate action for navigation and search.</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The selected action produces a reward based on the mission objective.</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Q-values are updated using the received reward and next state.</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Through repeated interactions, drones learn optimal cooperative search </a:t>
            </a:r>
            <a:r>
              <a:rPr lang="en-US" sz="1900" dirty="0" err="1">
                <a:latin typeface="Cambria" panose="02040503050406030204" pitchFamily="18" charset="0"/>
                <a:ea typeface="Cambria" panose="02040503050406030204" pitchFamily="18" charset="0"/>
              </a:rPr>
              <a:t>behaviour</a:t>
            </a:r>
            <a:r>
              <a:rPr lang="en-US" sz="1900" dirty="0">
                <a:latin typeface="Cambria" panose="02040503050406030204" pitchFamily="18" charset="0"/>
                <a:ea typeface="Cambria" panose="02040503050406030204" pitchFamily="18" charset="0"/>
              </a:rPr>
              <a:t>.</a:t>
            </a:r>
            <a:endParaRPr lang="en-IN" sz="19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50846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6E4B5-58FF-347F-8876-EF1502F50CD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CF52648-C0E1-1EAC-90ED-DC8D87EC495F}"/>
              </a:ext>
            </a:extLst>
          </p:cNvPr>
          <p:cNvSpPr txBox="1"/>
          <p:nvPr/>
        </p:nvSpPr>
        <p:spPr>
          <a:xfrm>
            <a:off x="1028700" y="372110"/>
            <a:ext cx="9973732" cy="1077218"/>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US"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MODULE 4 – Cooperative Reward &amp; Performance Evaluation</a:t>
            </a:r>
            <a:endPar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0E4025E3-0510-2502-DDD3-D3E5462D7C21}"/>
              </a:ext>
            </a:extLst>
          </p:cNvPr>
          <p:cNvSpPr txBox="1"/>
          <p:nvPr/>
        </p:nvSpPr>
        <p:spPr>
          <a:xfrm>
            <a:off x="1897380" y="1805939"/>
            <a:ext cx="10504170" cy="2669577"/>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Calculate a cooperative reward based on the swarm’s search performance.</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Provide positive rewards for increased search coverage and target detection.</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Apply penalties for collisions and excessive energy consumption.</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Update the drone state and Q-values based on the received reward.</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Evaluate the overall mission using Search Coverage and Target Detection Rate.</a:t>
            </a:r>
          </a:p>
          <a:p>
            <a:pPr marL="342900" indent="-342900" algn="just">
              <a:lnSpc>
                <a:spcPct val="150000"/>
              </a:lnSpc>
              <a:buFont typeface="Arial" panose="020B0604020202020204" pitchFamily="34" charset="0"/>
              <a:buChar char="•"/>
            </a:pPr>
            <a:r>
              <a:rPr lang="en-US" sz="1900" dirty="0">
                <a:latin typeface="Cambria" panose="02040503050406030204" pitchFamily="18" charset="0"/>
                <a:ea typeface="Cambria" panose="02040503050406030204" pitchFamily="18" charset="0"/>
              </a:rPr>
              <a:t>Repeat the process until the search mission is completed.</a:t>
            </a:r>
            <a:endParaRPr lang="en-IN" sz="19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717498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4CA72-D4E3-8E94-A8D3-B4E0A735E96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A81FC7E-7673-3B85-E10A-3C9C7ECE81FE}"/>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RESULT</a:t>
            </a:r>
          </a:p>
        </p:txBody>
      </p:sp>
      <p:sp>
        <p:nvSpPr>
          <p:cNvPr id="4" name="TextBox 3">
            <a:extLst>
              <a:ext uri="{FF2B5EF4-FFF2-40B4-BE49-F238E27FC236}">
                <a16:creationId xmlns:a16="http://schemas.microsoft.com/office/drawing/2014/main" id="{81497A35-0554-382D-59A6-DAE65318BA2B}"/>
              </a:ext>
            </a:extLst>
          </p:cNvPr>
          <p:cNvSpPr txBox="1"/>
          <p:nvPr/>
        </p:nvSpPr>
        <p:spPr>
          <a:xfrm>
            <a:off x="757766" y="1116736"/>
            <a:ext cx="6096000" cy="369332"/>
          </a:xfrm>
          <a:prstGeom prst="rect">
            <a:avLst/>
          </a:prstGeom>
          <a:noFill/>
        </p:spPr>
        <p:txBody>
          <a:bodyPr wrap="square">
            <a:spAutoFit/>
          </a:bodyPr>
          <a:lstStyle/>
          <a:p>
            <a:r>
              <a:rPr lang="en-IN" dirty="0">
                <a:latin typeface="Cambria" panose="02040503050406030204" pitchFamily="18" charset="0"/>
                <a:ea typeface="Cambria" panose="02040503050406030204" pitchFamily="18" charset="0"/>
              </a:rPr>
              <a:t>Performance Evaluation of Cooperative Drone Swarm</a:t>
            </a:r>
          </a:p>
        </p:txBody>
      </p:sp>
      <p:graphicFrame>
        <p:nvGraphicFramePr>
          <p:cNvPr id="8" name="Table 7">
            <a:extLst>
              <a:ext uri="{FF2B5EF4-FFF2-40B4-BE49-F238E27FC236}">
                <a16:creationId xmlns:a16="http://schemas.microsoft.com/office/drawing/2014/main" id="{7B6AC890-164A-4F44-8204-62BC5300A550}"/>
              </a:ext>
            </a:extLst>
          </p:cNvPr>
          <p:cNvGraphicFramePr>
            <a:graphicFrameLocks noGrp="1"/>
          </p:cNvGraphicFramePr>
          <p:nvPr>
            <p:extLst>
              <p:ext uri="{D42A27DB-BD31-4B8C-83A1-F6EECF244321}">
                <p14:modId xmlns:p14="http://schemas.microsoft.com/office/powerpoint/2010/main" val="2675252953"/>
              </p:ext>
            </p:extLst>
          </p:nvPr>
        </p:nvGraphicFramePr>
        <p:xfrm>
          <a:off x="838200" y="1574460"/>
          <a:ext cx="10515600" cy="3566160"/>
        </p:xfrm>
        <a:graphic>
          <a:graphicData uri="http://schemas.openxmlformats.org/drawingml/2006/table">
            <a:tbl>
              <a:tblPr>
                <a:tableStyleId>{3C2FFA5D-87B4-456A-9821-1D502468CF0F}</a:tableStyleId>
              </a:tblPr>
              <a:tblGrid>
                <a:gridCol w="5257800">
                  <a:extLst>
                    <a:ext uri="{9D8B030D-6E8A-4147-A177-3AD203B41FA5}">
                      <a16:colId xmlns:a16="http://schemas.microsoft.com/office/drawing/2014/main" val="235631009"/>
                    </a:ext>
                  </a:extLst>
                </a:gridCol>
                <a:gridCol w="5257800">
                  <a:extLst>
                    <a:ext uri="{9D8B030D-6E8A-4147-A177-3AD203B41FA5}">
                      <a16:colId xmlns:a16="http://schemas.microsoft.com/office/drawing/2014/main" val="2088291991"/>
                    </a:ext>
                  </a:extLst>
                </a:gridCol>
              </a:tblGrid>
              <a:tr h="0">
                <a:tc>
                  <a:txBody>
                    <a:bodyPr/>
                    <a:lstStyle/>
                    <a:p>
                      <a:pPr>
                        <a:buNone/>
                      </a:pPr>
                      <a:r>
                        <a:rPr lang="en-IN" b="1">
                          <a:latin typeface="Cambria" panose="02040503050406030204" pitchFamily="18" charset="0"/>
                          <a:ea typeface="Cambria" panose="02040503050406030204" pitchFamily="18" charset="0"/>
                        </a:rPr>
                        <a:t>Metric</a:t>
                      </a:r>
                    </a:p>
                  </a:txBody>
                  <a:tcPr anchor="ctr"/>
                </a:tc>
                <a:tc>
                  <a:txBody>
                    <a:bodyPr/>
                    <a:lstStyle/>
                    <a:p>
                      <a:pPr>
                        <a:buNone/>
                      </a:pPr>
                      <a:r>
                        <a:rPr lang="en-IN" b="1" dirty="0">
                          <a:latin typeface="Cambria" panose="02040503050406030204" pitchFamily="18" charset="0"/>
                          <a:ea typeface="Cambria" panose="02040503050406030204" pitchFamily="18" charset="0"/>
                        </a:rPr>
                        <a:t>Result / Evaluation</a:t>
                      </a:r>
                    </a:p>
                  </a:txBody>
                  <a:tcPr anchor="ctr"/>
                </a:tc>
                <a:extLst>
                  <a:ext uri="{0D108BD9-81ED-4DB2-BD59-A6C34878D82A}">
                    <a16:rowId xmlns:a16="http://schemas.microsoft.com/office/drawing/2014/main" val="3765930403"/>
                  </a:ext>
                </a:extLst>
              </a:tr>
              <a:tr h="0">
                <a:tc>
                  <a:txBody>
                    <a:bodyPr/>
                    <a:lstStyle/>
                    <a:p>
                      <a:pPr>
                        <a:buNone/>
                      </a:pPr>
                      <a:r>
                        <a:rPr lang="en-IN" b="1">
                          <a:latin typeface="Cambria" panose="02040503050406030204" pitchFamily="18" charset="0"/>
                          <a:ea typeface="Cambria" panose="02040503050406030204" pitchFamily="18" charset="0"/>
                        </a:rPr>
                        <a:t>Average Reward</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a:latin typeface="Cambria" panose="02040503050406030204" pitchFamily="18" charset="0"/>
                          <a:ea typeface="Cambria" panose="02040503050406030204" pitchFamily="18" charset="0"/>
                        </a:rPr>
                        <a:t>Measures the average cumulative reward obtained during MARL training</a:t>
                      </a:r>
                    </a:p>
                  </a:txBody>
                  <a:tcPr anchor="ctr"/>
                </a:tc>
                <a:extLst>
                  <a:ext uri="{0D108BD9-81ED-4DB2-BD59-A6C34878D82A}">
                    <a16:rowId xmlns:a16="http://schemas.microsoft.com/office/drawing/2014/main" val="3617213949"/>
                  </a:ext>
                </a:extLst>
              </a:tr>
              <a:tr h="0">
                <a:tc>
                  <a:txBody>
                    <a:bodyPr/>
                    <a:lstStyle/>
                    <a:p>
                      <a:pPr>
                        <a:buNone/>
                      </a:pPr>
                      <a:r>
                        <a:rPr lang="en-IN" b="1">
                          <a:latin typeface="Cambria" panose="02040503050406030204" pitchFamily="18" charset="0"/>
                          <a:ea typeface="Cambria" panose="02040503050406030204" pitchFamily="18" charset="0"/>
                        </a:rPr>
                        <a:t>Maximum Reward</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a:latin typeface="Cambria" panose="02040503050406030204" pitchFamily="18" charset="0"/>
                          <a:ea typeface="Cambria" panose="02040503050406030204" pitchFamily="18" charset="0"/>
                        </a:rPr>
                        <a:t>Represents the highest reward achieved during training</a:t>
                      </a:r>
                    </a:p>
                  </a:txBody>
                  <a:tcPr anchor="ctr"/>
                </a:tc>
                <a:extLst>
                  <a:ext uri="{0D108BD9-81ED-4DB2-BD59-A6C34878D82A}">
                    <a16:rowId xmlns:a16="http://schemas.microsoft.com/office/drawing/2014/main" val="541184684"/>
                  </a:ext>
                </a:extLst>
              </a:tr>
              <a:tr h="0">
                <a:tc>
                  <a:txBody>
                    <a:bodyPr/>
                    <a:lstStyle/>
                    <a:p>
                      <a:pPr>
                        <a:buNone/>
                      </a:pPr>
                      <a:r>
                        <a:rPr lang="en-IN" b="1">
                          <a:latin typeface="Cambria" panose="02040503050406030204" pitchFamily="18" charset="0"/>
                          <a:ea typeface="Cambria" panose="02040503050406030204" pitchFamily="18" charset="0"/>
                        </a:rPr>
                        <a:t>Average Steps</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a:latin typeface="Cambria" panose="02040503050406030204" pitchFamily="18" charset="0"/>
                          <a:ea typeface="Cambria" panose="02040503050406030204" pitchFamily="18" charset="0"/>
                        </a:rPr>
                        <a:t>Measures the average number of steps taken by the drones</a:t>
                      </a:r>
                    </a:p>
                  </a:txBody>
                  <a:tcPr anchor="ctr"/>
                </a:tc>
                <a:extLst>
                  <a:ext uri="{0D108BD9-81ED-4DB2-BD59-A6C34878D82A}">
                    <a16:rowId xmlns:a16="http://schemas.microsoft.com/office/drawing/2014/main" val="713182923"/>
                  </a:ext>
                </a:extLst>
              </a:tr>
              <a:tr h="0">
                <a:tc>
                  <a:txBody>
                    <a:bodyPr/>
                    <a:lstStyle/>
                    <a:p>
                      <a:pPr>
                        <a:buNone/>
                      </a:pPr>
                      <a:r>
                        <a:rPr lang="en-IN" b="1" dirty="0">
                          <a:latin typeface="Cambria" panose="02040503050406030204" pitchFamily="18" charset="0"/>
                          <a:ea typeface="Cambria" panose="02040503050406030204" pitchFamily="18" charset="0"/>
                        </a:rPr>
                        <a:t>Final Distance</a:t>
                      </a:r>
                      <a:endParaRPr lang="en-IN" dirty="0">
                        <a:latin typeface="Cambria" panose="02040503050406030204" pitchFamily="18" charset="0"/>
                        <a:ea typeface="Cambria" panose="02040503050406030204" pitchFamily="18" charset="0"/>
                      </a:endParaRPr>
                    </a:p>
                  </a:txBody>
                  <a:tcPr anchor="ctr"/>
                </a:tc>
                <a:tc>
                  <a:txBody>
                    <a:bodyPr/>
                    <a:lstStyle/>
                    <a:p>
                      <a:pPr>
                        <a:buNone/>
                      </a:pPr>
                      <a:r>
                        <a:rPr lang="en-IN">
                          <a:latin typeface="Cambria" panose="02040503050406030204" pitchFamily="18" charset="0"/>
                          <a:ea typeface="Cambria" panose="02040503050406030204" pitchFamily="18" charset="0"/>
                        </a:rPr>
                        <a:t>Measures the average final distance of drones from the target</a:t>
                      </a:r>
                    </a:p>
                  </a:txBody>
                  <a:tcPr anchor="ctr"/>
                </a:tc>
                <a:extLst>
                  <a:ext uri="{0D108BD9-81ED-4DB2-BD59-A6C34878D82A}">
                    <a16:rowId xmlns:a16="http://schemas.microsoft.com/office/drawing/2014/main" val="1998807061"/>
                  </a:ext>
                </a:extLst>
              </a:tr>
              <a:tr h="0">
                <a:tc>
                  <a:txBody>
                    <a:bodyPr/>
                    <a:lstStyle/>
                    <a:p>
                      <a:pPr>
                        <a:buNone/>
                      </a:pPr>
                      <a:r>
                        <a:rPr lang="en-IN" b="1">
                          <a:latin typeface="Cambria" panose="02040503050406030204" pitchFamily="18" charset="0"/>
                          <a:ea typeface="Cambria" panose="02040503050406030204" pitchFamily="18" charset="0"/>
                        </a:rPr>
                        <a:t>Success Rate</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dirty="0">
                          <a:latin typeface="Cambria" panose="02040503050406030204" pitchFamily="18" charset="0"/>
                          <a:ea typeface="Cambria" panose="02040503050406030204" pitchFamily="18" charset="0"/>
                        </a:rPr>
                        <a:t>Percentage of drones that successfully reach the target</a:t>
                      </a:r>
                    </a:p>
                  </a:txBody>
                  <a:tcPr anchor="ctr"/>
                </a:tc>
                <a:extLst>
                  <a:ext uri="{0D108BD9-81ED-4DB2-BD59-A6C34878D82A}">
                    <a16:rowId xmlns:a16="http://schemas.microsoft.com/office/drawing/2014/main" val="2181966655"/>
                  </a:ext>
                </a:extLst>
              </a:tr>
            </a:tbl>
          </a:graphicData>
        </a:graphic>
      </p:graphicFrame>
      <p:sp>
        <p:nvSpPr>
          <p:cNvPr id="10" name="TextBox 9">
            <a:extLst>
              <a:ext uri="{FF2B5EF4-FFF2-40B4-BE49-F238E27FC236}">
                <a16:creationId xmlns:a16="http://schemas.microsoft.com/office/drawing/2014/main" id="{A2682AC1-7408-6C8B-E9B6-812289B6DDDE}"/>
              </a:ext>
            </a:extLst>
          </p:cNvPr>
          <p:cNvSpPr txBox="1"/>
          <p:nvPr/>
        </p:nvSpPr>
        <p:spPr>
          <a:xfrm>
            <a:off x="838200" y="5229012"/>
            <a:ext cx="10515599" cy="1477328"/>
          </a:xfrm>
          <a:prstGeom prst="rect">
            <a:avLst/>
          </a:prstGeom>
          <a:noFill/>
        </p:spPr>
        <p:txBody>
          <a:bodyPr wrap="square">
            <a:spAutoFit/>
          </a:bodyPr>
          <a:lstStyle/>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The </a:t>
            </a:r>
            <a:r>
              <a:rPr lang="en-IN" b="1" dirty="0">
                <a:latin typeface="Cambria" panose="02040503050406030204" pitchFamily="18" charset="0"/>
                <a:ea typeface="Cambria" panose="02040503050406030204" pitchFamily="18" charset="0"/>
              </a:rPr>
              <a:t>MARL training reward</a:t>
            </a:r>
            <a:r>
              <a:rPr lang="en-IN" dirty="0">
                <a:latin typeface="Cambria" panose="02040503050406030204" pitchFamily="18" charset="0"/>
                <a:ea typeface="Cambria" panose="02040503050406030204" pitchFamily="18" charset="0"/>
              </a:rPr>
              <a:t> is visualized across episodes to observe learning performance. </a:t>
            </a:r>
          </a:p>
          <a:p>
            <a:pPr marL="342900" lvl="0" indent="-342900">
              <a:buFont typeface="Arial" panose="020B0604020202020204" pitchFamily="34" charset="0"/>
              <a:buChar char="•"/>
            </a:pPr>
            <a:r>
              <a:rPr lang="en-IN" b="1" dirty="0">
                <a:latin typeface="Cambria" panose="02040503050406030204" pitchFamily="18" charset="0"/>
                <a:ea typeface="Cambria" panose="02040503050406030204" pitchFamily="18" charset="0"/>
              </a:rPr>
              <a:t>Learned drone paths</a:t>
            </a:r>
            <a:r>
              <a:rPr lang="en-IN" dirty="0">
                <a:latin typeface="Cambria" panose="02040503050406030204" pitchFamily="18" charset="0"/>
                <a:ea typeface="Cambria" panose="02040503050406030204" pitchFamily="18" charset="0"/>
              </a:rPr>
              <a:t> show the navigation behaviour of multiple agents toward the target.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The </a:t>
            </a:r>
            <a:r>
              <a:rPr lang="en-IN" b="1" dirty="0">
                <a:latin typeface="Cambria" panose="02040503050406030204" pitchFamily="18" charset="0"/>
                <a:ea typeface="Cambria" panose="02040503050406030204" pitchFamily="18" charset="0"/>
              </a:rPr>
              <a:t>performance comparison graph</a:t>
            </a:r>
            <a:r>
              <a:rPr lang="en-IN" dirty="0">
                <a:latin typeface="Cambria" panose="02040503050406030204" pitchFamily="18" charset="0"/>
                <a:ea typeface="Cambria" panose="02040503050406030204" pitchFamily="18" charset="0"/>
              </a:rPr>
              <a:t> presents the calculated evaluation metrics.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The system evaluates the effectiveness of cooperative drone navigation using </a:t>
            </a:r>
            <a:r>
              <a:rPr lang="en-IN" b="1" dirty="0">
                <a:latin typeface="Cambria" panose="02040503050406030204" pitchFamily="18" charset="0"/>
                <a:ea typeface="Cambria" panose="02040503050406030204" pitchFamily="18" charset="0"/>
              </a:rPr>
              <a:t>reward, distance, steps, and success rate</a:t>
            </a:r>
            <a:r>
              <a:rPr lang="en-IN"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3508417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E49A5-F584-E014-3B36-731FBBA54EE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2A002B8-CEBC-DDB0-1F04-5B4237AC308F}"/>
              </a:ext>
            </a:extLst>
          </p:cNvPr>
          <p:cNvSpPr txBox="1"/>
          <p:nvPr/>
        </p:nvSpPr>
        <p:spPr>
          <a:xfrm>
            <a:off x="994410" y="270772"/>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RESULT</a:t>
            </a:r>
          </a:p>
        </p:txBody>
      </p:sp>
      <p:pic>
        <p:nvPicPr>
          <p:cNvPr id="3" name="Picture 2">
            <a:extLst>
              <a:ext uri="{FF2B5EF4-FFF2-40B4-BE49-F238E27FC236}">
                <a16:creationId xmlns:a16="http://schemas.microsoft.com/office/drawing/2014/main" id="{C09EC939-5C08-05E8-A791-43C6C5D62BEA}"/>
              </a:ext>
            </a:extLst>
          </p:cNvPr>
          <p:cNvPicPr>
            <a:picLocks noChangeAspect="1"/>
          </p:cNvPicPr>
          <p:nvPr/>
        </p:nvPicPr>
        <p:blipFill>
          <a:blip r:embed="rId2"/>
          <a:srcRect l="3564" t="3666"/>
          <a:stretch>
            <a:fillRect/>
          </a:stretch>
        </p:blipFill>
        <p:spPr>
          <a:xfrm>
            <a:off x="720090" y="761043"/>
            <a:ext cx="4366260" cy="5826185"/>
          </a:xfrm>
          <a:prstGeom prst="rect">
            <a:avLst/>
          </a:prstGeom>
          <a:ln>
            <a:solidFill>
              <a:schemeClr val="tx1"/>
            </a:solidFill>
          </a:ln>
        </p:spPr>
      </p:pic>
      <p:pic>
        <p:nvPicPr>
          <p:cNvPr id="6" name="Picture 5">
            <a:extLst>
              <a:ext uri="{FF2B5EF4-FFF2-40B4-BE49-F238E27FC236}">
                <a16:creationId xmlns:a16="http://schemas.microsoft.com/office/drawing/2014/main" id="{A6D1E064-1DB7-81F4-5759-B873EBFAA28C}"/>
              </a:ext>
            </a:extLst>
          </p:cNvPr>
          <p:cNvPicPr>
            <a:picLocks noChangeAspect="1"/>
          </p:cNvPicPr>
          <p:nvPr/>
        </p:nvPicPr>
        <p:blipFill>
          <a:blip r:embed="rId3"/>
          <a:stretch>
            <a:fillRect/>
          </a:stretch>
        </p:blipFill>
        <p:spPr>
          <a:xfrm>
            <a:off x="6697980" y="890074"/>
            <a:ext cx="5170734" cy="5697154"/>
          </a:xfrm>
          <a:prstGeom prst="rect">
            <a:avLst/>
          </a:prstGeom>
          <a:ln>
            <a:solidFill>
              <a:schemeClr val="tx1"/>
            </a:solidFill>
          </a:ln>
        </p:spPr>
      </p:pic>
    </p:spTree>
    <p:extLst>
      <p:ext uri="{BB962C8B-B14F-4D97-AF65-F5344CB8AC3E}">
        <p14:creationId xmlns:p14="http://schemas.microsoft.com/office/powerpoint/2010/main" val="36386593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A1CEA-64D5-14EE-081D-D44B6F15EFD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2FB988E-8307-BE53-9D6E-3120B943B642}"/>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DISCUSSION</a:t>
            </a:r>
          </a:p>
        </p:txBody>
      </p:sp>
      <p:graphicFrame>
        <p:nvGraphicFramePr>
          <p:cNvPr id="9" name="Table 8">
            <a:extLst>
              <a:ext uri="{FF2B5EF4-FFF2-40B4-BE49-F238E27FC236}">
                <a16:creationId xmlns:a16="http://schemas.microsoft.com/office/drawing/2014/main" id="{28A3ABBA-A784-80C0-E3DC-9879E19BE1A4}"/>
              </a:ext>
            </a:extLst>
          </p:cNvPr>
          <p:cNvGraphicFramePr>
            <a:graphicFrameLocks noGrp="1"/>
          </p:cNvGraphicFramePr>
          <p:nvPr>
            <p:extLst>
              <p:ext uri="{D42A27DB-BD31-4B8C-83A1-F6EECF244321}">
                <p14:modId xmlns:p14="http://schemas.microsoft.com/office/powerpoint/2010/main" val="1751250570"/>
              </p:ext>
            </p:extLst>
          </p:nvPr>
        </p:nvGraphicFramePr>
        <p:xfrm>
          <a:off x="757766" y="1376197"/>
          <a:ext cx="10515600" cy="4206240"/>
        </p:xfrm>
        <a:graphic>
          <a:graphicData uri="http://schemas.openxmlformats.org/drawingml/2006/table">
            <a:tbl>
              <a:tblPr>
                <a:tableStyleId>{D7AC3CCA-C797-4891-BE02-D94E43425B78}</a:tableStyleId>
              </a:tblPr>
              <a:tblGrid>
                <a:gridCol w="5257800">
                  <a:extLst>
                    <a:ext uri="{9D8B030D-6E8A-4147-A177-3AD203B41FA5}">
                      <a16:colId xmlns:a16="http://schemas.microsoft.com/office/drawing/2014/main" val="1133780590"/>
                    </a:ext>
                  </a:extLst>
                </a:gridCol>
                <a:gridCol w="5257800">
                  <a:extLst>
                    <a:ext uri="{9D8B030D-6E8A-4147-A177-3AD203B41FA5}">
                      <a16:colId xmlns:a16="http://schemas.microsoft.com/office/drawing/2014/main" val="3449840414"/>
                    </a:ext>
                  </a:extLst>
                </a:gridCol>
              </a:tblGrid>
              <a:tr h="0">
                <a:tc>
                  <a:txBody>
                    <a:bodyPr/>
                    <a:lstStyle/>
                    <a:p>
                      <a:pPr>
                        <a:buNone/>
                      </a:pPr>
                      <a:r>
                        <a:rPr lang="en-IN" b="1" dirty="0">
                          <a:latin typeface="Cambria" panose="02040503050406030204" pitchFamily="18" charset="0"/>
                          <a:ea typeface="Cambria" panose="02040503050406030204" pitchFamily="18" charset="0"/>
                        </a:rPr>
                        <a:t>Category</a:t>
                      </a:r>
                    </a:p>
                  </a:txBody>
                  <a:tcPr anchor="ctr"/>
                </a:tc>
                <a:tc>
                  <a:txBody>
                    <a:bodyPr/>
                    <a:lstStyle/>
                    <a:p>
                      <a:pPr>
                        <a:buNone/>
                      </a:pPr>
                      <a:r>
                        <a:rPr lang="en-IN" b="1" dirty="0">
                          <a:latin typeface="Cambria" panose="02040503050406030204" pitchFamily="18" charset="0"/>
                          <a:ea typeface="Cambria" panose="02040503050406030204" pitchFamily="18" charset="0"/>
                        </a:rPr>
                        <a:t>Project Horizon Implementation</a:t>
                      </a:r>
                    </a:p>
                  </a:txBody>
                  <a:tcPr anchor="ctr"/>
                </a:tc>
                <a:extLst>
                  <a:ext uri="{0D108BD9-81ED-4DB2-BD59-A6C34878D82A}">
                    <a16:rowId xmlns:a16="http://schemas.microsoft.com/office/drawing/2014/main" val="2549619460"/>
                  </a:ext>
                </a:extLst>
              </a:tr>
              <a:tr h="0">
                <a:tc>
                  <a:txBody>
                    <a:bodyPr/>
                    <a:lstStyle/>
                    <a:p>
                      <a:pPr>
                        <a:buNone/>
                      </a:pPr>
                      <a:r>
                        <a:rPr lang="en-IN" b="1" dirty="0">
                          <a:latin typeface="Cambria" panose="02040503050406030204" pitchFamily="18" charset="0"/>
                          <a:ea typeface="Cambria" panose="02040503050406030204" pitchFamily="18" charset="0"/>
                        </a:rPr>
                        <a:t>Data Generation</a:t>
                      </a:r>
                      <a:endParaRPr lang="en-IN" dirty="0">
                        <a:latin typeface="Cambria" panose="02040503050406030204" pitchFamily="18" charset="0"/>
                        <a:ea typeface="Cambria" panose="02040503050406030204" pitchFamily="18" charset="0"/>
                      </a:endParaRPr>
                    </a:p>
                  </a:txBody>
                  <a:tcPr anchor="ctr"/>
                </a:tc>
                <a:tc>
                  <a:txBody>
                    <a:bodyPr/>
                    <a:lstStyle/>
                    <a:p>
                      <a:pPr>
                        <a:buNone/>
                      </a:pPr>
                      <a:r>
                        <a:rPr lang="en-IN">
                          <a:latin typeface="Cambria" panose="02040503050406030204" pitchFamily="18" charset="0"/>
                          <a:ea typeface="Cambria" panose="02040503050406030204" pitchFamily="18" charset="0"/>
                        </a:rPr>
                        <a:t>GMM and GAN methods generate the drone dataset.</a:t>
                      </a:r>
                    </a:p>
                  </a:txBody>
                  <a:tcPr anchor="ctr"/>
                </a:tc>
                <a:extLst>
                  <a:ext uri="{0D108BD9-81ED-4DB2-BD59-A6C34878D82A}">
                    <a16:rowId xmlns:a16="http://schemas.microsoft.com/office/drawing/2014/main" val="3770285306"/>
                  </a:ext>
                </a:extLst>
              </a:tr>
              <a:tr h="0">
                <a:tc>
                  <a:txBody>
                    <a:bodyPr/>
                    <a:lstStyle/>
                    <a:p>
                      <a:pPr>
                        <a:buNone/>
                      </a:pPr>
                      <a:r>
                        <a:rPr lang="en-IN" b="1" dirty="0">
                          <a:latin typeface="Cambria" panose="02040503050406030204" pitchFamily="18" charset="0"/>
                          <a:ea typeface="Cambria" panose="02040503050406030204" pitchFamily="18" charset="0"/>
                        </a:rPr>
                        <a:t>Preprocessing</a:t>
                      </a:r>
                      <a:endParaRPr lang="en-IN" dirty="0">
                        <a:latin typeface="Cambria" panose="02040503050406030204" pitchFamily="18" charset="0"/>
                        <a:ea typeface="Cambria" panose="02040503050406030204" pitchFamily="18" charset="0"/>
                      </a:endParaRPr>
                    </a:p>
                  </a:txBody>
                  <a:tcPr anchor="ctr"/>
                </a:tc>
                <a:tc>
                  <a:txBody>
                    <a:bodyPr/>
                    <a:lstStyle/>
                    <a:p>
                      <a:pPr>
                        <a:buNone/>
                      </a:pPr>
                      <a:r>
                        <a:rPr lang="en-IN" dirty="0">
                          <a:latin typeface="Cambria" panose="02040503050406030204" pitchFamily="18" charset="0"/>
                          <a:ea typeface="Cambria" panose="02040503050406030204" pitchFamily="18" charset="0"/>
                        </a:rPr>
                        <a:t>Missing values are handled using median replacement, followed by Min-Max or Z-Score scaling.</a:t>
                      </a:r>
                    </a:p>
                  </a:txBody>
                  <a:tcPr anchor="ctr"/>
                </a:tc>
                <a:extLst>
                  <a:ext uri="{0D108BD9-81ED-4DB2-BD59-A6C34878D82A}">
                    <a16:rowId xmlns:a16="http://schemas.microsoft.com/office/drawing/2014/main" val="4126095272"/>
                  </a:ext>
                </a:extLst>
              </a:tr>
              <a:tr h="0">
                <a:tc>
                  <a:txBody>
                    <a:bodyPr/>
                    <a:lstStyle/>
                    <a:p>
                      <a:pPr>
                        <a:buNone/>
                      </a:pPr>
                      <a:r>
                        <a:rPr lang="en-IN" b="1">
                          <a:latin typeface="Cambria" panose="02040503050406030204" pitchFamily="18" charset="0"/>
                          <a:ea typeface="Cambria" panose="02040503050406030204" pitchFamily="18" charset="0"/>
                        </a:rPr>
                        <a:t>Swarm Simulation</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a:latin typeface="Cambria" panose="02040503050406030204" pitchFamily="18" charset="0"/>
                          <a:ea typeface="Cambria" panose="02040503050406030204" pitchFamily="18" charset="0"/>
                        </a:rPr>
                        <a:t>Multiple drones navigate toward a target using simulated movement and reward-based navigation.</a:t>
                      </a:r>
                    </a:p>
                  </a:txBody>
                  <a:tcPr anchor="ctr"/>
                </a:tc>
                <a:extLst>
                  <a:ext uri="{0D108BD9-81ED-4DB2-BD59-A6C34878D82A}">
                    <a16:rowId xmlns:a16="http://schemas.microsoft.com/office/drawing/2014/main" val="3482292087"/>
                  </a:ext>
                </a:extLst>
              </a:tr>
              <a:tr h="0">
                <a:tc>
                  <a:txBody>
                    <a:bodyPr/>
                    <a:lstStyle/>
                    <a:p>
                      <a:pPr>
                        <a:buNone/>
                      </a:pPr>
                      <a:r>
                        <a:rPr lang="en-IN" b="1">
                          <a:latin typeface="Cambria" panose="02040503050406030204" pitchFamily="18" charset="0"/>
                          <a:ea typeface="Cambria" panose="02040503050406030204" pitchFamily="18" charset="0"/>
                        </a:rPr>
                        <a:t>MARL</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a:latin typeface="Cambria" panose="02040503050406030204" pitchFamily="18" charset="0"/>
                          <a:ea typeface="Cambria" panose="02040503050406030204" pitchFamily="18" charset="0"/>
                        </a:rPr>
                        <a:t>Independent drone Q-tables learn optimal actions using ε-greedy selection and Q-learning updates.</a:t>
                      </a:r>
                    </a:p>
                  </a:txBody>
                  <a:tcPr anchor="ctr"/>
                </a:tc>
                <a:extLst>
                  <a:ext uri="{0D108BD9-81ED-4DB2-BD59-A6C34878D82A}">
                    <a16:rowId xmlns:a16="http://schemas.microsoft.com/office/drawing/2014/main" val="1816590657"/>
                  </a:ext>
                </a:extLst>
              </a:tr>
              <a:tr h="0">
                <a:tc>
                  <a:txBody>
                    <a:bodyPr/>
                    <a:lstStyle/>
                    <a:p>
                      <a:pPr>
                        <a:buNone/>
                      </a:pPr>
                      <a:r>
                        <a:rPr lang="en-IN" b="1">
                          <a:latin typeface="Cambria" panose="02040503050406030204" pitchFamily="18" charset="0"/>
                          <a:ea typeface="Cambria" panose="02040503050406030204" pitchFamily="18" charset="0"/>
                        </a:rPr>
                        <a:t>Learning Performance</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a:latin typeface="Cambria" panose="02040503050406030204" pitchFamily="18" charset="0"/>
                          <a:ea typeface="Cambria" panose="02040503050406030204" pitchFamily="18" charset="0"/>
                        </a:rPr>
                        <a:t>Episode rewards are recorded to analyze the learning behaviour of the drone agents.</a:t>
                      </a:r>
                    </a:p>
                  </a:txBody>
                  <a:tcPr anchor="ctr"/>
                </a:tc>
                <a:extLst>
                  <a:ext uri="{0D108BD9-81ED-4DB2-BD59-A6C34878D82A}">
                    <a16:rowId xmlns:a16="http://schemas.microsoft.com/office/drawing/2014/main" val="1070265376"/>
                  </a:ext>
                </a:extLst>
              </a:tr>
              <a:tr h="0">
                <a:tc>
                  <a:txBody>
                    <a:bodyPr/>
                    <a:lstStyle/>
                    <a:p>
                      <a:pPr>
                        <a:buNone/>
                      </a:pPr>
                      <a:r>
                        <a:rPr lang="en-IN" b="1">
                          <a:latin typeface="Cambria" panose="02040503050406030204" pitchFamily="18" charset="0"/>
                          <a:ea typeface="Cambria" panose="02040503050406030204" pitchFamily="18" charset="0"/>
                        </a:rPr>
                        <a:t>Performance Evaluation</a:t>
                      </a:r>
                      <a:endParaRPr lang="en-IN">
                        <a:latin typeface="Cambria" panose="02040503050406030204" pitchFamily="18" charset="0"/>
                        <a:ea typeface="Cambria" panose="02040503050406030204" pitchFamily="18" charset="0"/>
                      </a:endParaRPr>
                    </a:p>
                  </a:txBody>
                  <a:tcPr anchor="ctr"/>
                </a:tc>
                <a:tc>
                  <a:txBody>
                    <a:bodyPr/>
                    <a:lstStyle/>
                    <a:p>
                      <a:pPr>
                        <a:buNone/>
                      </a:pPr>
                      <a:r>
                        <a:rPr lang="en-IN" dirty="0">
                          <a:latin typeface="Cambria" panose="02040503050406030204" pitchFamily="18" charset="0"/>
                          <a:ea typeface="Cambria" panose="02040503050406030204" pitchFamily="18" charset="0"/>
                        </a:rPr>
                        <a:t>Average reward, maximum reward, average steps, final distance, and success rate are calculated.</a:t>
                      </a:r>
                    </a:p>
                  </a:txBody>
                  <a:tcPr anchor="ctr"/>
                </a:tc>
                <a:extLst>
                  <a:ext uri="{0D108BD9-81ED-4DB2-BD59-A6C34878D82A}">
                    <a16:rowId xmlns:a16="http://schemas.microsoft.com/office/drawing/2014/main" val="4046073697"/>
                  </a:ext>
                </a:extLst>
              </a:tr>
            </a:tbl>
          </a:graphicData>
        </a:graphic>
      </p:graphicFrame>
      <p:sp>
        <p:nvSpPr>
          <p:cNvPr id="11" name="TextBox 10">
            <a:extLst>
              <a:ext uri="{FF2B5EF4-FFF2-40B4-BE49-F238E27FC236}">
                <a16:creationId xmlns:a16="http://schemas.microsoft.com/office/drawing/2014/main" id="{195B1DDB-FF3C-FA21-18CD-4B5CAE0AA8CE}"/>
              </a:ext>
            </a:extLst>
          </p:cNvPr>
          <p:cNvSpPr txBox="1"/>
          <p:nvPr/>
        </p:nvSpPr>
        <p:spPr>
          <a:xfrm>
            <a:off x="677333" y="981875"/>
            <a:ext cx="6096000" cy="369332"/>
          </a:xfrm>
          <a:prstGeom prst="rect">
            <a:avLst/>
          </a:prstGeom>
          <a:noFill/>
        </p:spPr>
        <p:txBody>
          <a:bodyPr wrap="square">
            <a:spAutoFit/>
          </a:bodyPr>
          <a:lstStyle/>
          <a:p>
            <a:r>
              <a:rPr lang="en-IN" dirty="0">
                <a:latin typeface="Cambria" panose="02040503050406030204" pitchFamily="18" charset="0"/>
                <a:ea typeface="Cambria" panose="02040503050406030204" pitchFamily="18" charset="0"/>
              </a:rPr>
              <a:t>Interpretation of the Proposed System</a:t>
            </a:r>
          </a:p>
        </p:txBody>
      </p:sp>
      <p:sp>
        <p:nvSpPr>
          <p:cNvPr id="13" name="TextBox 12">
            <a:extLst>
              <a:ext uri="{FF2B5EF4-FFF2-40B4-BE49-F238E27FC236}">
                <a16:creationId xmlns:a16="http://schemas.microsoft.com/office/drawing/2014/main" id="{F6D7AE91-A3C1-2D63-A262-BBB08D8531BA}"/>
              </a:ext>
            </a:extLst>
          </p:cNvPr>
          <p:cNvSpPr txBox="1"/>
          <p:nvPr/>
        </p:nvSpPr>
        <p:spPr>
          <a:xfrm>
            <a:off x="677333" y="5699720"/>
            <a:ext cx="10798387" cy="923330"/>
          </a:xfrm>
          <a:prstGeom prst="rect">
            <a:avLst/>
          </a:prstGeom>
          <a:noFill/>
        </p:spPr>
        <p:txBody>
          <a:bodyPr wrap="square">
            <a:spAutoFit/>
          </a:bodyPr>
          <a:lstStyle/>
          <a:p>
            <a:pPr>
              <a:buNone/>
            </a:pPr>
            <a:r>
              <a:rPr lang="en-IN" dirty="0">
                <a:latin typeface="Cambria" panose="02040503050406030204" pitchFamily="18" charset="0"/>
                <a:ea typeface="Cambria" panose="02040503050406030204" pitchFamily="18" charset="0"/>
              </a:rPr>
              <a:t>The implementation integrates </a:t>
            </a:r>
            <a:r>
              <a:rPr lang="en-IN" b="1" dirty="0">
                <a:latin typeface="Cambria" panose="02040503050406030204" pitchFamily="18" charset="0"/>
                <a:ea typeface="Cambria" panose="02040503050406030204" pitchFamily="18" charset="0"/>
              </a:rPr>
              <a:t>data generation, preprocessing, swarm simulation, and Q-learning-based MARL</a:t>
            </a:r>
            <a:r>
              <a:rPr lang="en-IN" dirty="0">
                <a:latin typeface="Cambria" panose="02040503050406030204" pitchFamily="18" charset="0"/>
                <a:ea typeface="Cambria" panose="02040503050406030204" pitchFamily="18" charset="0"/>
              </a:rPr>
              <a:t> into a single workflow. The learned drone paths and reward curves provide visual evidence of agent behaviour, while the performance metrics quantify the effectiveness of the trained swarm. </a:t>
            </a:r>
          </a:p>
        </p:txBody>
      </p:sp>
    </p:spTree>
    <p:extLst>
      <p:ext uri="{BB962C8B-B14F-4D97-AF65-F5344CB8AC3E}">
        <p14:creationId xmlns:p14="http://schemas.microsoft.com/office/powerpoint/2010/main" val="938272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2C53D-F183-F4AE-DFDD-7600DAF59F0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93D3E22-4295-8A4E-A64F-DA37212775EE}"/>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CONCLUSION</a:t>
            </a:r>
          </a:p>
        </p:txBody>
      </p:sp>
      <p:sp>
        <p:nvSpPr>
          <p:cNvPr id="3" name="TextBox 2">
            <a:extLst>
              <a:ext uri="{FF2B5EF4-FFF2-40B4-BE49-F238E27FC236}">
                <a16:creationId xmlns:a16="http://schemas.microsoft.com/office/drawing/2014/main" id="{67E56A5D-3F6F-F4C7-17BD-C2AEE4340D7D}"/>
              </a:ext>
            </a:extLst>
          </p:cNvPr>
          <p:cNvSpPr txBox="1"/>
          <p:nvPr/>
        </p:nvSpPr>
        <p:spPr>
          <a:xfrm>
            <a:off x="1284818" y="1419642"/>
            <a:ext cx="9836572" cy="3364960"/>
          </a:xfrm>
          <a:prstGeom prst="rect">
            <a:avLst/>
          </a:prstGeom>
          <a:noFill/>
        </p:spPr>
        <p:txBody>
          <a:bodyPr wrap="square">
            <a:spAutoFit/>
          </a:bodyPr>
          <a:lstStyle/>
          <a:p>
            <a:pPr lvl="0" algn="just">
              <a:lnSpc>
                <a:spcPct val="150000"/>
              </a:lnSpc>
            </a:pPr>
            <a:r>
              <a:rPr lang="en-IN" dirty="0">
                <a:latin typeface="Cambria" panose="02040503050406030204" pitchFamily="18" charset="0"/>
                <a:ea typeface="Cambria" panose="02040503050406030204" pitchFamily="18" charset="0"/>
              </a:rPr>
              <a:t>The proposed </a:t>
            </a:r>
            <a:r>
              <a:rPr lang="en-IN" b="1" dirty="0">
                <a:latin typeface="Cambria" panose="02040503050406030204" pitchFamily="18" charset="0"/>
                <a:ea typeface="Cambria" panose="02040503050406030204" pitchFamily="18" charset="0"/>
              </a:rPr>
              <a:t>Project Horizon</a:t>
            </a:r>
            <a:r>
              <a:rPr lang="en-IN" dirty="0">
                <a:latin typeface="Cambria" panose="02040503050406030204" pitchFamily="18" charset="0"/>
                <a:ea typeface="Cambria" panose="02040503050406030204" pitchFamily="18" charset="0"/>
              </a:rPr>
              <a:t> integrates data generation, preprocessing, drone swarm simulation, and Multi-Agent Reinforcement Learning into a unified framework. </a:t>
            </a:r>
            <a:r>
              <a:rPr lang="en-IN" b="1" dirty="0">
                <a:latin typeface="Cambria" panose="02040503050406030204" pitchFamily="18" charset="0"/>
                <a:ea typeface="Cambria" panose="02040503050406030204" pitchFamily="18" charset="0"/>
              </a:rPr>
              <a:t>GMM/GAN-based data generation</a:t>
            </a:r>
            <a:r>
              <a:rPr lang="en-IN" dirty="0">
                <a:latin typeface="Cambria" panose="02040503050406030204" pitchFamily="18" charset="0"/>
                <a:ea typeface="Cambria" panose="02040503050406030204" pitchFamily="18" charset="0"/>
              </a:rPr>
              <a:t> provides synthetic drone operational data for experimentation. Data preprocessing improves the suitability of generated data for subsequent simulation and learning. The </a:t>
            </a:r>
            <a:r>
              <a:rPr lang="en-IN" b="1" dirty="0">
                <a:latin typeface="Cambria" panose="02040503050406030204" pitchFamily="18" charset="0"/>
                <a:ea typeface="Cambria" panose="02040503050406030204" pitchFamily="18" charset="0"/>
              </a:rPr>
              <a:t>Q-learning-based MARL module</a:t>
            </a:r>
            <a:r>
              <a:rPr lang="en-IN" dirty="0">
                <a:latin typeface="Cambria" panose="02040503050406030204" pitchFamily="18" charset="0"/>
                <a:ea typeface="Cambria" panose="02040503050406030204" pitchFamily="18" charset="0"/>
              </a:rPr>
              <a:t> enables multiple drones to learn navigation actions through reward-based interaction. Learned drone paths and reward curves provide a basis for </a:t>
            </a:r>
            <a:r>
              <a:rPr lang="en-IN" dirty="0" err="1">
                <a:latin typeface="Cambria" panose="02040503050406030204" pitchFamily="18" charset="0"/>
                <a:ea typeface="Cambria" panose="02040503050406030204" pitchFamily="18" charset="0"/>
              </a:rPr>
              <a:t>analyzing</a:t>
            </a:r>
            <a:r>
              <a:rPr lang="en-IN" dirty="0">
                <a:latin typeface="Cambria" panose="02040503050406030204" pitchFamily="18" charset="0"/>
                <a:ea typeface="Cambria" panose="02040503050406030204" pitchFamily="18" charset="0"/>
              </a:rPr>
              <a:t> swarm learning behaviour. The final system evaluates performance using </a:t>
            </a:r>
            <a:r>
              <a:rPr lang="en-IN" b="1" dirty="0">
                <a:latin typeface="Cambria" panose="02040503050406030204" pitchFamily="18" charset="0"/>
                <a:ea typeface="Cambria" panose="02040503050406030204" pitchFamily="18" charset="0"/>
              </a:rPr>
              <a:t>average reward, maximum reward, average steps, final distance, and success rate</a:t>
            </a:r>
            <a:r>
              <a:rPr lang="en-IN"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30069273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E96B8-93FF-BB6E-1019-BADCF4BEFB1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EC0E0CA-61F7-1892-D9F9-943FB202EE7A}"/>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FUTURE SCOPE</a:t>
            </a:r>
          </a:p>
        </p:txBody>
      </p:sp>
      <p:sp>
        <p:nvSpPr>
          <p:cNvPr id="4" name="TextBox 3">
            <a:extLst>
              <a:ext uri="{FF2B5EF4-FFF2-40B4-BE49-F238E27FC236}">
                <a16:creationId xmlns:a16="http://schemas.microsoft.com/office/drawing/2014/main" id="{A01B250F-307C-EA07-87E4-8E49B8A6C8A1}"/>
              </a:ext>
            </a:extLst>
          </p:cNvPr>
          <p:cNvSpPr txBox="1"/>
          <p:nvPr/>
        </p:nvSpPr>
        <p:spPr>
          <a:xfrm>
            <a:off x="1264920" y="1568232"/>
            <a:ext cx="9973732" cy="3139321"/>
          </a:xfrm>
          <a:prstGeom prst="rect">
            <a:avLst/>
          </a:prstGeom>
          <a:noFill/>
        </p:spPr>
        <p:txBody>
          <a:bodyPr wrap="square">
            <a:spAutoFit/>
          </a:bodyPr>
          <a:lstStyle/>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Extend the system with </a:t>
            </a:r>
            <a:r>
              <a:rPr lang="en-IN" b="1" dirty="0">
                <a:latin typeface="Cambria" panose="02040503050406030204" pitchFamily="18" charset="0"/>
                <a:ea typeface="Cambria" panose="02040503050406030204" pitchFamily="18" charset="0"/>
              </a:rPr>
              <a:t>more advanced Multi-Agent Reinforcement Learning algorithms</a:t>
            </a:r>
            <a:r>
              <a:rPr lang="en-IN" dirty="0">
                <a:latin typeface="Cambria" panose="02040503050406030204" pitchFamily="18" charset="0"/>
                <a:ea typeface="Cambria" panose="02040503050406030204" pitchFamily="18" charset="0"/>
              </a:rPr>
              <a:t> for improved cooperative decision-making.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Incorporate </a:t>
            </a:r>
            <a:r>
              <a:rPr lang="en-IN" b="1" dirty="0">
                <a:latin typeface="Cambria" panose="02040503050406030204" pitchFamily="18" charset="0"/>
                <a:ea typeface="Cambria" panose="02040503050406030204" pitchFamily="18" charset="0"/>
              </a:rPr>
              <a:t>real-world drone and environmental datasets</a:t>
            </a:r>
            <a:r>
              <a:rPr lang="en-IN" dirty="0">
                <a:latin typeface="Cambria" panose="02040503050406030204" pitchFamily="18" charset="0"/>
                <a:ea typeface="Cambria" panose="02040503050406030204" pitchFamily="18" charset="0"/>
              </a:rPr>
              <a:t> instead of only synthetic data.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Introduce more complex environments with </a:t>
            </a:r>
            <a:r>
              <a:rPr lang="en-IN" b="1" dirty="0">
                <a:latin typeface="Cambria" panose="02040503050406030204" pitchFamily="18" charset="0"/>
                <a:ea typeface="Cambria" panose="02040503050406030204" pitchFamily="18" charset="0"/>
              </a:rPr>
              <a:t>multiple targets, dynamic obstacles, and larger search areas</a:t>
            </a:r>
            <a:r>
              <a:rPr lang="en-IN" dirty="0">
                <a:latin typeface="Cambria" panose="02040503050406030204" pitchFamily="18" charset="0"/>
                <a:ea typeface="Cambria" panose="02040503050406030204" pitchFamily="18" charset="0"/>
              </a:rPr>
              <a:t>.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Improve the swarm model with more realistic </a:t>
            </a:r>
            <a:r>
              <a:rPr lang="en-IN" b="1" dirty="0">
                <a:latin typeface="Cambria" panose="02040503050406030204" pitchFamily="18" charset="0"/>
                <a:ea typeface="Cambria" panose="02040503050406030204" pitchFamily="18" charset="0"/>
              </a:rPr>
              <a:t>collision avoidance, communication, and energy constraints</a:t>
            </a:r>
            <a:r>
              <a:rPr lang="en-IN" dirty="0">
                <a:latin typeface="Cambria" panose="02040503050406030204" pitchFamily="18" charset="0"/>
                <a:ea typeface="Cambria" panose="02040503050406030204" pitchFamily="18" charset="0"/>
              </a:rPr>
              <a:t>.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Deploy the trained model in </a:t>
            </a:r>
            <a:r>
              <a:rPr lang="en-IN" b="1" dirty="0">
                <a:latin typeface="Cambria" panose="02040503050406030204" pitchFamily="18" charset="0"/>
                <a:ea typeface="Cambria" panose="02040503050406030204" pitchFamily="18" charset="0"/>
              </a:rPr>
              <a:t>real-time drone simulation environments</a:t>
            </a:r>
            <a:r>
              <a:rPr lang="en-IN" dirty="0">
                <a:latin typeface="Cambria" panose="02040503050406030204" pitchFamily="18" charset="0"/>
                <a:ea typeface="Cambria" panose="02040503050406030204" pitchFamily="18" charset="0"/>
              </a:rPr>
              <a:t> for practical search-and-rescue applications. </a:t>
            </a:r>
          </a:p>
          <a:p>
            <a:pPr marL="342900" lvl="0" indent="-342900">
              <a:buFont typeface="Arial" panose="020B0604020202020204" pitchFamily="34" charset="0"/>
              <a:buChar char="•"/>
            </a:pPr>
            <a:r>
              <a:rPr lang="en-IN" dirty="0">
                <a:latin typeface="Cambria" panose="02040503050406030204" pitchFamily="18" charset="0"/>
                <a:ea typeface="Cambria" panose="02040503050406030204" pitchFamily="18" charset="0"/>
              </a:rPr>
              <a:t>Compare the proposed approach with </a:t>
            </a:r>
            <a:r>
              <a:rPr lang="en-IN" b="1" dirty="0">
                <a:latin typeface="Cambria" panose="02040503050406030204" pitchFamily="18" charset="0"/>
                <a:ea typeface="Cambria" panose="02040503050406030204" pitchFamily="18" charset="0"/>
              </a:rPr>
              <a:t>other reinforcement learning and swarm intelligence algorithms</a:t>
            </a:r>
            <a:r>
              <a:rPr lang="en-IN" dirty="0">
                <a:latin typeface="Cambria" panose="02040503050406030204" pitchFamily="18" charset="0"/>
                <a:ea typeface="Cambria" panose="02040503050406030204" pitchFamily="18" charset="0"/>
              </a:rPr>
              <a:t> to evaluate its effectiveness. </a:t>
            </a:r>
          </a:p>
        </p:txBody>
      </p:sp>
    </p:spTree>
    <p:extLst>
      <p:ext uri="{BB962C8B-B14F-4D97-AF65-F5344CB8AC3E}">
        <p14:creationId xmlns:p14="http://schemas.microsoft.com/office/powerpoint/2010/main" val="15485584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D5E31-461D-09C1-88E3-91C876E6FD4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D719027-FEA6-EB7A-23BE-43775BB8611D}"/>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REFERENCES</a:t>
            </a:r>
          </a:p>
        </p:txBody>
      </p:sp>
      <p:sp>
        <p:nvSpPr>
          <p:cNvPr id="6" name="TextBox 5">
            <a:extLst>
              <a:ext uri="{FF2B5EF4-FFF2-40B4-BE49-F238E27FC236}">
                <a16:creationId xmlns:a16="http://schemas.microsoft.com/office/drawing/2014/main" id="{31B8EABB-FB5A-7CA6-BB89-CEE84FDD5387}"/>
              </a:ext>
            </a:extLst>
          </p:cNvPr>
          <p:cNvSpPr txBox="1"/>
          <p:nvPr/>
        </p:nvSpPr>
        <p:spPr>
          <a:xfrm>
            <a:off x="693420" y="1647401"/>
            <a:ext cx="10805160" cy="3821559"/>
          </a:xfrm>
          <a:prstGeom prst="rect">
            <a:avLst/>
          </a:prstGeom>
          <a:noFill/>
        </p:spPr>
        <p:txBody>
          <a:bodyPr wrap="square">
            <a:spAutoFit/>
          </a:bodyPr>
          <a:lstStyle/>
          <a:p>
            <a:pPr marL="360000" algn="just">
              <a:spcBef>
                <a:spcPts val="100"/>
              </a:spcBef>
              <a:spcAft>
                <a:spcPts val="100"/>
              </a:spcAft>
              <a:buNone/>
            </a:pPr>
            <a:r>
              <a:rPr lang="en-IN" dirty="0">
                <a:latin typeface="Cambria" panose="02040503050406030204" pitchFamily="18" charset="0"/>
                <a:ea typeface="Cambria" panose="02040503050406030204" pitchFamily="18" charset="0"/>
              </a:rPr>
              <a:t>[1] Hickling, T., Hogan, M., </a:t>
            </a:r>
            <a:r>
              <a:rPr lang="en-IN" dirty="0" err="1">
                <a:latin typeface="Cambria" panose="02040503050406030204" pitchFamily="18" charset="0"/>
                <a:ea typeface="Cambria" panose="02040503050406030204" pitchFamily="18" charset="0"/>
              </a:rPr>
              <a:t>Tammam</a:t>
            </a:r>
            <a:r>
              <a:rPr lang="en-IN" dirty="0">
                <a:latin typeface="Cambria" panose="02040503050406030204" pitchFamily="18" charset="0"/>
                <a:ea typeface="Cambria" panose="02040503050406030204" pitchFamily="18" charset="0"/>
              </a:rPr>
              <a:t>, A., &amp; </a:t>
            </a:r>
            <a:r>
              <a:rPr lang="en-IN" dirty="0" err="1">
                <a:latin typeface="Cambria" panose="02040503050406030204" pitchFamily="18" charset="0"/>
                <a:ea typeface="Cambria" panose="02040503050406030204" pitchFamily="18" charset="0"/>
              </a:rPr>
              <a:t>Aouf</a:t>
            </a:r>
            <a:r>
              <a:rPr lang="en-IN" dirty="0">
                <a:latin typeface="Cambria" panose="02040503050406030204" pitchFamily="18" charset="0"/>
                <a:ea typeface="Cambria" panose="02040503050406030204" pitchFamily="18" charset="0"/>
              </a:rPr>
              <a:t>, N. (2026). </a:t>
            </a:r>
            <a:r>
              <a:rPr lang="en-IN" i="1" dirty="0">
                <a:latin typeface="Cambria" panose="02040503050406030204" pitchFamily="18" charset="0"/>
                <a:ea typeface="Cambria" panose="02040503050406030204" pitchFamily="18" charset="0"/>
              </a:rPr>
              <a:t>Deep Reinforcement Learning Based Autonomous Decision-Making for Cooperative Uncrewed Aerial Vehicles: A Search and Rescue Real World Application</a:t>
            </a:r>
            <a:r>
              <a:rPr lang="en-IN" dirty="0">
                <a:latin typeface="Cambria" panose="02040503050406030204" pitchFamily="18" charset="0"/>
                <a:ea typeface="Cambria" panose="02040503050406030204" pitchFamily="18" charset="0"/>
              </a:rPr>
              <a:t>. Journal of Field Robotics.</a:t>
            </a:r>
          </a:p>
          <a:p>
            <a:pPr marL="360000" algn="just">
              <a:spcBef>
                <a:spcPts val="100"/>
              </a:spcBef>
              <a:spcAft>
                <a:spcPts val="100"/>
              </a:spcAft>
              <a:buNone/>
            </a:pPr>
            <a:r>
              <a:rPr lang="en-IN" dirty="0">
                <a:latin typeface="Cambria" panose="02040503050406030204" pitchFamily="18" charset="0"/>
                <a:ea typeface="Cambria" panose="02040503050406030204" pitchFamily="18" charset="0"/>
              </a:rPr>
              <a:t>[2] Chen, C., Yan, S., Zhou, X., et al. (2026). </a:t>
            </a:r>
            <a:r>
              <a:rPr lang="en-IN" i="1" dirty="0">
                <a:latin typeface="Cambria" panose="02040503050406030204" pitchFamily="18" charset="0"/>
                <a:ea typeface="Cambria" panose="02040503050406030204" pitchFamily="18" charset="0"/>
              </a:rPr>
              <a:t>Multi-stage Hierarchical Multi-Agent Reinforcement Learning for UAV-Quadruped Completing Search and Rescue</a:t>
            </a:r>
            <a:r>
              <a:rPr lang="en-IN" dirty="0">
                <a:latin typeface="Cambria" panose="02040503050406030204" pitchFamily="18" charset="0"/>
                <a:ea typeface="Cambria" panose="02040503050406030204" pitchFamily="18" charset="0"/>
              </a:rPr>
              <a:t>. Discover Robotics.</a:t>
            </a:r>
          </a:p>
          <a:p>
            <a:pPr marL="360000" algn="just">
              <a:spcBef>
                <a:spcPts val="100"/>
              </a:spcBef>
              <a:spcAft>
                <a:spcPts val="100"/>
              </a:spcAft>
              <a:buNone/>
            </a:pPr>
            <a:r>
              <a:rPr lang="en-IN" dirty="0">
                <a:latin typeface="Cambria" panose="02040503050406030204" pitchFamily="18" charset="0"/>
                <a:ea typeface="Cambria" panose="02040503050406030204" pitchFamily="18" charset="0"/>
              </a:rPr>
              <a:t>[3] Liu, M., Wei, J., &amp; Liu, K. (2024). </a:t>
            </a:r>
            <a:r>
              <a:rPr lang="en-IN" i="1" dirty="0">
                <a:latin typeface="Cambria" panose="02040503050406030204" pitchFamily="18" charset="0"/>
                <a:ea typeface="Cambria" panose="02040503050406030204" pitchFamily="18" charset="0"/>
              </a:rPr>
              <a:t>A Two-Stage Target Search and Tracking Method for UAV Based on Deep Reinforcement Learning</a:t>
            </a:r>
            <a:r>
              <a:rPr lang="en-IN" dirty="0">
                <a:latin typeface="Cambria" panose="02040503050406030204" pitchFamily="18" charset="0"/>
                <a:ea typeface="Cambria" panose="02040503050406030204" pitchFamily="18" charset="0"/>
              </a:rPr>
              <a:t>. Drones.</a:t>
            </a:r>
          </a:p>
          <a:p>
            <a:pPr marL="360000" algn="just">
              <a:spcBef>
                <a:spcPts val="100"/>
              </a:spcBef>
              <a:spcAft>
                <a:spcPts val="100"/>
              </a:spcAft>
              <a:buNone/>
            </a:pPr>
            <a:r>
              <a:rPr lang="en-IN" dirty="0">
                <a:latin typeface="Cambria" panose="02040503050406030204" pitchFamily="18" charset="0"/>
                <a:ea typeface="Cambria" panose="02040503050406030204" pitchFamily="18" charset="0"/>
              </a:rPr>
              <a:t>[4] Sadhu, V., Sun, C., Karimian, A., Tron, R., &amp; Pompili, D. (2024). </a:t>
            </a:r>
            <a:r>
              <a:rPr lang="en-IN" i="1" dirty="0">
                <a:latin typeface="Cambria" panose="02040503050406030204" pitchFamily="18" charset="0"/>
                <a:ea typeface="Cambria" panose="02040503050406030204" pitchFamily="18" charset="0"/>
              </a:rPr>
              <a:t>Aerial-Deep Search: Distributed Multi-Agent Deep Reinforcement Learning for Search Missions</a:t>
            </a:r>
            <a:r>
              <a:rPr lang="en-IN" dirty="0">
                <a:latin typeface="Cambria" panose="02040503050406030204" pitchFamily="18" charset="0"/>
                <a:ea typeface="Cambria" panose="02040503050406030204" pitchFamily="18" charset="0"/>
              </a:rPr>
              <a:t>. IEEE Conference Proceedings.</a:t>
            </a:r>
          </a:p>
          <a:p>
            <a:pPr marL="360000" algn="just">
              <a:spcBef>
                <a:spcPts val="100"/>
              </a:spcBef>
              <a:spcAft>
                <a:spcPts val="100"/>
              </a:spcAft>
              <a:buNone/>
            </a:pPr>
            <a:r>
              <a:rPr lang="en-IN" dirty="0">
                <a:latin typeface="Cambria" panose="02040503050406030204" pitchFamily="18" charset="0"/>
                <a:ea typeface="Cambria" panose="02040503050406030204" pitchFamily="18" charset="0"/>
              </a:rPr>
              <a:t>[5] Han, S., Liu, X., Zhou, M. C., et al. (2024). </a:t>
            </a:r>
            <a:r>
              <a:rPr lang="en-IN" i="1" dirty="0">
                <a:latin typeface="Cambria" panose="02040503050406030204" pitchFamily="18" charset="0"/>
                <a:ea typeface="Cambria" panose="02040503050406030204" pitchFamily="18" charset="0"/>
              </a:rPr>
              <a:t>Joint Association, Deployment and Flight Trajectory Optimization for Multi-UAV Enabled Large-Scale Mobile Edge Computing</a:t>
            </a:r>
            <a:r>
              <a:rPr lang="en-IN" dirty="0">
                <a:latin typeface="Cambria" panose="02040503050406030204" pitchFamily="18" charset="0"/>
                <a:ea typeface="Cambria" panose="02040503050406030204" pitchFamily="18" charset="0"/>
              </a:rPr>
              <a:t>. IEEE Internet of Things Journal.</a:t>
            </a:r>
          </a:p>
          <a:p>
            <a:pPr marL="360000" algn="just">
              <a:spcBef>
                <a:spcPts val="100"/>
              </a:spcBef>
              <a:spcAft>
                <a:spcPts val="100"/>
              </a:spcAft>
              <a:buNone/>
            </a:pPr>
            <a:r>
              <a:rPr lang="en-IN" dirty="0">
                <a:latin typeface="Cambria" panose="02040503050406030204" pitchFamily="18" charset="0"/>
                <a:ea typeface="Cambria" panose="02040503050406030204" pitchFamily="18" charset="0"/>
              </a:rPr>
              <a:t>[6] Chung, S. J., Paranjape, A. A., Dames, P., Shen, S., &amp; Kumar, V. (2018). </a:t>
            </a:r>
            <a:r>
              <a:rPr lang="en-IN" i="1" dirty="0">
                <a:latin typeface="Cambria" panose="02040503050406030204" pitchFamily="18" charset="0"/>
                <a:ea typeface="Cambria" panose="02040503050406030204" pitchFamily="18" charset="0"/>
              </a:rPr>
              <a:t>A Survey on Aerial Swarm Robotics</a:t>
            </a:r>
            <a:r>
              <a:rPr lang="en-IN" dirty="0">
                <a:latin typeface="Cambria" panose="02040503050406030204" pitchFamily="18" charset="0"/>
                <a:ea typeface="Cambria" panose="02040503050406030204" pitchFamily="18" charset="0"/>
              </a:rPr>
              <a:t>. IEEE Robotics and Automation Magazine. </a:t>
            </a:r>
          </a:p>
        </p:txBody>
      </p:sp>
    </p:spTree>
    <p:extLst>
      <p:ext uri="{BB962C8B-B14F-4D97-AF65-F5344CB8AC3E}">
        <p14:creationId xmlns:p14="http://schemas.microsoft.com/office/powerpoint/2010/main" val="24362088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535B9-1C75-9031-1806-22E77903B24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FA45957-1C6B-F9E4-C8F0-831683E3E43B}"/>
              </a:ext>
            </a:extLst>
          </p:cNvPr>
          <p:cNvSpPr txBox="1"/>
          <p:nvPr/>
        </p:nvSpPr>
        <p:spPr>
          <a:xfrm>
            <a:off x="1028700" y="372110"/>
            <a:ext cx="9973732" cy="584775"/>
          </a:xfrm>
          <a:prstGeom prst="rect">
            <a:avLst/>
          </a:prstGeom>
          <a:noFill/>
        </p:spPr>
        <p:txBody>
          <a:bodyPr wrap="square">
            <a:spAutoFit/>
          </a:bodyPr>
          <a:lstStyle/>
          <a:p>
            <a:pPr marR="0" lvl="0" algn="ctr" fontAlgn="base">
              <a:spcBef>
                <a:spcPts val="800"/>
              </a:spcBef>
              <a:spcAft>
                <a:spcPts val="400"/>
              </a:spcAft>
              <a:buSzPts val="1000"/>
              <a:tabLst>
                <a:tab pos="137160" algn="l"/>
                <a:tab pos="365760" algn="l"/>
              </a:tabLst>
            </a:pPr>
            <a:r>
              <a:rPr lang="en-IN" sz="3200" b="1" u="none" strike="noStrike" kern="0" cap="small" dirty="0">
                <a:solidFill>
                  <a:schemeClr val="accent1">
                    <a:lumMod val="50000"/>
                  </a:schemeClr>
                </a:solidFill>
                <a:effectLst/>
                <a:latin typeface="Cambria" panose="02040503050406030204" pitchFamily="18" charset="0"/>
                <a:ea typeface="Cambria" panose="02040503050406030204" pitchFamily="18" charset="0"/>
              </a:rPr>
              <a:t>ACKNOWLEDGEMENT</a:t>
            </a:r>
          </a:p>
        </p:txBody>
      </p:sp>
      <p:sp>
        <p:nvSpPr>
          <p:cNvPr id="6" name="TextBox 5">
            <a:extLst>
              <a:ext uri="{FF2B5EF4-FFF2-40B4-BE49-F238E27FC236}">
                <a16:creationId xmlns:a16="http://schemas.microsoft.com/office/drawing/2014/main" id="{156F1E9D-3BB7-1544-E4F3-2E57113F4010}"/>
              </a:ext>
            </a:extLst>
          </p:cNvPr>
          <p:cNvSpPr txBox="1"/>
          <p:nvPr/>
        </p:nvSpPr>
        <p:spPr>
          <a:xfrm>
            <a:off x="1405467" y="1658831"/>
            <a:ext cx="9381066" cy="2585323"/>
          </a:xfrm>
          <a:prstGeom prst="rect">
            <a:avLst/>
          </a:prstGeom>
          <a:noFill/>
        </p:spPr>
        <p:txBody>
          <a:bodyPr wrap="square">
            <a:spAutoFit/>
          </a:bodyPr>
          <a:lstStyle/>
          <a:p>
            <a:pPr marL="285750" lvl="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We sincerely thank </a:t>
            </a:r>
            <a:r>
              <a:rPr lang="en-IN" b="1" dirty="0">
                <a:latin typeface="Cambria" panose="02040503050406030204" pitchFamily="18" charset="0"/>
                <a:ea typeface="Cambria" panose="02040503050406030204" pitchFamily="18" charset="0"/>
              </a:rPr>
              <a:t>Dr. Vincent </a:t>
            </a:r>
            <a:r>
              <a:rPr lang="en-IN" b="1" dirty="0" err="1">
                <a:latin typeface="Cambria" panose="02040503050406030204" pitchFamily="18" charset="0"/>
                <a:ea typeface="Cambria" panose="02040503050406030204" pitchFamily="18" charset="0"/>
              </a:rPr>
              <a:t>Gnanaraj</a:t>
            </a:r>
            <a:r>
              <a:rPr lang="en-IN" b="1" dirty="0">
                <a:latin typeface="Cambria" panose="02040503050406030204" pitchFamily="18" charset="0"/>
                <a:ea typeface="Cambria" panose="02040503050406030204" pitchFamily="18" charset="0"/>
              </a:rPr>
              <a:t> T</a:t>
            </a:r>
            <a:r>
              <a:rPr lang="en-IN" dirty="0">
                <a:latin typeface="Cambria" panose="02040503050406030204" pitchFamily="18" charset="0"/>
                <a:ea typeface="Cambria" panose="02040503050406030204" pitchFamily="18" charset="0"/>
              </a:rPr>
              <a:t>, Associate Professor, Department of Quantum Intelligence, SIMATS Engineering, for his valuable guidance and support. </a:t>
            </a:r>
          </a:p>
          <a:p>
            <a:pPr marL="285750" lvl="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We express our gratitude to </a:t>
            </a:r>
            <a:r>
              <a:rPr lang="en-IN" b="1" dirty="0">
                <a:latin typeface="Cambria" panose="02040503050406030204" pitchFamily="18" charset="0"/>
                <a:ea typeface="Cambria" panose="02040503050406030204" pitchFamily="18" charset="0"/>
              </a:rPr>
              <a:t>SIMATS Engineering</a:t>
            </a:r>
            <a:r>
              <a:rPr lang="en-IN" dirty="0">
                <a:latin typeface="Cambria" panose="02040503050406030204" pitchFamily="18" charset="0"/>
                <a:ea typeface="Cambria" panose="02040503050406030204" pitchFamily="18" charset="0"/>
              </a:rPr>
              <a:t> for providing the required facilities and academic support. </a:t>
            </a:r>
          </a:p>
          <a:p>
            <a:pPr marL="285750" lvl="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We thank our faculty members and colleagues for their suggestions and encouragement throughout the project. </a:t>
            </a:r>
          </a:p>
          <a:p>
            <a:pPr marL="285750" lvl="0" indent="-285750" algn="just">
              <a:buFont typeface="Arial" panose="020B0604020202020204" pitchFamily="34" charset="0"/>
              <a:buChar char="•"/>
            </a:pPr>
            <a:r>
              <a:rPr lang="en-IN" dirty="0">
                <a:latin typeface="Cambria" panose="02040503050406030204" pitchFamily="18" charset="0"/>
                <a:ea typeface="Cambria" panose="02040503050406030204" pitchFamily="18" charset="0"/>
              </a:rPr>
              <a:t>We also thank our team members for their cooperation and contribution toward the successful implementation of </a:t>
            </a:r>
            <a:r>
              <a:rPr lang="en-IN" b="1" dirty="0">
                <a:latin typeface="Cambria" panose="02040503050406030204" pitchFamily="18" charset="0"/>
                <a:ea typeface="Cambria" panose="02040503050406030204" pitchFamily="18" charset="0"/>
              </a:rPr>
              <a:t>Project Horizon</a:t>
            </a:r>
            <a:r>
              <a:rPr lang="en-IN" dirty="0">
                <a:latin typeface="Cambria" panose="02040503050406030204" pitchFamily="18" charset="0"/>
                <a:ea typeface="Cambria" panose="02040503050406030204" pitchFamily="18" charset="0"/>
              </a:rPr>
              <a:t>. </a:t>
            </a:r>
          </a:p>
          <a:p>
            <a:pPr marL="285750" indent="-285750" algn="just">
              <a:buFont typeface="Arial" panose="020B0604020202020204" pitchFamily="34" charset="0"/>
              <a:buChar char="•"/>
            </a:pP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79503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C2E114-7B3E-21CC-FBBB-E06AFA356BEB}"/>
              </a:ext>
            </a:extLst>
          </p:cNvPr>
          <p:cNvSpPr txBox="1"/>
          <p:nvPr/>
        </p:nvSpPr>
        <p:spPr>
          <a:xfrm>
            <a:off x="3531870" y="2468880"/>
            <a:ext cx="6183630" cy="1323439"/>
          </a:xfrm>
          <a:prstGeom prst="rect">
            <a:avLst/>
          </a:prstGeom>
          <a:noFill/>
        </p:spPr>
        <p:txBody>
          <a:bodyPr wrap="square" rtlCol="0">
            <a:spAutoFit/>
          </a:bodyPr>
          <a:lstStyle/>
          <a:p>
            <a:r>
              <a:rPr lang="en-IN" sz="8000" dirty="0">
                <a:latin typeface="Cambria" panose="02040503050406030204" pitchFamily="18" charset="0"/>
                <a:ea typeface="Cambria" panose="02040503050406030204" pitchFamily="18" charset="0"/>
              </a:rPr>
              <a:t>THANK YOU</a:t>
            </a:r>
          </a:p>
        </p:txBody>
      </p:sp>
    </p:spTree>
    <p:extLst>
      <p:ext uri="{BB962C8B-B14F-4D97-AF65-F5344CB8AC3E}">
        <p14:creationId xmlns:p14="http://schemas.microsoft.com/office/powerpoint/2010/main" val="28788362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713</TotalTime>
  <Words>2706</Words>
  <Application>Microsoft Office PowerPoint</Application>
  <PresentationFormat>Widescreen</PresentationFormat>
  <Paragraphs>232</Paragraphs>
  <Slides>25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Cambria</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vincent gnanaraj</dc:creator>
  <cp:lastModifiedBy>Kalasamudram Sri Lasya</cp:lastModifiedBy>
  <cp:revision>18</cp:revision>
  <dcterms:created xsi:type="dcterms:W3CDTF">2025-08-11T02:48:58Z</dcterms:created>
  <dcterms:modified xsi:type="dcterms:W3CDTF">2026-08-24T03:11:16Z</dcterms:modified>
</cp:coreProperties>
</file>